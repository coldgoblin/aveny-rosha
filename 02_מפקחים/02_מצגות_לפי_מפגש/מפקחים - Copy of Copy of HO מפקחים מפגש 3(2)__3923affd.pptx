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Tahoma"/>
      <p:regular r:id="rId23"/>
      <p:bold r:id="rId24"/>
    </p:embeddedFont>
    <p:embeddedFont>
      <p:font typeface="Oi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i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06c348c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06c348c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6c348c5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06c348c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06c348c5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06c348c5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06c348c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06c348c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6c348c5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6c348c5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fd81192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6fd81192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fd81192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6fd81192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fd81192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6fd81192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fd81192b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fd81192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fd81192b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fd81192b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fd81192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fd81192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fd81192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fd81192b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06c348c5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06c348c5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06c348c5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06c348c5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06c348c5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06c348c5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06c348c5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06c348c5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6656" y="315468"/>
            <a:ext cx="43983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/>
          <p:nvPr>
            <p:ph idx="2" type="pic"/>
          </p:nvPr>
        </p:nvSpPr>
        <p:spPr>
          <a:xfrm>
            <a:off x="5719477" y="-6858"/>
            <a:ext cx="3436200" cy="49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/>
          <p:nvPr/>
        </p:nvSpPr>
        <p:spPr>
          <a:xfrm>
            <a:off x="0" y="4937760"/>
            <a:ext cx="5715000" cy="20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69798" y="54389"/>
            <a:ext cx="62232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49223" y="1554480"/>
            <a:ext cx="62430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indent="-323850" lvl="1" marL="9144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2pPr>
            <a:lvl3pPr indent="-32385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3pPr>
            <a:lvl4pPr indent="-323850" lvl="3" marL="18288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4pPr>
            <a:lvl5pPr indent="-323850" lvl="4" marL="22860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83514" y="4684967"/>
            <a:ext cx="200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854646" y="468496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3865" l="1588" r="26225" t="0"/>
          <a:stretch/>
        </p:blipFill>
        <p:spPr>
          <a:xfrm>
            <a:off x="7061597" y="198522"/>
            <a:ext cx="2082404" cy="4944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660066"/>
                </a:solidFill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/>
            </a:lvl1pPr>
            <a:lvl2pPr indent="-406400" lvl="1" marL="914400" rtl="1" algn="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381000" lvl="2" marL="1371600" rtl="1" algn="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3pPr>
            <a:lvl4pPr indent="-355600" lvl="3" marL="18288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4pPr>
            <a:lvl5pPr indent="-355600" lvl="4" marL="22860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hyperlink" Target="https://youtu.be/pZwvrxVavnQhttps://youtu.be/pZwvrxVavnQ" TargetMode="External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9025" y="1017725"/>
            <a:ext cx="3505025" cy="29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606875" y="817050"/>
            <a:ext cx="590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קוד אתי - מטרה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קוד אתי במנטורינג נועד להבטיח מערכת יחסים מקצועית, בטוחה ואמינה בין המנטור למנטי.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מטרתו לסמן כיוון,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להגדיר גבולות, אחריות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ונורמות התנהגות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311700" y="761900"/>
            <a:ext cx="66531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במכון אבני ראשה רואים במנהל (המנטי) אדם יצירתי, בעל תושייה ושלם מטבעו, אין בו דבר שיש לתקן.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המנטי הוא בעל האחריות המלאה לתהליך, לסדר היום ולתוצאות.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המנטור תומך בו באמצעות שאלות מעוררות חשיבה, הקשבה פעילה וליווי גמיש המכוון להשגת יעדיו האישיים והמקצועיים.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הקשר המנטורי מתנהל כשותפות לומדת – דיאלוגית, שוויונית, ומבוססת אמון.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191500" y="445025"/>
            <a:ext cx="65985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שמירה על סודיות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כל מידע שהמנטי משתף בתהליך נשמר חסוי, ואינו נמסר לאחרים אלא בהסכמתו המפורשת.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</a:t>
            </a:r>
            <a:r>
              <a:rPr b="1" lang="en" sz="2400">
                <a:solidFill>
                  <a:srgbClr val="3C78D8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כבוד הדדי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הקשר המנטורי מבוסס על הקשבה, שוויון, מתן מקום לדעות שונות ויחס אנושי מכבד.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גבולות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תפקיד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איננו מטפל, פסיכולוג או יועץ משפטי. עליו לזהות מצבים המחייבים הפניה לגורם מקצועי מתאים.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אחריות מקצועית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פועל ביושרה, מקפיד על סטנדרטים מקצועיים, וממשיך להתפתח ולשפר את כישוריו באופן מתמיד.</a:t>
            </a:r>
            <a:br>
              <a:rPr lang="en" sz="18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201263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311700" y="259925"/>
            <a:ext cx="65574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5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. הימנעות מניגוד עניינים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יש להימנע מיצירת תלות, קשרים עסקיים או אינטרסים אישיים שאינם חלק ממטרות התהליך.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העצמת עצמאות המנטי</a:t>
            </a:r>
            <a:br>
              <a:rPr lang="en" sz="1600">
                <a:solidFill>
                  <a:schemeClr val="dk1"/>
                </a:solidFill>
                <a:highlight>
                  <a:srgbClr val="00529E"/>
                </a:highlight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מסייע למנטי לגבש את החלטותיו, אך אינו מחליט בשמו. האחריות לפעולה נשארת בידי המנטי.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שקיפות והסכמה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בתחילת התהליך יש להבהיר במשותף את מטרות הליווי, משכו, תדירות המפגשים, וכללי הסודיות וההתנהלות.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רגישות וגמישות תרבותית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נדרש לגישה פתוחה ולא שיפוטית, תוך הימנעות מהשלכת ערכיו האישיים על התהליך ומתוך כבוד לרקע התרבותי של המנטי.</a:t>
            </a:r>
            <a:br>
              <a:rPr lang="en" sz="1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 sz="1200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1100" y="2114125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אם ובת מבצעות יוגה" id="120" name="Google Shape;1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87" y="0"/>
            <a:ext cx="80552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type="title"/>
          </p:nvPr>
        </p:nvSpPr>
        <p:spPr>
          <a:xfrm>
            <a:off x="268605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הקשבה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6144000" y="2131725"/>
            <a:ext cx="30000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אם יכולתי לבחור את הקריירה שלי מחדש מה הייתי בוחר/ת?</a:t>
            </a:r>
            <a:endParaRPr b="1" sz="25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תרגול הקשבה 1</a:t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311700" y="1208225"/>
            <a:ext cx="40698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על מה חשבתי כשהצד השני דיבר?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650" y="2370724"/>
            <a:ext cx="3478000" cy="24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 rotWithShape="1">
          <a:blip r:embed="rId4">
            <a:alphaModFix/>
          </a:blip>
          <a:srcRect b="39650" l="22059" r="27931" t="2610"/>
          <a:stretch/>
        </p:blipFill>
        <p:spPr>
          <a:xfrm>
            <a:off x="0" y="3285400"/>
            <a:ext cx="2962227" cy="342002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/>
          <p:nvPr/>
        </p:nvSpPr>
        <p:spPr>
          <a:xfrm>
            <a:off x="1279325" y="2625598"/>
            <a:ext cx="936600" cy="465600"/>
          </a:xfrm>
          <a:prstGeom prst="wedgeEllipseCallout">
            <a:avLst>
              <a:gd fmla="val 17548" name="adj1"/>
              <a:gd fmla="val 2738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0" y="508997"/>
            <a:ext cx="1696500" cy="1250100"/>
          </a:xfrm>
          <a:prstGeom prst="cloudCallout">
            <a:avLst>
              <a:gd fmla="val -1976" name="adj1"/>
              <a:gd fmla="val 208714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מה זה אומר לגבי?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8850" y="2504450"/>
            <a:ext cx="1762300" cy="13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 rotWithShape="1">
          <a:blip r:embed="rId4">
            <a:alphaModFix/>
          </a:blip>
          <a:srcRect b="40377" l="16808" r="16441" t="2293"/>
          <a:stretch/>
        </p:blipFill>
        <p:spPr>
          <a:xfrm>
            <a:off x="0" y="3015333"/>
            <a:ext cx="3120801" cy="268021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/>
          <p:nvPr/>
        </p:nvSpPr>
        <p:spPr>
          <a:xfrm>
            <a:off x="1430175" y="2727760"/>
            <a:ext cx="936600" cy="432300"/>
          </a:xfrm>
          <a:prstGeom prst="wedgeEllipseCallout">
            <a:avLst>
              <a:gd fmla="val 27320" name="adj1"/>
              <a:gd fmla="val 16308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119925" y="1"/>
            <a:ext cx="1751700" cy="1602300"/>
          </a:xfrm>
          <a:prstGeom prst="cloudCallout">
            <a:avLst>
              <a:gd fmla="val -6883" name="adj1"/>
              <a:gd fmla="val 133193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אני רוצה לשמוע מה שה</a:t>
            </a:r>
            <a:r>
              <a:rPr lang="en" sz="2100">
                <a:solidFill>
                  <a:schemeClr val="dk1"/>
                </a:solidFill>
              </a:rPr>
              <a:t>י</a:t>
            </a: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 אומרת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/>
        </p:nvSpPr>
        <p:spPr>
          <a:xfrm>
            <a:off x="6144000" y="584200"/>
            <a:ext cx="2811600" cy="24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i="1" lang="en" sz="34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על מה אני רוצה לשים לב יותר כמנטור השנה?”</a:t>
            </a:r>
            <a:endParaRPr i="1" sz="3600"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29"/>
          <p:cNvSpPr txBox="1"/>
          <p:nvPr>
            <p:ph idx="4294967295" type="ctrTitle"/>
          </p:nvPr>
        </p:nvSpPr>
        <p:spPr>
          <a:xfrm>
            <a:off x="1925900" y="223100"/>
            <a:ext cx="39885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/>
              <a:t>עקרונות לבחירת מנטי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29"/>
          <p:cNvSpPr txBox="1"/>
          <p:nvPr>
            <p:ph idx="4294967295" type="subTitle"/>
          </p:nvPr>
        </p:nvSpPr>
        <p:spPr>
          <a:xfrm>
            <a:off x="217725" y="937650"/>
            <a:ext cx="6049500" cy="3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קשר של אמון בסיסי קיים – יש אפשרות לשיח פתוח (לא חובה קרבה רגשית).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רצון וצורך בלמידה – המנטי פתוח לשיח, לא מישהו ש"צריך תיקון".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פוטנציאל הדדיות – גם המנטור לומד, לא רק נותן.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מרחק מקצועי מתאים – לא קרוב מדי (יחסי חברות) ולא רחוק מדי (לא יוצר השפעה).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עניין אמיתי / סקרנות – תחושה שיש סיפור, דרך, או אתגר שמסקרן אותך.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התאמה ערכית – יש בסיס משותף של תפיסת חינוך או ראייה מערכתית.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אתגר במידה הנכונה – לא קל מדי, אבל גם לא מבהיל או מתיש.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אין לי אג'נדה לגביו (אין לי את התשובות).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המנהל יהיה מסוגל להגיד לי לא אם לא מתאים לו.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אם הסירוב של אותו מנהל לא ישפיע על יחסיו איתו?</a:t>
            </a:r>
            <a:endParaRPr sz="17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7125" y="734750"/>
            <a:ext cx="293370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0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7" name="Google Shape;187;p30"/>
          <p:cNvSpPr txBox="1"/>
          <p:nvPr>
            <p:ph idx="4294967295" type="ctrTitle"/>
          </p:nvPr>
        </p:nvSpPr>
        <p:spPr>
          <a:xfrm>
            <a:off x="565825" y="991625"/>
            <a:ext cx="62379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380"/>
              <a:t>הסכמה לליווי מתוך התאמה ורצון הדדי: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8" name="Google Shape;188;p3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9671" r="17064" t="0"/>
          <a:stretch/>
        </p:blipFill>
        <p:spPr>
          <a:xfrm flipH="1" rot="-13">
            <a:off x="1858675" y="2193379"/>
            <a:ext cx="1959425" cy="178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/>
        </p:nvSpPr>
        <p:spPr>
          <a:xfrm>
            <a:off x="7405575" y="761900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31"/>
          <p:cNvSpPr txBox="1"/>
          <p:nvPr>
            <p:ph idx="4294967295" type="ctrTitle"/>
          </p:nvPr>
        </p:nvSpPr>
        <p:spPr>
          <a:xfrm>
            <a:off x="1745125" y="141500"/>
            <a:ext cx="39885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הצגה עצמית</a:t>
            </a:r>
            <a:endParaRPr b="1" sz="3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31"/>
          <p:cNvSpPr txBox="1"/>
          <p:nvPr>
            <p:ph idx="4294967295" type="subTitle"/>
          </p:nvPr>
        </p:nvSpPr>
        <p:spPr>
          <a:xfrm>
            <a:off x="475875" y="801300"/>
            <a:ext cx="5835300" cy="43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חשבו ספציפית על מישהו שהייתם רוצים שיהיה המנטי שלכם,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מהם שלושת הדברים שאתם חושבים שהוא צריך לדעת עליכם כדי להכנס לתהליך?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הייתם רוצים שהמנטי ידע עליכם בתור מנטור (ולא בתור מפקח)?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נסחו את ההצגה העצמית שלכם והצעת הערך עבור (למה כדאי להם) אותו מנטי.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625" y="0"/>
            <a:ext cx="2340375" cy="12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217725" y="1748525"/>
            <a:ext cx="68781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בהירות: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לכתוב בשפה פשוטה, בלי מונחים טכניים.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תועלת מוחשית: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להדגיש מה הלקוח מרוויח (לא מה אתה עושה).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ייחודיות: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להראות מה מבדל אותך מהמתחרים.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אמינות: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רק הבטחות שאתה באמת עומד מאחוריהן</a:t>
            </a:r>
            <a:endParaRPr b="1"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32"/>
          <p:cNvSpPr txBox="1"/>
          <p:nvPr>
            <p:ph idx="4294967295" type="ctrTitle"/>
          </p:nvPr>
        </p:nvSpPr>
        <p:spPr>
          <a:xfrm>
            <a:off x="565825" y="991625"/>
            <a:ext cx="45417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עקרונות טובים להצעת ערך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