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409bb899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409bb899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409bb899d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409bb899d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409bb899d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b409bb899d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409bb899d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409bb899d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4379028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4379028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409bb899d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409bb899d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409bb899d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409bb899d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409bb899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b409bb899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409bb899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b409bb899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6656" y="315468"/>
            <a:ext cx="4398300" cy="27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/>
          <p:nvPr>
            <p:ph idx="2" type="pic"/>
          </p:nvPr>
        </p:nvSpPr>
        <p:spPr>
          <a:xfrm>
            <a:off x="5719477" y="-6858"/>
            <a:ext cx="3436200" cy="4951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3"/>
          <p:cNvSpPr/>
          <p:nvPr/>
        </p:nvSpPr>
        <p:spPr>
          <a:xfrm>
            <a:off x="0" y="4937760"/>
            <a:ext cx="5715000" cy="20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rt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rt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idx="10" type="dt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2" type="sldNum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/>
          <p:nvPr>
            <p:ph type="title"/>
          </p:nvPr>
        </p:nvSpPr>
        <p:spPr>
          <a:xfrm>
            <a:off x="457200" y="204788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rtl="1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106" name="Google Shape;106;p22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rtl="1" algn="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rtl="1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07" name="Google Shape;107;p22"/>
          <p:cNvSpPr txBox="1"/>
          <p:nvPr>
            <p:ph idx="10" type="dt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3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rtl="1" algn="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rtl="1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114" name="Google Shape;114;p23"/>
          <p:cNvSpPr txBox="1"/>
          <p:nvPr>
            <p:ph idx="10" type="dt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 rot="5400000">
            <a:off x="2874751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0" type="dt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 rot="5400000">
            <a:off x="5463751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0" type="dt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1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0" type="dt"/>
          </p:nvPr>
        </p:nvSpPr>
        <p:spPr>
          <a:xfrm>
            <a:off x="6553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6"/>
          <p:cNvSpPr/>
          <p:nvPr/>
        </p:nvSpPr>
        <p:spPr>
          <a:xfrm>
            <a:off x="3933025" y="2302800"/>
            <a:ext cx="268800" cy="586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6"/>
          <p:cNvSpPr txBox="1"/>
          <p:nvPr/>
        </p:nvSpPr>
        <p:spPr>
          <a:xfrm>
            <a:off x="3847525" y="2273249"/>
            <a:ext cx="354300" cy="6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rgbClr val="1E4F9F"/>
                </a:solidFill>
              </a:rPr>
              <a:t>6</a:t>
            </a:r>
            <a:endParaRPr b="1" sz="3100">
              <a:solidFill>
                <a:srgbClr val="1E4F9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00" y="-233430"/>
            <a:ext cx="8520600" cy="592323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4904750" y="4017000"/>
            <a:ext cx="3248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C6D4DF"/>
                </a:solidFill>
              </a:rPr>
              <a:t>פרספקטיבות</a:t>
            </a:r>
            <a:endParaRPr sz="4400">
              <a:solidFill>
                <a:srgbClr val="C6D4D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161800" y="1198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/>
              <a:t>מטרה:</a:t>
            </a:r>
            <a:endParaRPr b="1" sz="30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לאפשר לאנשים לקבל תובנות שונות על המצב באמצעות התבוננות מזוויות הסתכלות שונות</a:t>
            </a:r>
            <a:endParaRPr sz="3000"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5 שלבים:</a:t>
            </a:r>
            <a:endParaRPr/>
          </a:p>
        </p:txBody>
      </p:sp>
      <p:sp>
        <p:nvSpPr>
          <p:cNvPr id="157" name="Google Shape;157;p29"/>
          <p:cNvSpPr txBox="1"/>
          <p:nvPr/>
        </p:nvSpPr>
        <p:spPr>
          <a:xfrm>
            <a:off x="7662300" y="936000"/>
            <a:ext cx="117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שלב 1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58" name="Google Shape;158;p29"/>
          <p:cNvSpPr txBox="1"/>
          <p:nvPr/>
        </p:nvSpPr>
        <p:spPr>
          <a:xfrm>
            <a:off x="5010602" y="936000"/>
            <a:ext cx="26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</a:rPr>
              <a:t>הגדרת נושא</a:t>
            </a:r>
            <a:endParaRPr sz="3100">
              <a:solidFill>
                <a:schemeClr val="dk2"/>
              </a:solidFill>
            </a:endParaRPr>
          </a:p>
        </p:txBody>
      </p:sp>
      <p:sp>
        <p:nvSpPr>
          <p:cNvPr id="159" name="Google Shape;159;p29"/>
          <p:cNvSpPr txBox="1"/>
          <p:nvPr/>
        </p:nvSpPr>
        <p:spPr>
          <a:xfrm>
            <a:off x="-267975" y="936000"/>
            <a:ext cx="4699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משפט פשוט שיגדיר את ההתלבטות</a:t>
            </a:r>
            <a:endParaRPr sz="20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7662300" y="1654578"/>
            <a:ext cx="117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שלב 2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61" name="Google Shape;161;p29"/>
          <p:cNvSpPr txBox="1"/>
          <p:nvPr/>
        </p:nvSpPr>
        <p:spPr>
          <a:xfrm>
            <a:off x="4625702" y="1654579"/>
            <a:ext cx="303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</a:rPr>
              <a:t>פרספקטיבות</a:t>
            </a:r>
            <a:endParaRPr sz="3100">
              <a:solidFill>
                <a:schemeClr val="dk2"/>
              </a:solidFill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-742875" y="1654579"/>
            <a:ext cx="51744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הגדרת פרספקטיבות וכניסה אליהן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7662300" y="2373155"/>
            <a:ext cx="117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שלב 3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7662300" y="3575181"/>
            <a:ext cx="117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שלב 4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7662300" y="4348077"/>
            <a:ext cx="117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שלב 5</a:t>
            </a:r>
            <a:endParaRPr sz="2900">
              <a:solidFill>
                <a:schemeClr val="dk2"/>
              </a:solidFill>
            </a:endParaRPr>
          </a:p>
        </p:txBody>
      </p:sp>
      <p:cxnSp>
        <p:nvCxnSpPr>
          <p:cNvPr id="166" name="Google Shape;166;p29"/>
          <p:cNvCxnSpPr/>
          <p:nvPr/>
        </p:nvCxnSpPr>
        <p:spPr>
          <a:xfrm>
            <a:off x="504200" y="1621800"/>
            <a:ext cx="8572500" cy="0"/>
          </a:xfrm>
          <a:prstGeom prst="straightConnector1">
            <a:avLst/>
          </a:prstGeom>
          <a:noFill/>
          <a:ln cap="flat" cmpd="sng" w="28575">
            <a:solidFill>
              <a:srgbClr val="1E4F9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9"/>
          <p:cNvCxnSpPr/>
          <p:nvPr/>
        </p:nvCxnSpPr>
        <p:spPr>
          <a:xfrm>
            <a:off x="504200" y="2326650"/>
            <a:ext cx="8572500" cy="0"/>
          </a:xfrm>
          <a:prstGeom prst="straightConnector1">
            <a:avLst/>
          </a:prstGeom>
          <a:noFill/>
          <a:ln cap="flat" cmpd="sng" w="28575">
            <a:solidFill>
              <a:srgbClr val="1E4F9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29"/>
          <p:cNvCxnSpPr/>
          <p:nvPr/>
        </p:nvCxnSpPr>
        <p:spPr>
          <a:xfrm>
            <a:off x="504200" y="3526800"/>
            <a:ext cx="8572500" cy="0"/>
          </a:xfrm>
          <a:prstGeom prst="straightConnector1">
            <a:avLst/>
          </a:prstGeom>
          <a:noFill/>
          <a:ln cap="flat" cmpd="sng" w="28575">
            <a:solidFill>
              <a:srgbClr val="1E4F9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9"/>
          <p:cNvCxnSpPr/>
          <p:nvPr/>
        </p:nvCxnSpPr>
        <p:spPr>
          <a:xfrm>
            <a:off x="504200" y="4307850"/>
            <a:ext cx="8572500" cy="0"/>
          </a:xfrm>
          <a:prstGeom prst="straightConnector1">
            <a:avLst/>
          </a:prstGeom>
          <a:noFill/>
          <a:ln cap="flat" cmpd="sng" w="28575">
            <a:solidFill>
              <a:srgbClr val="1E4F9F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מודל פרספקטיבות: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בכל פרספקטיבה חבוי עולם</a:t>
            </a:r>
            <a:endParaRPr sz="16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שאלות אופציונליות</a:t>
            </a:r>
            <a:endParaRPr sz="1600"/>
          </a:p>
          <a:p>
            <a:pPr indent="-330200" lvl="0" marL="457200" rtl="1" algn="r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מה היא אומרת?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איך זה נראה?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מה אפשרי בפרספקטיבה הזאת?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איך ההרגשה?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מה הרווח של להיות בפרספקטיבה הזאת?</a:t>
            </a:r>
            <a:endParaRPr sz="1600"/>
          </a:p>
          <a:p>
            <a:pPr indent="-330200" lvl="0" marL="457200" rtl="1" algn="r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מה המחיר של להיות בפרספקטיבה הזאת?</a:t>
            </a:r>
            <a:endParaRPr sz="16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מסע נעים</a:t>
            </a:r>
            <a:endParaRPr sz="1600"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5 שלבים:</a:t>
            </a:r>
            <a:endParaRPr/>
          </a:p>
        </p:txBody>
      </p:sp>
      <p:sp>
        <p:nvSpPr>
          <p:cNvPr id="181" name="Google Shape;181;p31"/>
          <p:cNvSpPr txBox="1"/>
          <p:nvPr/>
        </p:nvSpPr>
        <p:spPr>
          <a:xfrm>
            <a:off x="7662300" y="936000"/>
            <a:ext cx="117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שלב 1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82" name="Google Shape;182;p31"/>
          <p:cNvSpPr txBox="1"/>
          <p:nvPr/>
        </p:nvSpPr>
        <p:spPr>
          <a:xfrm>
            <a:off x="5010602" y="936000"/>
            <a:ext cx="26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</a:rPr>
              <a:t>הגדרת נושא</a:t>
            </a:r>
            <a:endParaRPr sz="3100">
              <a:solidFill>
                <a:schemeClr val="dk2"/>
              </a:solidFill>
            </a:endParaRPr>
          </a:p>
        </p:txBody>
      </p:sp>
      <p:sp>
        <p:nvSpPr>
          <p:cNvPr id="183" name="Google Shape;183;p31"/>
          <p:cNvSpPr txBox="1"/>
          <p:nvPr/>
        </p:nvSpPr>
        <p:spPr>
          <a:xfrm>
            <a:off x="-267975" y="936000"/>
            <a:ext cx="4699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משפט פשוט שיגדיר את ההתלבטות</a:t>
            </a:r>
            <a:endParaRPr sz="20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7662300" y="1654578"/>
            <a:ext cx="117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שלב 2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4625702" y="1654579"/>
            <a:ext cx="303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</a:rPr>
              <a:t>פרספקטיבות</a:t>
            </a:r>
            <a:endParaRPr sz="3100">
              <a:solidFill>
                <a:schemeClr val="dk2"/>
              </a:solidFill>
            </a:endParaRPr>
          </a:p>
        </p:txBody>
      </p:sp>
      <p:sp>
        <p:nvSpPr>
          <p:cNvPr id="186" name="Google Shape;186;p31"/>
          <p:cNvSpPr txBox="1"/>
          <p:nvPr/>
        </p:nvSpPr>
        <p:spPr>
          <a:xfrm>
            <a:off x="-742875" y="1654579"/>
            <a:ext cx="51744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הגדרת פרספקטיבות וכניסה אליהן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7662300" y="2373155"/>
            <a:ext cx="117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שלב 3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4194002" y="2373158"/>
            <a:ext cx="346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</a:rPr>
              <a:t>צמצום  פרספקטיבות</a:t>
            </a:r>
            <a:endParaRPr sz="3100">
              <a:solidFill>
                <a:schemeClr val="dk2"/>
              </a:solidFill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-1000875" y="2373158"/>
            <a:ext cx="54324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בחירת  הפרספקטיבות הרצויה והתבוננות בה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למה אני אומר כן?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למה אני אומר לא?</a:t>
            </a:r>
            <a:endParaRPr sz="20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90" name="Google Shape;190;p31"/>
          <p:cNvSpPr txBox="1"/>
          <p:nvPr/>
        </p:nvSpPr>
        <p:spPr>
          <a:xfrm>
            <a:off x="7662300" y="3575181"/>
            <a:ext cx="117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שלב 4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91" name="Google Shape;191;p31"/>
          <p:cNvSpPr txBox="1"/>
          <p:nvPr/>
        </p:nvSpPr>
        <p:spPr>
          <a:xfrm>
            <a:off x="5010602" y="3621387"/>
            <a:ext cx="26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</a:rPr>
              <a:t>סיעור מוחות</a:t>
            </a:r>
            <a:endParaRPr sz="3100">
              <a:solidFill>
                <a:schemeClr val="dk2"/>
              </a:solidFill>
            </a:endParaRPr>
          </a:p>
        </p:txBody>
      </p:sp>
      <p:sp>
        <p:nvSpPr>
          <p:cNvPr id="192" name="Google Shape;192;p31"/>
          <p:cNvSpPr txBox="1"/>
          <p:nvPr/>
        </p:nvSpPr>
        <p:spPr>
          <a:xfrm>
            <a:off x="-417825" y="3602487"/>
            <a:ext cx="47541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מה אני יכול לעשות מהמצב הזה?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93" name="Google Shape;193;p31"/>
          <p:cNvSpPr txBox="1"/>
          <p:nvPr/>
        </p:nvSpPr>
        <p:spPr>
          <a:xfrm>
            <a:off x="7662300" y="4348077"/>
            <a:ext cx="1170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</a:rPr>
              <a:t>שלב 5</a:t>
            </a:r>
            <a:endParaRPr sz="2900">
              <a:solidFill>
                <a:schemeClr val="dk2"/>
              </a:solidFill>
            </a:endParaRPr>
          </a:p>
        </p:txBody>
      </p:sp>
      <p:sp>
        <p:nvSpPr>
          <p:cNvPr id="194" name="Google Shape;194;p31"/>
          <p:cNvSpPr txBox="1"/>
          <p:nvPr/>
        </p:nvSpPr>
        <p:spPr>
          <a:xfrm>
            <a:off x="5010602" y="4348075"/>
            <a:ext cx="265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</a:rPr>
              <a:t>תוכנית פעולה</a:t>
            </a:r>
            <a:endParaRPr sz="3100">
              <a:solidFill>
                <a:schemeClr val="dk2"/>
              </a:solidFill>
            </a:endParaRPr>
          </a:p>
        </p:txBody>
      </p:sp>
      <p:sp>
        <p:nvSpPr>
          <p:cNvPr id="195" name="Google Shape;195;p31"/>
          <p:cNvSpPr txBox="1"/>
          <p:nvPr/>
        </p:nvSpPr>
        <p:spPr>
          <a:xfrm>
            <a:off x="-417825" y="4321066"/>
            <a:ext cx="47541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למה אני מתחייב?</a:t>
            </a:r>
            <a:endParaRPr sz="20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עד מתי?</a:t>
            </a:r>
            <a:endParaRPr sz="2000">
              <a:solidFill>
                <a:schemeClr val="dk1"/>
              </a:solidFill>
            </a:endParaRPr>
          </a:p>
        </p:txBody>
      </p:sp>
      <p:cxnSp>
        <p:nvCxnSpPr>
          <p:cNvPr id="196" name="Google Shape;196;p31"/>
          <p:cNvCxnSpPr/>
          <p:nvPr/>
        </p:nvCxnSpPr>
        <p:spPr>
          <a:xfrm>
            <a:off x="504200" y="1621800"/>
            <a:ext cx="8572500" cy="0"/>
          </a:xfrm>
          <a:prstGeom prst="straightConnector1">
            <a:avLst/>
          </a:prstGeom>
          <a:noFill/>
          <a:ln cap="flat" cmpd="sng" w="28575">
            <a:solidFill>
              <a:srgbClr val="1E4F9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31"/>
          <p:cNvCxnSpPr/>
          <p:nvPr/>
        </p:nvCxnSpPr>
        <p:spPr>
          <a:xfrm>
            <a:off x="504200" y="2326650"/>
            <a:ext cx="8572500" cy="0"/>
          </a:xfrm>
          <a:prstGeom prst="straightConnector1">
            <a:avLst/>
          </a:prstGeom>
          <a:noFill/>
          <a:ln cap="flat" cmpd="sng" w="28575">
            <a:solidFill>
              <a:srgbClr val="1E4F9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31"/>
          <p:cNvCxnSpPr/>
          <p:nvPr/>
        </p:nvCxnSpPr>
        <p:spPr>
          <a:xfrm>
            <a:off x="504200" y="3526800"/>
            <a:ext cx="8572500" cy="0"/>
          </a:xfrm>
          <a:prstGeom prst="straightConnector1">
            <a:avLst/>
          </a:prstGeom>
          <a:noFill/>
          <a:ln cap="flat" cmpd="sng" w="28575">
            <a:solidFill>
              <a:srgbClr val="1E4F9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31"/>
          <p:cNvCxnSpPr/>
          <p:nvPr/>
        </p:nvCxnSpPr>
        <p:spPr>
          <a:xfrm>
            <a:off x="504200" y="4307850"/>
            <a:ext cx="8572500" cy="0"/>
          </a:xfrm>
          <a:prstGeom prst="straightConnector1">
            <a:avLst/>
          </a:prstGeom>
          <a:noFill/>
          <a:ln cap="flat" cmpd="sng" w="28575">
            <a:solidFill>
              <a:srgbClr val="1E4F9F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075" y="-51087"/>
            <a:ext cx="6847850" cy="524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-536900"/>
            <a:ext cx="8520599" cy="568039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3"/>
          <p:cNvSpPr txBox="1"/>
          <p:nvPr/>
        </p:nvSpPr>
        <p:spPr>
          <a:xfrm>
            <a:off x="1990100" y="3459742"/>
            <a:ext cx="1162200" cy="1143000"/>
          </a:xfrm>
          <a:prstGeom prst="rect">
            <a:avLst/>
          </a:prstGeom>
          <a:noFill/>
          <a:ln cap="flat" cmpd="sng" w="9525">
            <a:solidFill>
              <a:srgbClr val="1E4F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E4F9F"/>
                </a:solidFill>
                <a:highlight>
                  <a:srgbClr val="FAD138"/>
                </a:highlight>
              </a:rPr>
              <a:t>לא מודע</a:t>
            </a:r>
            <a:endParaRPr b="1" sz="1800">
              <a:solidFill>
                <a:srgbClr val="1E4F9F"/>
              </a:solidFill>
              <a:highlight>
                <a:srgbClr val="FAD138"/>
              </a:highlight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D138"/>
                </a:solidFill>
                <a:highlight>
                  <a:srgbClr val="1E4F9F"/>
                </a:highlight>
              </a:rPr>
              <a:t>לא מיומן</a:t>
            </a:r>
            <a:endParaRPr b="1" sz="1800">
              <a:solidFill>
                <a:srgbClr val="FAD138"/>
              </a:solidFill>
              <a:highlight>
                <a:srgbClr val="1E4F9F"/>
              </a:highlight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3495050" y="3459742"/>
            <a:ext cx="1162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E4F9F"/>
                </a:solidFill>
                <a:highlight>
                  <a:srgbClr val="FAD138"/>
                </a:highlight>
              </a:rPr>
              <a:t>מודע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D138"/>
                </a:solidFill>
                <a:highlight>
                  <a:srgbClr val="1E4F9F"/>
                </a:highlight>
              </a:rPr>
              <a:t>לא מיומן</a:t>
            </a:r>
            <a:endParaRPr b="1" sz="1800">
              <a:solidFill>
                <a:srgbClr val="FAD138"/>
              </a:solidFill>
              <a:highlight>
                <a:srgbClr val="1E4F9F"/>
              </a:highlight>
            </a:endParaRPr>
          </a:p>
        </p:txBody>
      </p:sp>
      <p:sp>
        <p:nvSpPr>
          <p:cNvPr id="214" name="Google Shape;214;p33"/>
          <p:cNvSpPr txBox="1"/>
          <p:nvPr/>
        </p:nvSpPr>
        <p:spPr>
          <a:xfrm>
            <a:off x="5000000" y="3459742"/>
            <a:ext cx="1162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E4F9F"/>
                </a:solidFill>
                <a:highlight>
                  <a:srgbClr val="FAD138"/>
                </a:highlight>
              </a:rPr>
              <a:t>מודע</a:t>
            </a:r>
            <a:endParaRPr b="1" sz="1800">
              <a:solidFill>
                <a:srgbClr val="1E4F9F"/>
              </a:solidFill>
              <a:highlight>
                <a:srgbClr val="FAD138"/>
              </a:highlight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FAD138"/>
                </a:solidFill>
                <a:highlight>
                  <a:srgbClr val="1E4F9F"/>
                </a:highlight>
              </a:rPr>
              <a:t>מיומן</a:t>
            </a:r>
            <a:endParaRPr b="1" sz="1800">
              <a:solidFill>
                <a:srgbClr val="1E4F9F"/>
              </a:solidFill>
              <a:highlight>
                <a:srgbClr val="FAD138"/>
              </a:highlight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6676400" y="3459742"/>
            <a:ext cx="1162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E4F9F"/>
                </a:solidFill>
                <a:highlight>
                  <a:srgbClr val="FAD138"/>
                </a:highlight>
              </a:rPr>
              <a:t>לא מודע</a:t>
            </a:r>
            <a:endParaRPr b="1" sz="1800">
              <a:solidFill>
                <a:srgbClr val="1E4F9F"/>
              </a:solidFill>
              <a:highlight>
                <a:srgbClr val="FAD138"/>
              </a:highlight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AD138"/>
                </a:solidFill>
                <a:highlight>
                  <a:srgbClr val="1E4F9F"/>
                </a:highlight>
              </a:rPr>
              <a:t>מיומן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216" name="Google Shape;216;p33"/>
          <p:cNvSpPr txBox="1"/>
          <p:nvPr/>
        </p:nvSpPr>
        <p:spPr>
          <a:xfrm>
            <a:off x="1059900" y="-172725"/>
            <a:ext cx="7772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2"/>
                </a:solidFill>
              </a:rPr>
              <a:t>מודל שלבי הלמידה</a:t>
            </a:r>
            <a:endParaRPr sz="34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 </a:t>
            </a:r>
            <a:r>
              <a:rPr lang="en" sz="3300">
                <a:solidFill>
                  <a:schemeClr val="dk1"/>
                </a:solidFill>
              </a:rPr>
              <a:t>“If </a:t>
            </a:r>
            <a:r>
              <a:rPr lang="en" sz="2600">
                <a:solidFill>
                  <a:schemeClr val="dk1"/>
                </a:solidFill>
              </a:rPr>
              <a:t>you</a:t>
            </a:r>
            <a:r>
              <a:rPr lang="en" sz="3300">
                <a:solidFill>
                  <a:schemeClr val="dk1"/>
                </a:solidFill>
              </a:rPr>
              <a:t> always do what you’ve always done, </a:t>
            </a:r>
            <a:endParaRPr sz="3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you’ll always get what you’ve always got.”</a:t>
            </a:r>
            <a:endParaRPr sz="3300">
              <a:solidFill>
                <a:schemeClr val="dk1"/>
              </a:solidFill>
            </a:endParaRPr>
          </a:p>
          <a:p>
            <a:pPr indent="0" lvl="0" marL="45720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Henry Ford</a:t>
            </a:r>
            <a:br>
              <a:rPr lang="en" sz="2600">
                <a:solidFill>
                  <a:schemeClr val="dk1"/>
                </a:solidFill>
              </a:rPr>
            </a:br>
            <a:r>
              <a:rPr lang="en" sz="2600">
                <a:solidFill>
                  <a:schemeClr val="dk1"/>
                </a:solidFill>
              </a:rPr>
              <a:t> </a:t>
            </a:r>
            <a:endParaRPr sz="2600">
              <a:solidFill>
                <a:schemeClr val="dk1"/>
              </a:solidFill>
            </a:endParaRPr>
          </a:p>
          <a:p>
            <a:pPr indent="0" lvl="0" marL="0" rtl="1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אם תמיד תעשה את מה שתמיד עשית </a:t>
            </a:r>
            <a:endParaRPr sz="3300">
              <a:solidFill>
                <a:schemeClr val="dk1"/>
              </a:solidFill>
            </a:endParaRPr>
          </a:p>
          <a:p>
            <a:pPr indent="0" lvl="0" marL="0" rtl="1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תמיד תקבל את מה שתמיד קיבלת.</a:t>
            </a:r>
            <a:endParaRPr sz="3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 “Insanity is doing the same thing over and over again and expecting different results.”</a:t>
            </a:r>
            <a:endParaRPr sz="3300">
              <a:solidFill>
                <a:schemeClr val="dk1"/>
              </a:solidFill>
            </a:endParaRPr>
          </a:p>
          <a:p>
            <a:pPr indent="0" lvl="0" marL="4572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Albert Einstein</a:t>
            </a:r>
            <a:endParaRPr sz="33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3300">
                <a:solidFill>
                  <a:schemeClr val="dk1"/>
                </a:solidFill>
              </a:rPr>
            </a:br>
            <a:r>
              <a:rPr lang="en" sz="3300">
                <a:solidFill>
                  <a:schemeClr val="dk1"/>
                </a:solidFill>
              </a:rPr>
              <a:t> הגדרה לשיגעון: לעשות שוב ושוב את אותו הדבר - ולצפות לקבל תוצאה שונה.</a:t>
            </a:r>
            <a:endParaRPr sz="3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:</a:t>
            </a:r>
            <a:endParaRPr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