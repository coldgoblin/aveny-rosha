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5143500" cx="9144000"/>
  <p:notesSz cx="6858000" cy="9144000"/>
  <p:embeddedFontLst>
    <p:embeddedFont>
      <p:font typeface="Open Sans Light"/>
      <p:regular r:id="rId21"/>
      <p:bold r:id="rId22"/>
      <p:italic r:id="rId23"/>
      <p:boldItalic r:id="rId2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font" Target="fonts/OpenSansLight-bold.fntdata"/><Relationship Id="rId10" Type="http://schemas.openxmlformats.org/officeDocument/2006/relationships/slide" Target="slides/slide5.xml"/><Relationship Id="rId21" Type="http://schemas.openxmlformats.org/officeDocument/2006/relationships/font" Target="fonts/OpenSansLight-regular.fntdata"/><Relationship Id="rId13" Type="http://schemas.openxmlformats.org/officeDocument/2006/relationships/slide" Target="slides/slide8.xml"/><Relationship Id="rId24" Type="http://schemas.openxmlformats.org/officeDocument/2006/relationships/font" Target="fonts/OpenSansLight-boldItalic.fntdata"/><Relationship Id="rId12" Type="http://schemas.openxmlformats.org/officeDocument/2006/relationships/slide" Target="slides/slide7.xml"/><Relationship Id="rId23" Type="http://schemas.openxmlformats.org/officeDocument/2006/relationships/font" Target="fonts/OpenSansLigh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bbf2f3c7e_1_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2" name="Google Shape;92;g3abbf2f3c7e_1_0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93" name="Google Shape;93;g3abbf2f3c7e_1_0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af33b81791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af33b81791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af33b81791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af33b81791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efde36ba2_0_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9" name="Google Shape;119;g3aefde36ba2_0_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0" name="Google Shape;120;g3aefde36ba2_0_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f33b8179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f33b8179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e287d2e46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ae287d2e46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ac9fae4c8e_0_52:notes"/>
          <p:cNvSpPr/>
          <p:nvPr>
            <p:ph idx="2" type="sldImg"/>
          </p:nvPr>
        </p:nvSpPr>
        <p:spPr>
          <a:xfrm>
            <a:off x="244676" y="685800"/>
            <a:ext cx="63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3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45" name="Google Shape;145;g3ac9fae4c8e_0_52:notes"/>
          <p:cNvSpPr txBox="1"/>
          <p:nvPr>
            <p:ph idx="1" type="body"/>
          </p:nvPr>
        </p:nvSpPr>
        <p:spPr>
          <a:xfrm>
            <a:off x="685802" y="4343400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25" spcFirstLastPara="1" rIns="92425" wrap="square" tIns="4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6" name="Google Shape;146;g3ac9fae4c8e_0_52:notes"/>
          <p:cNvSpPr txBox="1"/>
          <p:nvPr>
            <p:ph idx="12" type="sldNum"/>
          </p:nvPr>
        </p:nvSpPr>
        <p:spPr>
          <a:xfrm>
            <a:off x="3884621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25" spcFirstLastPara="1" rIns="92425" wrap="square" tIns="462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af33b81791_0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af33b81791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efde36ba2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aefde36ba2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af0b54ec3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af0b54ec3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f88e73601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f88e73601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ae287d2e46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ae287d2e46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c9fae4c8e_0_70:notes"/>
          <p:cNvSpPr/>
          <p:nvPr>
            <p:ph idx="2" type="sldImg"/>
          </p:nvPr>
        </p:nvSpPr>
        <p:spPr>
          <a:xfrm>
            <a:off x="244676" y="685800"/>
            <a:ext cx="63702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350">
            <a:solidFill>
              <a:srgbClr val="000000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3" name="Google Shape;213;g3ac9fae4c8e_0_70:notes"/>
          <p:cNvSpPr txBox="1"/>
          <p:nvPr>
            <p:ph idx="1" type="body"/>
          </p:nvPr>
        </p:nvSpPr>
        <p:spPr>
          <a:xfrm>
            <a:off x="685802" y="4343400"/>
            <a:ext cx="54867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6225" lIns="92425" spcFirstLastPara="1" rIns="92425" wrap="square" tIns="462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214" name="Google Shape;214;g3ac9fae4c8e_0_70:notes"/>
          <p:cNvSpPr txBox="1"/>
          <p:nvPr>
            <p:ph idx="12" type="sldNum"/>
          </p:nvPr>
        </p:nvSpPr>
        <p:spPr>
          <a:xfrm>
            <a:off x="3884621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6225" lIns="92425" spcFirstLastPara="1" rIns="92425" wrap="square" tIns="46225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" sz="1400"/>
              <a:t>‹#›</a:t>
            </a:fld>
            <a:endParaRPr sz="140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3af88e7360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3af88e7360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1" name="Google Shape;51;p13"/>
          <p:cNvCxnSpPr/>
          <p:nvPr/>
        </p:nvCxnSpPr>
        <p:spPr>
          <a:xfrm flipH="1">
            <a:off x="88" y="0"/>
            <a:ext cx="2339700" cy="5145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2" name="Google Shape;52;p13"/>
          <p:cNvCxnSpPr/>
          <p:nvPr/>
        </p:nvCxnSpPr>
        <p:spPr>
          <a:xfrm flipH="1">
            <a:off x="-174" y="0"/>
            <a:ext cx="678000" cy="49077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3" name="Google Shape;53;p13"/>
          <p:cNvSpPr txBox="1"/>
          <p:nvPr>
            <p:ph type="ctrTitle"/>
          </p:nvPr>
        </p:nvSpPr>
        <p:spPr>
          <a:xfrm>
            <a:off x="643101" y="364603"/>
            <a:ext cx="4070700" cy="26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Play"/>
              <a:buNone/>
              <a:defRPr sz="3300" cap="none">
                <a:solidFill>
                  <a:schemeClr val="accen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4" name="Google Shape;54;p13"/>
          <p:cNvSpPr/>
          <p:nvPr>
            <p:ph idx="2" type="pic"/>
          </p:nvPr>
        </p:nvSpPr>
        <p:spPr>
          <a:xfrm>
            <a:off x="4218580" y="-5035"/>
            <a:ext cx="4934100" cy="5171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1">
  <p:cSld name="Content 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6" name="Google Shape;56;p14"/>
          <p:cNvCxnSpPr/>
          <p:nvPr/>
        </p:nvCxnSpPr>
        <p:spPr>
          <a:xfrm rot="10800000">
            <a:off x="-32071" y="4343401"/>
            <a:ext cx="4714800" cy="8001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57" name="Google Shape;57;p14"/>
          <p:cNvCxnSpPr/>
          <p:nvPr/>
        </p:nvCxnSpPr>
        <p:spPr>
          <a:xfrm flipH="1">
            <a:off x="8183848" y="0"/>
            <a:ext cx="685200" cy="51435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58" name="Google Shape;58;p14"/>
          <p:cNvSpPr txBox="1"/>
          <p:nvPr>
            <p:ph type="title"/>
          </p:nvPr>
        </p:nvSpPr>
        <p:spPr>
          <a:xfrm>
            <a:off x="2977588" y="138896"/>
            <a:ext cx="5198100" cy="1129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Play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/>
          <p:nvPr>
            <p:ph idx="2" type="pic"/>
          </p:nvPr>
        </p:nvSpPr>
        <p:spPr>
          <a:xfrm>
            <a:off x="-14091" y="-17145"/>
            <a:ext cx="2469000" cy="5177700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4"/>
          <p:cNvSpPr txBox="1"/>
          <p:nvPr>
            <p:ph idx="1" type="body"/>
          </p:nvPr>
        </p:nvSpPr>
        <p:spPr>
          <a:xfrm>
            <a:off x="2977587" y="1516796"/>
            <a:ext cx="5206200" cy="32235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9845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Arial"/>
              <a:buChar char="•"/>
              <a:defRPr sz="1400"/>
            </a:lvl1pPr>
            <a:lvl2pPr indent="-298450" lvl="1" marL="9144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400"/>
            </a:lvl2pPr>
            <a:lvl3pPr indent="-298450" lvl="2" marL="13716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400"/>
            </a:lvl3pPr>
            <a:lvl4pPr indent="-298450" lvl="3" marL="18288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400"/>
            </a:lvl4pPr>
            <a:lvl5pPr indent="-298450" lvl="4" marL="2286000" algn="l">
              <a:lnSpc>
                <a:spcPct val="100000"/>
              </a:lnSpc>
              <a:spcBef>
                <a:spcPts val="1100"/>
              </a:spcBef>
              <a:spcAft>
                <a:spcPts val="0"/>
              </a:spcAft>
              <a:buClr>
                <a:schemeClr val="dk2"/>
              </a:buClr>
              <a:buSzPts val="1100"/>
              <a:buChar char="•"/>
              <a:defRPr sz="1400"/>
            </a:lvl5pPr>
            <a:lvl6pPr indent="-317500" lvl="5" marL="2743200" algn="l">
              <a:lnSpc>
                <a:spcPct val="90000"/>
              </a:lnSpc>
              <a:spcBef>
                <a:spcPts val="11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ubtitle + picture">
  <p:cSld name="Title + subtitle + picture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2" name="Google Shape;62;p15"/>
          <p:cNvCxnSpPr/>
          <p:nvPr/>
        </p:nvCxnSpPr>
        <p:spPr>
          <a:xfrm flipH="1">
            <a:off x="88" y="0"/>
            <a:ext cx="2339700" cy="5145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3" name="Google Shape;63;p15"/>
          <p:cNvCxnSpPr/>
          <p:nvPr/>
        </p:nvCxnSpPr>
        <p:spPr>
          <a:xfrm rot="10800000">
            <a:off x="-32071" y="4343401"/>
            <a:ext cx="4714800" cy="8001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64" name="Google Shape;64;p15"/>
          <p:cNvCxnSpPr/>
          <p:nvPr/>
        </p:nvCxnSpPr>
        <p:spPr>
          <a:xfrm flipH="1">
            <a:off x="-174" y="0"/>
            <a:ext cx="678000" cy="49077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65" name="Google Shape;65;p15"/>
          <p:cNvSpPr txBox="1"/>
          <p:nvPr>
            <p:ph type="ctrTitle"/>
          </p:nvPr>
        </p:nvSpPr>
        <p:spPr>
          <a:xfrm>
            <a:off x="911304" y="396240"/>
            <a:ext cx="3771600" cy="25161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Play"/>
              <a:buNone/>
              <a:defRPr sz="33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Google Shape;66;p15"/>
          <p:cNvSpPr txBox="1"/>
          <p:nvPr>
            <p:ph idx="1" type="subTitle"/>
          </p:nvPr>
        </p:nvSpPr>
        <p:spPr>
          <a:xfrm>
            <a:off x="911304" y="3020994"/>
            <a:ext cx="3771600" cy="142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accent2"/>
              </a:buClr>
              <a:buSzPts val="1100"/>
              <a:buNone/>
              <a:defRPr b="1" sz="1400" cap="none">
                <a:solidFill>
                  <a:schemeClr val="accent2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sz="1500"/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400"/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200"/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7" name="Google Shape;67;p15"/>
          <p:cNvSpPr/>
          <p:nvPr>
            <p:ph idx="2" type="pic"/>
          </p:nvPr>
        </p:nvSpPr>
        <p:spPr>
          <a:xfrm>
            <a:off x="5442995" y="-8682"/>
            <a:ext cx="3709500" cy="51777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+ picture ">
  <p:cSld name="Content + picture 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6"/>
          <p:cNvCxnSpPr/>
          <p:nvPr/>
        </p:nvCxnSpPr>
        <p:spPr>
          <a:xfrm flipH="1">
            <a:off x="88" y="0"/>
            <a:ext cx="2339700" cy="5145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0" name="Google Shape;70;p16"/>
          <p:cNvCxnSpPr/>
          <p:nvPr/>
        </p:nvCxnSpPr>
        <p:spPr>
          <a:xfrm flipH="1">
            <a:off x="-174" y="0"/>
            <a:ext cx="678000" cy="49077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71" name="Google Shape;71;p16"/>
          <p:cNvCxnSpPr/>
          <p:nvPr/>
        </p:nvCxnSpPr>
        <p:spPr>
          <a:xfrm rot="10800000">
            <a:off x="-32071" y="4343401"/>
            <a:ext cx="4714800" cy="800100"/>
          </a:xfrm>
          <a:prstGeom prst="straightConnector1">
            <a:avLst/>
          </a:prstGeom>
          <a:noFill/>
          <a:ln cap="flat" cmpd="sng" w="9525">
            <a:solidFill>
              <a:schemeClr val="accent3">
                <a:alpha val="69410"/>
              </a:schemeClr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72" name="Google Shape;72;p16"/>
          <p:cNvSpPr txBox="1"/>
          <p:nvPr>
            <p:ph type="title"/>
          </p:nvPr>
        </p:nvSpPr>
        <p:spPr>
          <a:xfrm>
            <a:off x="628649" y="273844"/>
            <a:ext cx="4984500" cy="9942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Play"/>
              <a:buNone/>
              <a:defRPr sz="2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628651" y="1541860"/>
            <a:ext cx="4335900" cy="30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100"/>
              <a:buNone/>
              <a:defRPr sz="1400"/>
            </a:lvl1pPr>
            <a:lvl2pPr indent="-292100" lvl="1" marL="9144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1000"/>
              <a:buChar char="•"/>
              <a:defRPr sz="1200"/>
            </a:lvl2pPr>
            <a:lvl3pPr indent="-279400" lvl="2" marL="13716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800"/>
              <a:buChar char="•"/>
              <a:defRPr sz="1100"/>
            </a:lvl3pPr>
            <a:lvl4pPr indent="-273050" lvl="3" marL="18288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 sz="900"/>
            </a:lvl4pPr>
            <a:lvl5pPr indent="-273050" lvl="4" marL="228600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>
                <a:schemeClr val="dk2"/>
              </a:buClr>
              <a:buSzPts val="700"/>
              <a:buChar char="•"/>
              <a:defRPr sz="900"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4" name="Google Shape;74;p16"/>
          <p:cNvSpPr/>
          <p:nvPr>
            <p:ph idx="2" type="pic"/>
          </p:nvPr>
        </p:nvSpPr>
        <p:spPr>
          <a:xfrm>
            <a:off x="5675243" y="-17145"/>
            <a:ext cx="3468900" cy="5177700"/>
          </a:xfrm>
          <a:prstGeom prst="rect">
            <a:avLst/>
          </a:prstGeom>
          <a:noFill/>
          <a:ln>
            <a:noFill/>
          </a:ln>
        </p:spPr>
      </p:sp>
      <p:sp>
        <p:nvSpPr>
          <p:cNvPr id="75" name="Google Shape;75;p16"/>
          <p:cNvSpPr txBox="1"/>
          <p:nvPr>
            <p:ph idx="10" type="dt"/>
          </p:nvPr>
        </p:nvSpPr>
        <p:spPr>
          <a:xfrm>
            <a:off x="5502827" y="4799159"/>
            <a:ext cx="31455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6" name="Google Shape;76;p16"/>
          <p:cNvSpPr txBox="1"/>
          <p:nvPr>
            <p:ph idx="11" type="ftr"/>
          </p:nvPr>
        </p:nvSpPr>
        <p:spPr>
          <a:xfrm>
            <a:off x="115822" y="4799159"/>
            <a:ext cx="33729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701858" y="4799159"/>
            <a:ext cx="3534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  <a:defRPr b="0" i="0" sz="800" u="none" cap="none" strike="noStrike">
                <a:solidFill>
                  <a:schemeClr val="dk2"/>
                </a:solidFill>
                <a:latin typeface="Open Sans Light"/>
                <a:ea typeface="Open Sans Light"/>
                <a:cs typeface="Open Sans Light"/>
                <a:sym typeface="Open Sans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7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1">
                <a:solidFill>
                  <a:srgbClr val="7030A0"/>
                </a:solidFill>
              </a:defRPr>
            </a:lvl1pPr>
            <a:lvl2pPr lvl="1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7"/>
          <p:cNvSpPr txBox="1"/>
          <p:nvPr>
            <p:ph idx="1" type="body"/>
          </p:nvPr>
        </p:nvSpPr>
        <p:spPr>
          <a:xfrm>
            <a:off x="457200" y="1600200"/>
            <a:ext cx="8229600" cy="29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rtl="1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/>
            </a:lvl1pPr>
            <a:lvl2pPr indent="-406400" lvl="1" marL="9144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/>
            </a:lvl2pPr>
            <a:lvl3pPr indent="-381000" lvl="2" marL="1371600" rtl="1" algn="r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/>
            </a:lvl3pPr>
            <a:lvl4pPr indent="-355600" lvl="3" marL="18288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/>
            </a:lvl4pPr>
            <a:lvl5pPr indent="-355600" lvl="4" marL="2286000" rtl="1" algn="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1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17"/>
          <p:cNvSpPr txBox="1"/>
          <p:nvPr>
            <p:ph idx="12" type="sldNum"/>
          </p:nvPr>
        </p:nvSpPr>
        <p:spPr>
          <a:xfrm>
            <a:off x="7094538" y="0"/>
            <a:ext cx="2057400" cy="914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8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8.png"/><Relationship Id="rId4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6.png"/><Relationship Id="rId4" Type="http://schemas.openxmlformats.org/officeDocument/2006/relationships/image" Target="../media/image15.png"/><Relationship Id="rId5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7.jpg"/><Relationship Id="rId5" Type="http://schemas.openxmlformats.org/officeDocument/2006/relationships/image" Target="../media/image5.gif"/><Relationship Id="rId6" Type="http://schemas.openxmlformats.org/officeDocument/2006/relationships/image" Target="../media/image1.gif"/><Relationship Id="rId7" Type="http://schemas.openxmlformats.org/officeDocument/2006/relationships/image" Target="../media/image9.gif"/><Relationship Id="rId8" Type="http://schemas.openxmlformats.org/officeDocument/2006/relationships/image" Target="../media/image11.gif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://drive.google.com/file/d/1dvHsOK3tw2wWW5-lMXxX9BJMtDYk3w2y/view" TargetMode="External"/><Relationship Id="rId4" Type="http://schemas.openxmlformats.org/officeDocument/2006/relationships/image" Target="../media/image4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9"/>
          <p:cNvSpPr txBox="1"/>
          <p:nvPr>
            <p:ph type="ctrTitle"/>
          </p:nvPr>
        </p:nvSpPr>
        <p:spPr>
          <a:xfrm>
            <a:off x="643101" y="364603"/>
            <a:ext cx="4070700" cy="2699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300"/>
              <a:buFont typeface="Play"/>
              <a:buNone/>
            </a:pPr>
            <a:r>
              <a:rPr lang="en"/>
              <a:t>OUTCOME</a:t>
            </a:r>
            <a:br>
              <a:rPr lang="en"/>
            </a:br>
            <a:r>
              <a:rPr lang="en"/>
              <a:t>תוצאה</a:t>
            </a:r>
            <a:br>
              <a:rPr lang="en"/>
            </a:br>
            <a:endParaRPr/>
          </a:p>
        </p:txBody>
      </p:sp>
      <p:pic>
        <p:nvPicPr>
          <p:cNvPr id="96" name="Google Shape;9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012" y="4031316"/>
            <a:ext cx="1355805" cy="10573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-75974" y="-533925"/>
            <a:ext cx="9295949" cy="61949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9"/>
          <p:cNvSpPr txBox="1"/>
          <p:nvPr/>
        </p:nvSpPr>
        <p:spPr>
          <a:xfrm>
            <a:off x="746175" y="1100200"/>
            <a:ext cx="71949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>
                <a:solidFill>
                  <a:srgbClr val="F2E5CF"/>
                </a:solidFill>
              </a:rPr>
              <a:t>Outcome </a:t>
            </a:r>
            <a:r>
              <a:rPr lang="en" sz="4400">
                <a:solidFill>
                  <a:srgbClr val="F2E5CF"/>
                </a:solidFill>
              </a:rPr>
              <a:t>תוצ</a:t>
            </a:r>
            <a:r>
              <a:rPr lang="en" sz="4400">
                <a:solidFill>
                  <a:srgbClr val="F2E5CF"/>
                </a:solidFill>
              </a:rPr>
              <a:t>אה</a:t>
            </a:r>
            <a:endParaRPr sz="4400">
              <a:solidFill>
                <a:srgbClr val="F2E5C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ctrTitle"/>
          </p:nvPr>
        </p:nvSpPr>
        <p:spPr>
          <a:xfrm>
            <a:off x="643101" y="364603"/>
            <a:ext cx="4070700" cy="26997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04" name="Google Shape;104;p20"/>
          <p:cNvPicPr preferRelativeResize="0"/>
          <p:nvPr/>
        </p:nvPicPr>
        <p:blipFill rotWithShape="1">
          <a:blip r:embed="rId3">
            <a:alphaModFix/>
          </a:blip>
          <a:srcRect b="34779" l="0" r="9543" t="16498"/>
          <a:stretch/>
        </p:blipFill>
        <p:spPr>
          <a:xfrm>
            <a:off x="792475" y="364600"/>
            <a:ext cx="8019274" cy="26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20"/>
          <p:cNvSpPr txBox="1"/>
          <p:nvPr/>
        </p:nvSpPr>
        <p:spPr>
          <a:xfrm>
            <a:off x="902200" y="3771905"/>
            <a:ext cx="7909500" cy="9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רק </a:t>
            </a:r>
            <a:r>
              <a:rPr b="1" lang="en" sz="2800">
                <a:solidFill>
                  <a:schemeClr val="dk1"/>
                </a:solidFill>
              </a:rPr>
              <a:t>8%</a:t>
            </a:r>
            <a:r>
              <a:rPr lang="en" sz="2800">
                <a:solidFill>
                  <a:schemeClr val="dk1"/>
                </a:solidFill>
              </a:rPr>
              <a:t> מהאנשים מצליחים להשיג את היעדים שקבעו לעצמם בראש השנה האזרחית.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34048" y="833800"/>
            <a:ext cx="5809850" cy="34920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21"/>
          <p:cNvSpPr txBox="1"/>
          <p:nvPr/>
        </p:nvSpPr>
        <p:spPr>
          <a:xfrm>
            <a:off x="-376500" y="39325"/>
            <a:ext cx="95205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השפעת התחייבויות שונות על השגת המטרה </a:t>
            </a:r>
            <a:r>
              <a:rPr lang="en" sz="2800">
                <a:solidFill>
                  <a:schemeClr val="dk1"/>
                </a:solidFill>
              </a:rPr>
              <a:t>Gail Matthews </a:t>
            </a:r>
            <a:endParaRPr sz="2800"/>
          </a:p>
        </p:txBody>
      </p:sp>
      <p:sp>
        <p:nvSpPr>
          <p:cNvPr id="112" name="Google Shape;112;p21"/>
          <p:cNvSpPr/>
          <p:nvPr/>
        </p:nvSpPr>
        <p:spPr>
          <a:xfrm>
            <a:off x="7078850" y="1147475"/>
            <a:ext cx="2522100" cy="615600"/>
          </a:xfrm>
          <a:prstGeom prst="rect">
            <a:avLst/>
          </a:prstGeom>
          <a:solidFill>
            <a:srgbClr val="F09B6F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/>
              <a:t>חשבו על מטרה</a:t>
            </a:r>
            <a:endParaRPr sz="2200"/>
          </a:p>
        </p:txBody>
      </p:sp>
      <p:sp>
        <p:nvSpPr>
          <p:cNvPr id="113" name="Google Shape;113;p21"/>
          <p:cNvSpPr/>
          <p:nvPr/>
        </p:nvSpPr>
        <p:spPr>
          <a:xfrm>
            <a:off x="7078850" y="1788175"/>
            <a:ext cx="2522100" cy="615600"/>
          </a:xfrm>
          <a:prstGeom prst="rect">
            <a:avLst/>
          </a:prstGeom>
          <a:solidFill>
            <a:srgbClr val="5E9765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+"/>
            </a:pPr>
            <a:r>
              <a:rPr lang="en" sz="2200"/>
              <a:t>כתבו אותה</a:t>
            </a:r>
            <a:endParaRPr sz="2200"/>
          </a:p>
        </p:txBody>
      </p:sp>
      <p:sp>
        <p:nvSpPr>
          <p:cNvPr id="114" name="Google Shape;114;p21"/>
          <p:cNvSpPr/>
          <p:nvPr/>
        </p:nvSpPr>
        <p:spPr>
          <a:xfrm>
            <a:off x="7078850" y="2428875"/>
            <a:ext cx="2522100" cy="615600"/>
          </a:xfrm>
          <a:prstGeom prst="rect">
            <a:avLst/>
          </a:prstGeom>
          <a:solidFill>
            <a:srgbClr val="57BBE2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+"/>
            </a:pPr>
            <a:r>
              <a:rPr lang="en" sz="2200"/>
              <a:t>התחייבו לפעולה</a:t>
            </a:r>
            <a:endParaRPr sz="2200"/>
          </a:p>
        </p:txBody>
      </p:sp>
      <p:sp>
        <p:nvSpPr>
          <p:cNvPr id="115" name="Google Shape;115;p21"/>
          <p:cNvSpPr/>
          <p:nvPr/>
        </p:nvSpPr>
        <p:spPr>
          <a:xfrm>
            <a:off x="7078850" y="3069575"/>
            <a:ext cx="2522100" cy="615600"/>
          </a:xfrm>
          <a:prstGeom prst="rect">
            <a:avLst/>
          </a:prstGeom>
          <a:solidFill>
            <a:srgbClr val="BC6AB3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+"/>
            </a:pPr>
            <a:r>
              <a:rPr lang="en" sz="2200"/>
              <a:t>ספרו למשהו</a:t>
            </a:r>
            <a:endParaRPr sz="2200"/>
          </a:p>
        </p:txBody>
      </p:sp>
      <p:sp>
        <p:nvSpPr>
          <p:cNvPr id="116" name="Google Shape;116;p21"/>
          <p:cNvSpPr/>
          <p:nvPr/>
        </p:nvSpPr>
        <p:spPr>
          <a:xfrm>
            <a:off x="7078850" y="3710275"/>
            <a:ext cx="2522100" cy="615600"/>
          </a:xfrm>
          <a:prstGeom prst="rect">
            <a:avLst/>
          </a:prstGeom>
          <a:solidFill>
            <a:srgbClr val="83C16C"/>
          </a:solidFill>
          <a:ln cap="flat" cmpd="sng" w="2857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68300" lvl="0" marL="457200" rtl="1" algn="r">
              <a:spcBef>
                <a:spcPts val="0"/>
              </a:spcBef>
              <a:spcAft>
                <a:spcPts val="0"/>
              </a:spcAft>
              <a:buSzPts val="2200"/>
              <a:buChar char="+"/>
            </a:pPr>
            <a:r>
              <a:rPr lang="en" sz="2200"/>
              <a:t>יצרו אחריותיות</a:t>
            </a:r>
            <a:endParaRPr sz="2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ctrTitle"/>
          </p:nvPr>
        </p:nvSpPr>
        <p:spPr>
          <a:xfrm>
            <a:off x="95999" y="471050"/>
            <a:ext cx="4619100" cy="7353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300"/>
              <a:buFont typeface="David"/>
              <a:buNone/>
            </a:pPr>
            <a:r>
              <a:rPr b="1" lang="en" sz="4700">
                <a:solidFill>
                  <a:srgbClr val="2F78BC"/>
                </a:solidFill>
              </a:rPr>
              <a:t>כוחו של הדמיון</a:t>
            </a:r>
            <a:endParaRPr/>
          </a:p>
        </p:txBody>
      </p:sp>
      <p:sp>
        <p:nvSpPr>
          <p:cNvPr id="123" name="Google Shape;123;p22"/>
          <p:cNvSpPr txBox="1"/>
          <p:nvPr/>
        </p:nvSpPr>
        <p:spPr>
          <a:xfrm>
            <a:off x="-12" y="3336213"/>
            <a:ext cx="461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68575" lIns="68575" spcFirstLastPara="1" rIns="68575" wrap="square" tIns="6857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0" i="0" lang="en" sz="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Lotze, M., Scheler, G., Tan, H. R. M., Braun, C., &amp; Birbaumer, N. (2003). </a:t>
            </a:r>
            <a:endParaRPr b="0" i="0" sz="11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4" name="Google Shape;124;p22"/>
          <p:cNvSpPr txBox="1"/>
          <p:nvPr/>
        </p:nvSpPr>
        <p:spPr>
          <a:xfrm>
            <a:off x="96000" y="1304325"/>
            <a:ext cx="4619100" cy="203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/>
              <a:t>מוזיקאים:</a:t>
            </a:r>
            <a:endParaRPr b="1" sz="2400"/>
          </a:p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“ב-fMRI נמצא שכאשר מוזיקאים מנגנים בפועל וכאשר הם רק ‘מנגנים בראש’, מופעלים כמעט אותם אזורים במוח. </a:t>
            </a:r>
            <a:endParaRPr sz="2400"/>
          </a:p>
        </p:txBody>
      </p:sp>
      <p:pic>
        <p:nvPicPr>
          <p:cNvPr id="125" name="Google Shape;125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97450" y="-90066"/>
            <a:ext cx="4146550" cy="6231167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22"/>
          <p:cNvSpPr txBox="1"/>
          <p:nvPr/>
        </p:nvSpPr>
        <p:spPr>
          <a:xfrm>
            <a:off x="96000" y="4051400"/>
            <a:ext cx="4619100" cy="23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ספורטאים: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solidFill>
                  <a:schemeClr val="dk1"/>
                </a:solidFill>
              </a:rPr>
              <a:t>מחקרי MRI </a:t>
            </a:r>
            <a:r>
              <a:rPr lang="en" sz="2400"/>
              <a:t>מראים שדמיון של תנועה מפעיל את אותם אזורים בקורטקס המוטורי כפי ש</a:t>
            </a:r>
            <a:r>
              <a:rPr lang="en" sz="2400">
                <a:solidFill>
                  <a:schemeClr val="dk1"/>
                </a:solidFill>
              </a:rPr>
              <a:t>קורה בעת ביצועה בפועל</a:t>
            </a:r>
            <a:r>
              <a:rPr lang="en" sz="3300">
                <a:solidFill>
                  <a:schemeClr val="dk1"/>
                </a:solidFill>
              </a:rPr>
              <a:t>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3"/>
          <p:cNvSpPr txBox="1"/>
          <p:nvPr>
            <p:ph type="ctrTitle"/>
          </p:nvPr>
        </p:nvSpPr>
        <p:spPr>
          <a:xfrm>
            <a:off x="800404" y="2058790"/>
            <a:ext cx="3771600" cy="2516100"/>
          </a:xfrm>
          <a:prstGeom prst="rect">
            <a:avLst/>
          </a:prstGeom>
        </p:spPr>
        <p:txBody>
          <a:bodyPr anchorCtr="0" anchor="b" bIns="34275" lIns="68575" spcFirstLastPara="1" rIns="68575" wrap="square" tIns="34275">
            <a:no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500"/>
              <a:t>“לפני שאני מתחרה, אני תמיד מדמיין את המרוץ המושלם. אני רואה כל חתירה. כל פנייה. כל נשימה. וכשהמרוץ באמת קורה, זה מרגיש כאילו כבר עשיתי אותו אלף פעמים.”</a:t>
            </a:r>
            <a:endParaRPr sz="4700"/>
          </a:p>
        </p:txBody>
      </p:sp>
      <p:sp>
        <p:nvSpPr>
          <p:cNvPr id="132" name="Google Shape;132;p23"/>
          <p:cNvSpPr/>
          <p:nvPr>
            <p:ph idx="2" type="pic"/>
          </p:nvPr>
        </p:nvSpPr>
        <p:spPr>
          <a:xfrm>
            <a:off x="9162595" y="-17107"/>
            <a:ext cx="3709500" cy="5177700"/>
          </a:xfrm>
          <a:prstGeom prst="rect">
            <a:avLst/>
          </a:prstGeom>
        </p:spPr>
      </p:sp>
      <p:sp>
        <p:nvSpPr>
          <p:cNvPr id="133" name="Google Shape;133;p23"/>
          <p:cNvSpPr txBox="1"/>
          <p:nvPr/>
        </p:nvSpPr>
        <p:spPr>
          <a:xfrm>
            <a:off x="381200" y="357550"/>
            <a:ext cx="5929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chemeClr val="dk2"/>
                </a:solidFill>
              </a:rPr>
              <a:t>Michael Phelps</a:t>
            </a:r>
            <a:endParaRPr sz="3200">
              <a:solidFill>
                <a:schemeClr val="dk2"/>
              </a:solidFill>
            </a:endParaRPr>
          </a:p>
        </p:txBody>
      </p:sp>
      <p:pic>
        <p:nvPicPr>
          <p:cNvPr id="134" name="Google Shape;134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77100" y="-8425"/>
            <a:ext cx="3429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4"/>
          <p:cNvSpPr txBox="1"/>
          <p:nvPr>
            <p:ph type="title"/>
          </p:nvPr>
        </p:nvSpPr>
        <p:spPr>
          <a:xfrm>
            <a:off x="457200" y="461775"/>
            <a:ext cx="6525900" cy="7383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700">
                <a:solidFill>
                  <a:srgbClr val="2F78BC"/>
                </a:solidFill>
              </a:rPr>
              <a:t>תמונת עתיד</a:t>
            </a:r>
            <a:endParaRPr sz="4700">
              <a:solidFill>
                <a:srgbClr val="2F78B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40" name="Google Shape;140;p24"/>
          <p:cNvPicPr preferRelativeResize="0"/>
          <p:nvPr/>
        </p:nvPicPr>
        <p:blipFill rotWithShape="1">
          <a:blip r:embed="rId3">
            <a:alphaModFix/>
          </a:blip>
          <a:srcRect b="0" l="77817" r="0" t="0"/>
          <a:stretch/>
        </p:blipFill>
        <p:spPr>
          <a:xfrm>
            <a:off x="7211575" y="-106300"/>
            <a:ext cx="2028424" cy="5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24"/>
          <p:cNvSpPr txBox="1"/>
          <p:nvPr/>
        </p:nvSpPr>
        <p:spPr>
          <a:xfrm>
            <a:off x="7211575" y="761900"/>
            <a:ext cx="2028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שלב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4"/>
          <p:cNvSpPr txBox="1"/>
          <p:nvPr>
            <p:ph idx="1" type="body"/>
          </p:nvPr>
        </p:nvSpPr>
        <p:spPr>
          <a:xfrm>
            <a:off x="0" y="1657350"/>
            <a:ext cx="6983100" cy="30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b="1" lang="en" sz="5100"/>
              <a:t>תספר/י לי על עצמך, אחרי שהשגת את המטרה: </a:t>
            </a:r>
            <a:endParaRPr/>
          </a:p>
          <a:p>
            <a:pPr indent="-304800" lvl="0" marL="3429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 sz="4000"/>
              <a:t>מה את/ה רואה? איך את/ה נראה/ת? </a:t>
            </a:r>
            <a:endParaRPr/>
          </a:p>
          <a:p>
            <a:pPr indent="-304800" lvl="0" marL="3429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 sz="4000"/>
              <a:t>מה את/ה שומע/ת?איך את/ה נשמע/ת?</a:t>
            </a:r>
            <a:endParaRPr/>
          </a:p>
          <a:p>
            <a:pPr indent="-304800" lvl="0" marL="3429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 sz="4000"/>
              <a:t>מה את/ה אומר/ת לעצמך בדיבור הפנימי?</a:t>
            </a:r>
            <a:endParaRPr/>
          </a:p>
          <a:p>
            <a:pPr indent="-304800" lvl="0" marL="3429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 sz="4000"/>
              <a:t>איך את/ה מרגיש/ה? </a:t>
            </a:r>
            <a:endParaRPr/>
          </a:p>
          <a:p>
            <a:pPr indent="-304800" lvl="0" marL="3429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 sz="4000"/>
              <a:t>איפה את/ה? </a:t>
            </a:r>
            <a:endParaRPr/>
          </a:p>
          <a:p>
            <a:pPr indent="-304800" lvl="0" marL="3429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lang="en" sz="4000"/>
              <a:t>עם מי את/ה?</a:t>
            </a:r>
            <a:endParaRPr/>
          </a:p>
          <a:p>
            <a:pPr indent="-304800" lvl="0" marL="342900" rtl="1" algn="r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Char char="•"/>
            </a:pPr>
            <a:r>
              <a:rPr b="1" lang="en" sz="4000"/>
              <a:t>מתי זה קורה?</a:t>
            </a:r>
            <a:endParaRPr b="1" sz="4000"/>
          </a:p>
          <a:p>
            <a:pPr indent="-342900" lvl="0" marL="342900" rtl="1" algn="r">
              <a:lnSpc>
                <a:spcPct val="100000"/>
              </a:lnSpc>
              <a:spcBef>
                <a:spcPts val="33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5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1" algn="r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990"/>
              <a:buFont typeface="Arial"/>
              <a:buNone/>
            </a:pPr>
            <a:r>
              <a:rPr lang="en" sz="5100">
                <a:solidFill>
                  <a:schemeClr val="dk2"/>
                </a:solidFill>
              </a:rPr>
              <a:t> תמו</a:t>
            </a:r>
            <a:endParaRPr/>
          </a:p>
        </p:txBody>
      </p:sp>
      <p:sp>
        <p:nvSpPr>
          <p:cNvPr id="149" name="Google Shape;149;p25"/>
          <p:cNvSpPr txBox="1"/>
          <p:nvPr>
            <p:ph idx="1" type="body"/>
          </p:nvPr>
        </p:nvSpPr>
        <p:spPr>
          <a:xfrm>
            <a:off x="349475" y="1600200"/>
            <a:ext cx="6724800" cy="299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</a:endParaRPr>
          </a:p>
          <a:p>
            <a:pPr indent="-406400" lvl="0" marL="457200" marR="0" rtl="1" algn="r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2800"/>
              <a:buAutoNum type="arabicPeriod"/>
            </a:pPr>
            <a:r>
              <a:rPr lang="en" sz="2800"/>
              <a:t>גוף שלישי</a:t>
            </a:r>
            <a:endParaRPr sz="2800"/>
          </a:p>
          <a:p>
            <a:pPr indent="-4064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 sz="2800"/>
              <a:t>חיובי - רק מה שכן</a:t>
            </a:r>
            <a:endParaRPr sz="2800"/>
          </a:p>
          <a:p>
            <a:pPr indent="-4064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 sz="2800"/>
              <a:t>תלוי בי</a:t>
            </a:r>
            <a:endParaRPr sz="2800"/>
          </a:p>
          <a:p>
            <a:pPr indent="-406400" lvl="0" marL="457200" marR="0" rtl="1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AutoNum type="arabicPeriod"/>
            </a:pPr>
            <a:r>
              <a:rPr lang="en" sz="2800"/>
              <a:t>ברור ומדויק</a:t>
            </a:r>
            <a:endParaRPr/>
          </a:p>
        </p:txBody>
      </p:sp>
      <p:pic>
        <p:nvPicPr>
          <p:cNvPr id="150" name="Google Shape;150;p25"/>
          <p:cNvPicPr preferRelativeResize="0"/>
          <p:nvPr/>
        </p:nvPicPr>
        <p:blipFill rotWithShape="1">
          <a:blip r:embed="rId3">
            <a:alphaModFix/>
          </a:blip>
          <a:srcRect b="0" l="77817" r="0" t="0"/>
          <a:stretch/>
        </p:blipFill>
        <p:spPr>
          <a:xfrm>
            <a:off x="7211575" y="-106300"/>
            <a:ext cx="2028424" cy="5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5"/>
          <p:cNvSpPr txBox="1"/>
          <p:nvPr/>
        </p:nvSpPr>
        <p:spPr>
          <a:xfrm>
            <a:off x="7211575" y="761900"/>
            <a:ext cx="2028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שלב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5"/>
          <p:cNvSpPr txBox="1"/>
          <p:nvPr/>
        </p:nvSpPr>
        <p:spPr>
          <a:xfrm>
            <a:off x="0" y="0"/>
            <a:ext cx="7211700" cy="9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700">
                <a:solidFill>
                  <a:srgbClr val="2F78BC"/>
                </a:solidFill>
              </a:rPr>
              <a:t>תמונת עתיד</a:t>
            </a:r>
            <a:endParaRPr/>
          </a:p>
        </p:txBody>
      </p:sp>
      <p:sp>
        <p:nvSpPr>
          <p:cNvPr id="153" name="Google Shape;153;p25"/>
          <p:cNvSpPr txBox="1"/>
          <p:nvPr/>
        </p:nvSpPr>
        <p:spPr>
          <a:xfrm>
            <a:off x="0" y="660450"/>
            <a:ext cx="7211700" cy="815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100">
                <a:solidFill>
                  <a:srgbClr val="2F78BC"/>
                </a:solidFill>
              </a:rPr>
              <a:t>כללים:</a:t>
            </a:r>
            <a:endParaRPr sz="800"/>
          </a:p>
        </p:txBody>
      </p:sp>
      <p:pic>
        <p:nvPicPr>
          <p:cNvPr id="154" name="Google Shape;154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99" y="1170450"/>
            <a:ext cx="3246624" cy="216712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2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 rot="-2">
            <a:off x="457200" y="3465930"/>
            <a:ext cx="3246625" cy="216934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6"/>
          <p:cNvSpPr txBox="1"/>
          <p:nvPr>
            <p:ph type="title"/>
          </p:nvPr>
        </p:nvSpPr>
        <p:spPr>
          <a:xfrm>
            <a:off x="457200" y="685800"/>
            <a:ext cx="64977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4700">
                <a:solidFill>
                  <a:srgbClr val="2F78BC"/>
                </a:solidFill>
              </a:rPr>
              <a:t>תמונת עתיד</a:t>
            </a:r>
            <a:endParaRPr/>
          </a:p>
        </p:txBody>
      </p:sp>
      <p:sp>
        <p:nvSpPr>
          <p:cNvPr id="161" name="Google Shape;161;p26"/>
          <p:cNvSpPr txBox="1"/>
          <p:nvPr>
            <p:ph idx="1" type="body"/>
          </p:nvPr>
        </p:nvSpPr>
        <p:spPr>
          <a:xfrm>
            <a:off x="457200" y="1966939"/>
            <a:ext cx="6497700" cy="299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06400" lvl="0" marL="457200" rtl="1" algn="r">
              <a:spcBef>
                <a:spcPts val="64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להיות בהקשבה ברמה 2</a:t>
            </a:r>
            <a:endParaRPr sz="2800"/>
          </a:p>
          <a:p>
            <a:pPr indent="-406400" lvl="0" marL="457200" rtl="1" algn="r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ראפור </a:t>
            </a:r>
            <a:endParaRPr sz="2800"/>
          </a:p>
          <a:p>
            <a:pPr indent="-406400" lvl="3" marL="1828800" rtl="1" algn="r">
              <a:spcBef>
                <a:spcPts val="0"/>
              </a:spcBef>
              <a:spcAft>
                <a:spcPts val="0"/>
              </a:spcAft>
              <a:buSzPts val="2800"/>
              <a:buChar char="–"/>
            </a:pPr>
            <a:r>
              <a:rPr lang="en" sz="2800"/>
              <a:t>להשתמש במילים שלהם</a:t>
            </a:r>
            <a:endParaRPr sz="2800"/>
          </a:p>
          <a:p>
            <a:pPr indent="-406400" lvl="3" marL="1828800" rtl="1" algn="r">
              <a:spcBef>
                <a:spcPts val="0"/>
              </a:spcBef>
              <a:spcAft>
                <a:spcPts val="0"/>
              </a:spcAft>
              <a:buSzPts val="2800"/>
              <a:buChar char="–"/>
            </a:pPr>
            <a:r>
              <a:rPr lang="en" sz="2800"/>
              <a:t>קליברציה</a:t>
            </a:r>
            <a:endParaRPr sz="2800"/>
          </a:p>
          <a:p>
            <a:pPr indent="-406400" lvl="0" marL="457200" rtl="1" algn="r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להקריא כל כמה זמן ואם יש דיוקים לדייק</a:t>
            </a:r>
            <a:endParaRPr sz="2800"/>
          </a:p>
          <a:p>
            <a:pPr indent="-406400" lvl="0" marL="457200" rtl="1" algn="r">
              <a:spcBef>
                <a:spcPts val="0"/>
              </a:spcBef>
              <a:spcAft>
                <a:spcPts val="0"/>
              </a:spcAft>
              <a:buSzPts val="2800"/>
              <a:buChar char="•"/>
            </a:pPr>
            <a:r>
              <a:rPr lang="en" sz="2800"/>
              <a:t>לוודא ששומרים על הכללים</a:t>
            </a:r>
            <a:endParaRPr sz="2800"/>
          </a:p>
          <a:p>
            <a:pPr indent="0" lvl="0" marL="457200" rtl="1" algn="r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 sz="2800"/>
          </a:p>
        </p:txBody>
      </p:sp>
      <p:sp>
        <p:nvSpPr>
          <p:cNvPr id="162" name="Google Shape;162;p26"/>
          <p:cNvSpPr txBox="1"/>
          <p:nvPr>
            <p:ph type="title"/>
          </p:nvPr>
        </p:nvSpPr>
        <p:spPr>
          <a:xfrm>
            <a:off x="457200" y="142500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rgbClr val="2F78BC"/>
                </a:solidFill>
              </a:rPr>
              <a:t>טיפים</a:t>
            </a:r>
            <a:endParaRPr/>
          </a:p>
        </p:txBody>
      </p:sp>
      <p:pic>
        <p:nvPicPr>
          <p:cNvPr id="163" name="Google Shape;163;p26"/>
          <p:cNvPicPr preferRelativeResize="0"/>
          <p:nvPr/>
        </p:nvPicPr>
        <p:blipFill rotWithShape="1">
          <a:blip r:embed="rId3">
            <a:alphaModFix/>
          </a:blip>
          <a:srcRect b="0" l="77817" r="0" t="0"/>
          <a:stretch/>
        </p:blipFill>
        <p:spPr>
          <a:xfrm>
            <a:off x="7211575" y="-106300"/>
            <a:ext cx="2028424" cy="5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6"/>
          <p:cNvSpPr txBox="1"/>
          <p:nvPr/>
        </p:nvSpPr>
        <p:spPr>
          <a:xfrm>
            <a:off x="7211575" y="761900"/>
            <a:ext cx="2028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שלב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7"/>
          <p:cNvSpPr txBox="1"/>
          <p:nvPr>
            <p:ph type="title"/>
          </p:nvPr>
        </p:nvSpPr>
        <p:spPr>
          <a:xfrm>
            <a:off x="457200" y="685800"/>
            <a:ext cx="65337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rgbClr val="2F78BC"/>
                </a:solidFill>
              </a:rPr>
              <a:t>SMART</a:t>
            </a:r>
            <a:endParaRPr sz="4700">
              <a:solidFill>
                <a:srgbClr val="2F78BC"/>
              </a:solidFill>
            </a:endParaRPr>
          </a:p>
        </p:txBody>
      </p:sp>
      <p:pic>
        <p:nvPicPr>
          <p:cNvPr id="170" name="Google Shape;170;p27"/>
          <p:cNvPicPr preferRelativeResize="0"/>
          <p:nvPr/>
        </p:nvPicPr>
        <p:blipFill rotWithShape="1">
          <a:blip r:embed="rId3">
            <a:alphaModFix/>
          </a:blip>
          <a:srcRect b="0" l="77817" r="0" t="0"/>
          <a:stretch/>
        </p:blipFill>
        <p:spPr>
          <a:xfrm>
            <a:off x="7211575" y="-106300"/>
            <a:ext cx="2028424" cy="5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7"/>
          <p:cNvSpPr txBox="1"/>
          <p:nvPr/>
        </p:nvSpPr>
        <p:spPr>
          <a:xfrm>
            <a:off x="7211575" y="761900"/>
            <a:ext cx="2028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שלב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457200" y="1633975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/>
              <a:t>S</a:t>
            </a:r>
            <a:r>
              <a:rPr lang="en" sz="2700"/>
              <a:t>pecific</a:t>
            </a:r>
            <a:endParaRPr sz="2700"/>
          </a:p>
        </p:txBody>
      </p:sp>
      <p:sp>
        <p:nvSpPr>
          <p:cNvPr id="173" name="Google Shape;173;p27"/>
          <p:cNvSpPr/>
          <p:nvPr/>
        </p:nvSpPr>
        <p:spPr>
          <a:xfrm>
            <a:off x="457200" y="2347356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300">
                <a:solidFill>
                  <a:schemeClr val="dk1"/>
                </a:solidFill>
              </a:rPr>
              <a:t>M</a:t>
            </a:r>
            <a:r>
              <a:rPr lang="en" sz="2700">
                <a:solidFill>
                  <a:schemeClr val="dk1"/>
                </a:solidFill>
              </a:rPr>
              <a:t>easurable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174" name="Google Shape;174;p27"/>
          <p:cNvSpPr/>
          <p:nvPr/>
        </p:nvSpPr>
        <p:spPr>
          <a:xfrm>
            <a:off x="457200" y="3060738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300">
                <a:solidFill>
                  <a:schemeClr val="dk1"/>
                </a:solidFill>
              </a:rPr>
              <a:t>A</a:t>
            </a:r>
            <a:r>
              <a:rPr lang="en" sz="2700">
                <a:solidFill>
                  <a:schemeClr val="dk1"/>
                </a:solidFill>
              </a:rPr>
              <a:t>chievable</a:t>
            </a:r>
            <a:endParaRPr sz="2700"/>
          </a:p>
        </p:txBody>
      </p:sp>
      <p:sp>
        <p:nvSpPr>
          <p:cNvPr id="175" name="Google Shape;175;p27"/>
          <p:cNvSpPr/>
          <p:nvPr/>
        </p:nvSpPr>
        <p:spPr>
          <a:xfrm>
            <a:off x="457200" y="3774119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300">
                <a:solidFill>
                  <a:schemeClr val="dk1"/>
                </a:solidFill>
              </a:rPr>
              <a:t>R</a:t>
            </a:r>
            <a:r>
              <a:rPr lang="en" sz="2700">
                <a:solidFill>
                  <a:schemeClr val="dk1"/>
                </a:solidFill>
              </a:rPr>
              <a:t>elavent</a:t>
            </a:r>
            <a:endParaRPr/>
          </a:p>
        </p:txBody>
      </p:sp>
      <p:sp>
        <p:nvSpPr>
          <p:cNvPr id="176" name="Google Shape;176;p27"/>
          <p:cNvSpPr/>
          <p:nvPr/>
        </p:nvSpPr>
        <p:spPr>
          <a:xfrm>
            <a:off x="457200" y="4487500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3300">
                <a:solidFill>
                  <a:schemeClr val="dk1"/>
                </a:solidFill>
              </a:rPr>
              <a:t>T</a:t>
            </a:r>
            <a:r>
              <a:rPr lang="en" sz="2700">
                <a:solidFill>
                  <a:schemeClr val="dk1"/>
                </a:solidFill>
              </a:rPr>
              <a:t>ime based</a:t>
            </a:r>
            <a:endParaRPr/>
          </a:p>
        </p:txBody>
      </p:sp>
      <p:sp>
        <p:nvSpPr>
          <p:cNvPr id="177" name="Google Shape;177;p27"/>
          <p:cNvSpPr/>
          <p:nvPr/>
        </p:nvSpPr>
        <p:spPr>
          <a:xfrm flipH="1">
            <a:off x="4765975" y="1633988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/>
              <a:t>ספציפי</a:t>
            </a:r>
            <a:endParaRPr sz="2700"/>
          </a:p>
        </p:txBody>
      </p:sp>
      <p:sp>
        <p:nvSpPr>
          <p:cNvPr id="178" name="Google Shape;178;p27"/>
          <p:cNvSpPr/>
          <p:nvPr/>
        </p:nvSpPr>
        <p:spPr>
          <a:xfrm flipH="1">
            <a:off x="4765975" y="2347369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מדיד</a:t>
            </a:r>
            <a:endParaRPr sz="2700">
              <a:solidFill>
                <a:schemeClr val="dk1"/>
              </a:solidFill>
            </a:endParaRPr>
          </a:p>
        </p:txBody>
      </p:sp>
      <p:sp>
        <p:nvSpPr>
          <p:cNvPr id="179" name="Google Shape;179;p27"/>
          <p:cNvSpPr/>
          <p:nvPr/>
        </p:nvSpPr>
        <p:spPr>
          <a:xfrm flipH="1">
            <a:off x="4765975" y="3060750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בר השגה</a:t>
            </a:r>
            <a:endParaRPr sz="2700"/>
          </a:p>
        </p:txBody>
      </p:sp>
      <p:sp>
        <p:nvSpPr>
          <p:cNvPr id="180" name="Google Shape;180;p27"/>
          <p:cNvSpPr/>
          <p:nvPr/>
        </p:nvSpPr>
        <p:spPr>
          <a:xfrm flipH="1">
            <a:off x="4765975" y="3774131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רלוונטי</a:t>
            </a:r>
            <a:endParaRPr/>
          </a:p>
        </p:txBody>
      </p:sp>
      <p:sp>
        <p:nvSpPr>
          <p:cNvPr id="181" name="Google Shape;181;p27"/>
          <p:cNvSpPr/>
          <p:nvPr/>
        </p:nvSpPr>
        <p:spPr>
          <a:xfrm flipH="1">
            <a:off x="4765975" y="4487513"/>
            <a:ext cx="2224800" cy="638400"/>
          </a:xfrm>
          <a:prstGeom prst="homePlate">
            <a:avLst>
              <a:gd fmla="val 50000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3300">
                <a:solidFill>
                  <a:schemeClr val="dk1"/>
                </a:solidFill>
              </a:rPr>
              <a:t>תחום בזמן</a:t>
            </a:r>
            <a:endParaRPr/>
          </a:p>
        </p:txBody>
      </p:sp>
      <p:pic>
        <p:nvPicPr>
          <p:cNvPr descr="Arrow hitting bull's-eye on target (Provided by Getty Images)" id="182" name="Google Shape;182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7068" y="1515125"/>
            <a:ext cx="783570" cy="78012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wooden ruler with black numbers on it (Provided by Tenor)" id="183" name="Google Shape;183;p2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74637" y="2363726"/>
            <a:ext cx="568433" cy="56843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gold medal with the number 1 on it and red ribbons (Provided by Tenor)" id="184" name="Google Shape;184;p2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367065" y="2759553"/>
            <a:ext cx="783576" cy="83203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red exclamation point with two red circles around it on a white background (Provided by Tenor)" id="185" name="Google Shape;185;p27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367065" y="3707829"/>
            <a:ext cx="783576" cy="7835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n hourglass with a black base and a black lid (Provided by Tenor)" id="186" name="Google Shape;186;p27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520478" y="4607655"/>
            <a:ext cx="476750" cy="56843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8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28"/>
          <p:cNvSpPr txBox="1"/>
          <p:nvPr>
            <p:ph idx="1" type="body"/>
          </p:nvPr>
        </p:nvSpPr>
        <p:spPr>
          <a:xfrm>
            <a:off x="457200" y="1600200"/>
            <a:ext cx="8229600" cy="299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64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93" name="Google Shape;193;p28" title="WhatsApp Video 2025-11-20 at 14.57.42 (1)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1278" y="269750"/>
            <a:ext cx="8221443" cy="46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457200" y="663175"/>
            <a:ext cx="6365700" cy="8799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rgbClr val="2F78BC"/>
                </a:solidFill>
              </a:rPr>
              <a:t>קריטריונים אובייקטיבים</a:t>
            </a:r>
            <a:endParaRPr/>
          </a:p>
        </p:txBody>
      </p:sp>
      <p:pic>
        <p:nvPicPr>
          <p:cNvPr id="199" name="Google Shape;199;p29"/>
          <p:cNvPicPr preferRelativeResize="0"/>
          <p:nvPr/>
        </p:nvPicPr>
        <p:blipFill rotWithShape="1">
          <a:blip r:embed="rId3">
            <a:alphaModFix/>
          </a:blip>
          <a:srcRect b="0" l="77817" r="0" t="0"/>
          <a:stretch/>
        </p:blipFill>
        <p:spPr>
          <a:xfrm>
            <a:off x="7211575" y="-106300"/>
            <a:ext cx="2028424" cy="5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9"/>
          <p:cNvSpPr txBox="1"/>
          <p:nvPr/>
        </p:nvSpPr>
        <p:spPr>
          <a:xfrm>
            <a:off x="7211575" y="761900"/>
            <a:ext cx="2028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שלב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II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947925" y="1810525"/>
            <a:ext cx="4995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2"/>
                </a:solidFill>
              </a:rPr>
              <a:t>לפחות 3</a:t>
            </a:r>
            <a:r>
              <a:rPr lang="en" sz="2800">
                <a:solidFill>
                  <a:schemeClr val="dk2"/>
                </a:solidFill>
              </a:rPr>
              <a:t> יעדים אופרטיבים שיעידו על השגת ה OUTCOME </a:t>
            </a:r>
            <a:endParaRPr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457200" y="685800"/>
            <a:ext cx="67545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 sz="4700">
                <a:solidFill>
                  <a:srgbClr val="2F78BC"/>
                </a:solidFill>
              </a:rPr>
              <a:t>אקולוגיה</a:t>
            </a:r>
            <a:endParaRPr/>
          </a:p>
        </p:txBody>
      </p:sp>
      <p:sp>
        <p:nvSpPr>
          <p:cNvPr id="207" name="Google Shape;207;p30"/>
          <p:cNvSpPr txBox="1"/>
          <p:nvPr>
            <p:ph type="title"/>
          </p:nvPr>
        </p:nvSpPr>
        <p:spPr>
          <a:xfrm>
            <a:off x="457200" y="685800"/>
            <a:ext cx="8229600" cy="8574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457200" y="1600200"/>
            <a:ext cx="6529200" cy="29946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25450" lvl="0" marL="45720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100"/>
              <a:buChar char="●"/>
            </a:pPr>
            <a:r>
              <a:rPr lang="en" sz="3100">
                <a:solidFill>
                  <a:schemeClr val="dk1"/>
                </a:solidFill>
              </a:rPr>
              <a:t>על מה תצטרכו לוותר כדי להשיג את outcome?</a:t>
            </a:r>
            <a:endParaRPr sz="3100">
              <a:solidFill>
                <a:schemeClr val="dk1"/>
              </a:solidFill>
            </a:endParaRPr>
          </a:p>
          <a:p>
            <a:pPr indent="-42545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3100">
                <a:solidFill>
                  <a:schemeClr val="dk1"/>
                </a:solidFill>
              </a:rPr>
              <a:t>האם אני יכולה לוותר על זה? </a:t>
            </a:r>
            <a:endParaRPr sz="3100">
              <a:solidFill>
                <a:schemeClr val="dk1"/>
              </a:solidFill>
            </a:endParaRPr>
          </a:p>
          <a:p>
            <a:pPr indent="-42545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3100">
                <a:solidFill>
                  <a:schemeClr val="dk1"/>
                </a:solidFill>
              </a:rPr>
              <a:t>האם אני מוכנה לוותר על זה?</a:t>
            </a:r>
            <a:endParaRPr sz="3600"/>
          </a:p>
          <a:p>
            <a:pPr indent="-425450" lvl="0" marL="45720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100"/>
              <a:buChar char="●"/>
            </a:pPr>
            <a:r>
              <a:rPr lang="en" sz="3100">
                <a:solidFill>
                  <a:schemeClr val="dk1"/>
                </a:solidFill>
              </a:rPr>
              <a:t>אם אוותר על זה, האם אשיג את outcome?</a:t>
            </a:r>
            <a:endParaRPr sz="3100">
              <a:solidFill>
                <a:schemeClr val="dk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b="1" lang="en" sz="1300">
                <a:solidFill>
                  <a:schemeClr val="dk1"/>
                </a:solidFill>
              </a:rPr>
              <a:t>"אני מתחייב/ת לוותר על ________ עד ________ כדי לאפשר את ה־Outcome שלי</a:t>
            </a:r>
            <a:endParaRPr sz="3100">
              <a:solidFill>
                <a:schemeClr val="dk1"/>
              </a:solidFill>
            </a:endParaRPr>
          </a:p>
          <a:p>
            <a:pPr indent="0" lvl="0" marL="457200" rtl="1" algn="r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3600"/>
          </a:p>
        </p:txBody>
      </p:sp>
      <p:pic>
        <p:nvPicPr>
          <p:cNvPr id="209" name="Google Shape;209;p30"/>
          <p:cNvPicPr preferRelativeResize="0"/>
          <p:nvPr/>
        </p:nvPicPr>
        <p:blipFill rotWithShape="1">
          <a:blip r:embed="rId3">
            <a:alphaModFix/>
          </a:blip>
          <a:srcRect b="0" l="77817" r="0" t="0"/>
          <a:stretch/>
        </p:blipFill>
        <p:spPr>
          <a:xfrm>
            <a:off x="7211575" y="-106300"/>
            <a:ext cx="2028424" cy="53561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30"/>
          <p:cNvSpPr txBox="1"/>
          <p:nvPr/>
        </p:nvSpPr>
        <p:spPr>
          <a:xfrm>
            <a:off x="7211575" y="761900"/>
            <a:ext cx="20283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Outcome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1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שלב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300">
                <a:solidFill>
                  <a:srgbClr val="F3F3F3"/>
                </a:solidFill>
                <a:latin typeface="Calibri"/>
                <a:ea typeface="Calibri"/>
                <a:cs typeface="Calibri"/>
                <a:sym typeface="Calibri"/>
              </a:rPr>
              <a:t>III</a:t>
            </a:r>
            <a:endParaRPr b="1" sz="3300">
              <a:solidFill>
                <a:srgbClr val="F3F3F3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31"/>
          <p:cNvSpPr txBox="1"/>
          <p:nvPr>
            <p:ph type="title"/>
          </p:nvPr>
        </p:nvSpPr>
        <p:spPr>
          <a:xfrm>
            <a:off x="533400" y="2000250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"/>
              <a:t>שימושים ב Outcome?</a:t>
            </a:r>
            <a:endParaRPr/>
          </a:p>
        </p:txBody>
      </p:sp>
      <p:sp>
        <p:nvSpPr>
          <p:cNvPr id="217" name="Google Shape;217;p31"/>
          <p:cNvSpPr txBox="1"/>
          <p:nvPr/>
        </p:nvSpPr>
        <p:spPr>
          <a:xfrm>
            <a:off x="4003675" y="2000250"/>
            <a:ext cx="5140200" cy="377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900"/>
              <a:buFont typeface="Arial"/>
              <a:buNone/>
            </a:pPr>
            <a:r>
              <a:rPr b="0" i="0" lang="en" sz="23900" u="none" cap="none" strike="noStrike">
                <a:solidFill>
                  <a:srgbClr val="A5A5A5"/>
                </a:solidFill>
                <a:latin typeface="Calibri"/>
                <a:ea typeface="Calibri"/>
                <a:cs typeface="Calibri"/>
                <a:sym typeface="Calibri"/>
              </a:rPr>
              <a:t>גדול</a:t>
            </a:r>
            <a:endParaRPr b="0" i="0" sz="23900" u="none" cap="none" strike="noStrike">
              <a:solidFill>
                <a:srgbClr val="A5A5A5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31"/>
          <p:cNvSpPr txBox="1"/>
          <p:nvPr/>
        </p:nvSpPr>
        <p:spPr>
          <a:xfrm>
            <a:off x="2209800" y="3657600"/>
            <a:ext cx="56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קטן</a:t>
            </a:r>
            <a:endParaRPr b="1" i="0" sz="2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1"/>
          <p:cNvSpPr txBox="1"/>
          <p:nvPr/>
        </p:nvSpPr>
        <p:spPr>
          <a:xfrm>
            <a:off x="5257800" y="1400175"/>
            <a:ext cx="2967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1" i="0" lang="en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ארוך טווח</a:t>
            </a:r>
            <a:endParaRPr b="1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1"/>
          <p:cNvSpPr txBox="1"/>
          <p:nvPr/>
        </p:nvSpPr>
        <p:spPr>
          <a:xfrm>
            <a:off x="2133600" y="1400175"/>
            <a:ext cx="14652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קצר טווח</a:t>
            </a:r>
            <a:endParaRPr b="0" i="0" sz="3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1"/>
          <p:cNvSpPr txBox="1"/>
          <p:nvPr/>
        </p:nvSpPr>
        <p:spPr>
          <a:xfrm>
            <a:off x="5257800" y="2857500"/>
            <a:ext cx="24258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אישי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1"/>
          <p:cNvSpPr txBox="1"/>
          <p:nvPr/>
        </p:nvSpPr>
        <p:spPr>
          <a:xfrm>
            <a:off x="3048000" y="2857500"/>
            <a:ext cx="16764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1" i="0" lang="en" sz="3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עיסקי</a:t>
            </a:r>
            <a:endParaRPr b="1" i="0" sz="3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20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2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500"/>
                            </p:stCondLst>
                            <p:childTnLst>
                              <p:par>
                                <p:cTn fill="hold" nodeType="after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7" name="Google Shape;227;p32"/>
          <p:cNvPicPr preferRelativeResize="0"/>
          <p:nvPr/>
        </p:nvPicPr>
        <p:blipFill rotWithShape="1">
          <a:blip r:embed="rId3">
            <a:alphaModFix/>
          </a:blip>
          <a:srcRect b="23403" l="10350" r="14162" t="14323"/>
          <a:stretch/>
        </p:blipFill>
        <p:spPr>
          <a:xfrm rot="5400000">
            <a:off x="2054650" y="-1497325"/>
            <a:ext cx="5034701" cy="8138150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32"/>
          <p:cNvSpPr txBox="1"/>
          <p:nvPr/>
        </p:nvSpPr>
        <p:spPr>
          <a:xfrm>
            <a:off x="1702300" y="856800"/>
            <a:ext cx="5806500" cy="300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solidFill>
                <a:srgbClr val="366091"/>
              </a:solidFill>
            </a:endParaRPr>
          </a:p>
          <a:p>
            <a:pPr indent="0" lvl="0" marL="0" rtl="1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200">
                <a:solidFill>
                  <a:srgbClr val="0A0A0A"/>
                </a:solidFill>
                <a:highlight>
                  <a:srgbClr val="FFFFFF"/>
                </a:highlight>
              </a:rPr>
              <a:t>"אתה נמצא במקום בו נמצאות מחשבותיך, ודא שמחשבותיך נמצאות במקום בו אתה רוצה להיות" </a:t>
            </a:r>
            <a:endParaRPr sz="3200">
              <a:solidFill>
                <a:srgbClr val="0A0A0A"/>
              </a:solidFill>
              <a:highlight>
                <a:srgbClr val="FFFFFF"/>
              </a:highlight>
            </a:endParaRPr>
          </a:p>
          <a:p>
            <a:pPr indent="0" lvl="0" marL="0" rtl="1" algn="r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3000">
              <a:solidFill>
                <a:srgbClr val="0A0A0A"/>
              </a:solidFill>
              <a:highlight>
                <a:srgbClr val="FFFFFF"/>
              </a:highlight>
            </a:endParaRPr>
          </a:p>
        </p:txBody>
      </p:sp>
      <p:sp>
        <p:nvSpPr>
          <p:cNvPr id="229" name="Google Shape;229;p32"/>
          <p:cNvSpPr txBox="1"/>
          <p:nvPr/>
        </p:nvSpPr>
        <p:spPr>
          <a:xfrm>
            <a:off x="549300" y="3430900"/>
            <a:ext cx="42366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1" algn="r">
              <a:lnSpc>
                <a:spcPct val="115000"/>
              </a:lnSpc>
              <a:spcBef>
                <a:spcPts val="240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</a:rPr>
              <a:t>הרבי נחמן מברסלב.</a:t>
            </a:r>
            <a:endParaRPr sz="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