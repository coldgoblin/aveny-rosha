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5C71D3-3BA2-415F-887D-2394D4D2D82F}">
  <a:tblStyle styleId="{125C71D3-3BA2-415F-887D-2394D4D2D8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28627B3-4296-41F6-9BA9-E99579EFCA1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b36e1cda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9b36e1cda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bb5555bc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bb5555bc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c1064562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9c1064562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bb5555bc6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9bb5555bc6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b36e1cdab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9b36e1cdab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c34057e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c34057e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b36e1cdab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b36e1cda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3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במהלך השנתיים נעבוד יחד בלמידה ובתרגול רגיש. כדי שהמרחב שלנו יהיה מוגן ומקדם, חשוב שניצור כללים - לא מסמך פורמלי, אלא הסכמות של הקבוצה עצמה.”</a:t>
            </a:r>
            <a:endParaRPr b="1" sz="12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3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חשיבה אישית (5 דק’)</a:t>
            </a:r>
            <a:r>
              <a:rPr lang="en"/>
              <a:t>סודיות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ראש של מתחילים</a:t>
            </a:r>
            <a:endParaRPr/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עבודה בקבוצות קטנות (10 דק’)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כל קבוצה אוספת את הרעיונות ומחברת ל־3–4 סעיפים.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דוגמאות שצצות כמעט תמיד: סודיות, הקשבה, כבוד הדדי, זכות לדבר/לא לדבר, מחויבות לנוכחות, כנות.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בנייה משותפת במליאה (15 דק’)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כל קבוצה מציגה את הסעיפים שלה. שמים ליד כל סעיף אימוג'י מתאים</a:t>
            </a:r>
            <a:endParaRPr sz="1200">
              <a:solidFill>
                <a:schemeClr val="dk1"/>
              </a:solidFill>
            </a:endParaRPr>
          </a:p>
          <a:p>
            <a:pPr indent="-317500" lvl="1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 sz="1500">
                <a:solidFill>
                  <a:schemeClr val="dk1"/>
                </a:solidFill>
              </a:rPr>
              <a:t>דוגמאות שצצות כמעט תמיד: סודיות, הקשבה, כבוד הדדי, זכות לדבר/לא לדבר, מחויבות לנוכחות, כנות.</a:t>
            </a:r>
            <a:endParaRPr sz="15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בנייה משותפת במליאה (15 דק’)</a:t>
            </a:r>
            <a:endParaRPr sz="1500">
              <a:solidFill>
                <a:schemeClr val="dk1"/>
              </a:solidFill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500">
                <a:solidFill>
                  <a:schemeClr val="dk1"/>
                </a:solidFill>
              </a:rPr>
              <a:t>כל קבוצה מציגה את הסעיפים שלה. שמים ליד כל סעיף אימוג'י מתאים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isha"/>
              <a:buChar char="○"/>
            </a:pPr>
            <a:r>
              <a:t/>
            </a:r>
            <a:endParaRPr b="1" sz="15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-304800" lvl="1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sha"/>
              <a:buChar char="○"/>
            </a:pPr>
            <a:r>
              <a:t/>
            </a:r>
            <a:endParaRPr b="1" sz="12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3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c1064562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c1064562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b36e1cdab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b36e1cdab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מחלקים לכל קבוצה קטנה את שלוש ההגדרות האקדמיות.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כל קבוצה עונה: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מה אני מבין/ה מכל הגדרה?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איזה מרכיב בהגדרה רלוונטי במיוחד לעולם הפיקוח?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מה פחות מתאים?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בסיום כל קבוצה מסמנת מילת מפתח מההגדרה שבחרה.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אחרי שהכירו את ההגדרות האקדמיות, הקבוצות מתבקשות </a:t>
            </a:r>
            <a:r>
              <a:rPr b="1" lang="en" sz="1200">
                <a:solidFill>
                  <a:schemeClr val="dk1"/>
                </a:solidFill>
              </a:rPr>
              <a:t>לנסח הגדרה משלהן</a:t>
            </a:r>
            <a:r>
              <a:rPr lang="en" sz="1200">
                <a:solidFill>
                  <a:schemeClr val="dk1"/>
                </a:solidFill>
              </a:rPr>
              <a:t> למנטורינג במערכת החינוך בישראל.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כל קבוצה כותבת 2–3 משפטים ומציגה.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במליאה יוצרים “הגדרה משותפת” שתלווה את המחזור.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תוצר:</a:t>
            </a:r>
            <a:r>
              <a:rPr lang="en" sz="1200">
                <a:solidFill>
                  <a:schemeClr val="dk1"/>
                </a:solidFill>
              </a:rPr>
              <a:t> הגדרה קולקטיבית (שאפשר לתלות בכיתה/להפוך למסמך).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c1064562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c1064562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מחלקים לכל קבוצה קטנה את שלוש ההגדרות האקדמיות.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כל קבוצה עונה: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מה אני מבין/ה מכל הגדרה?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איזה מרכיב בהגדרה רלוונטי במיוחד לעולם הפיקוח?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מה פחות מתאים?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בסיום כל קבוצה מסמנת מילת מפתח מההגדרה שבחרה.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אחרי שהכירו את ההגדרות האקדמיות, הקבוצות מתבקשות </a:t>
            </a:r>
            <a:r>
              <a:rPr b="1" lang="en" sz="1200">
                <a:solidFill>
                  <a:schemeClr val="dk1"/>
                </a:solidFill>
              </a:rPr>
              <a:t>לנסח הגדרה משלהן</a:t>
            </a:r>
            <a:r>
              <a:rPr lang="en" sz="1200">
                <a:solidFill>
                  <a:schemeClr val="dk1"/>
                </a:solidFill>
              </a:rPr>
              <a:t> למנטורינג במערכת החינוך בישראל.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כל קבוצה כותבת 2–3 משפטים ומציגה.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במליאה יוצרים “הגדרה משותפת” שתלווה את המחזור.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תוצר:</a:t>
            </a:r>
            <a:r>
              <a:rPr lang="en" sz="1200">
                <a:solidFill>
                  <a:schemeClr val="dk1"/>
                </a:solidFill>
              </a:rPr>
              <a:t> הגדרה קולקטיבית (שאפשר לתלות בכיתה/להפוך למסמך).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c10c003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c10c003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b36e1cdab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b36e1cdab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bb5555bc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bb5555bc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bb5555bc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bb5555bc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bb5555bc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bb5555bc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c10c003e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c10c003e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c10c003e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c10c003e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>
  <p:cSld name="SECTION_HEADER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כותרת ותוכן">
  <p:cSld name="2_כותרת ותוכן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5597" l="71271" r="11537" t="16782"/>
          <a:stretch/>
        </p:blipFill>
        <p:spPr>
          <a:xfrm>
            <a:off x="7117774" y="0"/>
            <a:ext cx="202622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236048" y="4728411"/>
            <a:ext cx="642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ctr">
              <a:spcBef>
                <a:spcPts val="0"/>
              </a:spcBef>
              <a:buNone/>
              <a:defRPr b="0" i="0" sz="800" u="none" cap="none" strike="noStrike">
                <a:solidFill>
                  <a:srgbClr val="B0CBE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7423484" y="702926"/>
            <a:ext cx="1535400" cy="3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lay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802793" y="1833769"/>
            <a:ext cx="7886700" cy="131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sha"/>
              <a:buNone/>
            </a:pPr>
            <a:r>
              <a:rPr b="1" lang="en" sz="54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המפקח כמנטור</a:t>
            </a:r>
            <a:endParaRPr b="1" sz="54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727"/>
              <a:buFont typeface="Gisha"/>
              <a:buNone/>
            </a:pPr>
            <a:r>
              <a:rPr b="1" lang="en" sz="44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מחוז ת"א</a:t>
            </a:r>
            <a:endParaRPr b="1" sz="44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802792" y="3442098"/>
            <a:ext cx="7886700" cy="4266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400"/>
              <a:buNone/>
            </a:pPr>
            <a:r>
              <a:rPr lang="en" sz="2400">
                <a:solidFill>
                  <a:schemeClr val="lt1"/>
                </a:solidFill>
                <a:latin typeface="Gisha"/>
                <a:ea typeface="Gisha"/>
                <a:cs typeface="Gisha"/>
                <a:sym typeface="Gisha"/>
              </a:rPr>
              <a:t>מפגש ראשון - 23/10/25 א' בחשוון</a:t>
            </a:r>
            <a:endParaRPr/>
          </a:p>
        </p:txBody>
      </p:sp>
      <p:grpSp>
        <p:nvGrpSpPr>
          <p:cNvPr id="66" name="Google Shape;66;p15"/>
          <p:cNvGrpSpPr/>
          <p:nvPr/>
        </p:nvGrpSpPr>
        <p:grpSpPr>
          <a:xfrm>
            <a:off x="6548261" y="335431"/>
            <a:ext cx="2141217" cy="960074"/>
            <a:chOff x="9794489" y="346571"/>
            <a:chExt cx="2397511" cy="1037133"/>
          </a:xfrm>
        </p:grpSpPr>
        <p:pic>
          <p:nvPicPr>
            <p:cNvPr id="67" name="Google Shape;67;p15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5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537684">
            <a:off x="988167" y="-211686"/>
            <a:ext cx="6913642" cy="6913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236048" y="4728411"/>
            <a:ext cx="642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B0CBEB"/>
                </a:solidFill>
              </a:rPr>
              <a:t>‹#›</a:t>
            </a:fld>
            <a:endParaRPr>
              <a:solidFill>
                <a:srgbClr val="B0CBEB"/>
              </a:solidFill>
            </a:endParaRPr>
          </a:p>
        </p:txBody>
      </p:sp>
      <p:grpSp>
        <p:nvGrpSpPr>
          <p:cNvPr id="81" name="Google Shape;81;p17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82" name="Google Shape;82;p17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7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17"/>
          <p:cNvSpPr txBox="1"/>
          <p:nvPr/>
        </p:nvSpPr>
        <p:spPr>
          <a:xfrm>
            <a:off x="7152300" y="1512200"/>
            <a:ext cx="1991700" cy="1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מטרות הפיתוח המקצועי</a:t>
            </a:r>
            <a:endParaRPr sz="3300"/>
          </a:p>
        </p:txBody>
      </p:sp>
      <p:sp>
        <p:nvSpPr>
          <p:cNvPr id="85" name="Google Shape;85;p17"/>
          <p:cNvSpPr txBox="1"/>
          <p:nvPr/>
        </p:nvSpPr>
        <p:spPr>
          <a:xfrm>
            <a:off x="229025" y="1386900"/>
            <a:ext cx="67116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29E"/>
              </a:buClr>
              <a:buSzPts val="1700"/>
              <a:buFont typeface="Gisha"/>
              <a:buAutoNum type="arabicPeriod"/>
            </a:pPr>
            <a:r>
              <a:rPr b="1" lang="en" sz="1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פיתוח זהות כפולה של מפקח-מנטור: לא רק בעל סמכות פיקוח, אלא גם דמות מלווה ותומכת.</a:t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-336550" lvl="0" marL="45720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29E"/>
              </a:buClr>
              <a:buSzPts val="1700"/>
              <a:buFont typeface="Gisha"/>
              <a:buAutoNum type="arabicPeriod"/>
            </a:pPr>
            <a:r>
              <a:rPr b="1" lang="en" sz="1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הקניית ידע וכלים למפקחים בעבודת מנטורינג עם מנהלים - חדשים וותיקים.</a:t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-336550" lvl="0" marL="45720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29E"/>
              </a:buClr>
              <a:buSzPts val="1700"/>
              <a:buFont typeface="Gisha"/>
              <a:buAutoNum type="arabicPeriod"/>
            </a:pPr>
            <a:r>
              <a:rPr b="1" lang="en" sz="1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חיזוק המקצועיות: יצירת סטנדרט מחוזי משותף למפקחים בתפקיד מנטורים.</a:t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-336550" lvl="0" marL="45720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29E"/>
              </a:buClr>
              <a:buSzPts val="1700"/>
              <a:buFont typeface="Gisha"/>
              <a:buAutoNum type="arabicPeriod"/>
            </a:pPr>
            <a:r>
              <a:rPr b="1" lang="en" sz="1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פיתוח רשת לומדת: שפה מחוזית משותפת, תמיכה הדדית, ותחושת קהילה.</a:t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-336550" lvl="0" marL="45720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29E"/>
              </a:buClr>
              <a:buSzPts val="1700"/>
              <a:buFont typeface="Gisha"/>
              <a:buAutoNum type="arabicPeriod"/>
            </a:pPr>
            <a:r>
              <a:rPr b="1" lang="en" sz="1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שיפור מערכת החינוך דרך ליווי איכותי למנהלים, צמצום שחיקה וחיזוק הנהגה פדגוגית אפקטיבית.</a:t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91440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236048" y="4728411"/>
            <a:ext cx="642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B0CBEB"/>
                </a:solidFill>
              </a:rPr>
              <a:t>‹#›</a:t>
            </a:fld>
            <a:endParaRPr>
              <a:solidFill>
                <a:srgbClr val="B0CBEB"/>
              </a:solidFill>
            </a:endParaRPr>
          </a:p>
        </p:txBody>
      </p:sp>
      <p:grpSp>
        <p:nvGrpSpPr>
          <p:cNvPr id="92" name="Google Shape;92;p18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93" name="Google Shape;93;p18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8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18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  <p:sp>
        <p:nvSpPr>
          <p:cNvPr id="96" name="Google Shape;96;p18"/>
          <p:cNvSpPr txBox="1"/>
          <p:nvPr/>
        </p:nvSpPr>
        <p:spPr>
          <a:xfrm>
            <a:off x="7152300" y="1512200"/>
            <a:ext cx="1991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מבנה </a:t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הלמידה</a:t>
            </a:r>
            <a:endParaRPr sz="3300"/>
          </a:p>
        </p:txBody>
      </p:sp>
      <p:sp>
        <p:nvSpPr>
          <p:cNvPr id="97" name="Google Shape;97;p18"/>
          <p:cNvSpPr txBox="1"/>
          <p:nvPr/>
        </p:nvSpPr>
        <p:spPr>
          <a:xfrm>
            <a:off x="3702775" y="1133575"/>
            <a:ext cx="3083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שנה ראשונה:</a:t>
            </a:r>
            <a:endParaRPr b="1" sz="2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189050" y="1830800"/>
            <a:ext cx="3298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8 מפגשים </a:t>
            </a:r>
            <a:r>
              <a:rPr lang="en" sz="1800">
                <a:solidFill>
                  <a:schemeClr val="dk2"/>
                </a:solidFill>
              </a:rPr>
              <a:t>פרונטליים</a:t>
            </a:r>
            <a:r>
              <a:rPr lang="en" sz="1800">
                <a:solidFill>
                  <a:schemeClr val="dk2"/>
                </a:solidFill>
              </a:rPr>
              <a:t> סה"כ 50 ש"א</a:t>
            </a:r>
            <a:endParaRPr sz="1800">
              <a:solidFill>
                <a:schemeClr val="dk2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20 שעות פרקטיקום</a:t>
            </a:r>
            <a:endParaRPr sz="1800">
              <a:solidFill>
                <a:schemeClr val="dk2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10 שעות </a:t>
            </a:r>
            <a:r>
              <a:rPr lang="en" sz="1800">
                <a:solidFill>
                  <a:schemeClr val="dk2"/>
                </a:solidFill>
              </a:rPr>
              <a:t>סופרויז'ן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623150" y="2943525"/>
            <a:ext cx="3083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שנה שניה:</a:t>
            </a:r>
            <a:endParaRPr b="1" sz="2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189050" y="3543825"/>
            <a:ext cx="3298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8 מפגשים </a:t>
            </a:r>
            <a:r>
              <a:rPr lang="en" sz="1800">
                <a:solidFill>
                  <a:schemeClr val="dk2"/>
                </a:solidFill>
              </a:rPr>
              <a:t>פרונטליים</a:t>
            </a:r>
            <a:r>
              <a:rPr lang="en" sz="1800">
                <a:solidFill>
                  <a:schemeClr val="dk2"/>
                </a:solidFill>
              </a:rPr>
              <a:t> סה"כ 50 ש"א</a:t>
            </a:r>
            <a:endParaRPr sz="1800">
              <a:solidFill>
                <a:schemeClr val="dk2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20 שעות פרקטיקום</a:t>
            </a:r>
            <a:endParaRPr sz="1800">
              <a:solidFill>
                <a:schemeClr val="dk2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10 שעות </a:t>
            </a:r>
            <a:r>
              <a:rPr lang="en" sz="1800">
                <a:solidFill>
                  <a:schemeClr val="dk2"/>
                </a:solidFill>
              </a:rPr>
              <a:t>סופרויז'ן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-4172975" y="4411650"/>
            <a:ext cx="723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סה"כ 160 שעות</a:t>
            </a:r>
            <a:endParaRPr b="1" sz="27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236048" y="4728411"/>
            <a:ext cx="642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B0CBEB"/>
                </a:solidFill>
              </a:rPr>
              <a:t>‹#›</a:t>
            </a:fld>
            <a:endParaRPr>
              <a:solidFill>
                <a:srgbClr val="B0CBEB"/>
              </a:solidFill>
            </a:endParaRPr>
          </a:p>
        </p:txBody>
      </p:sp>
      <p:grpSp>
        <p:nvGrpSpPr>
          <p:cNvPr id="107" name="Google Shape;107;p19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08" name="Google Shape;108;p19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9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9"/>
          <p:cNvSpPr txBox="1"/>
          <p:nvPr/>
        </p:nvSpPr>
        <p:spPr>
          <a:xfrm>
            <a:off x="7111800" y="1650775"/>
            <a:ext cx="20322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לו"ז</a:t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מפגש ראשון</a:t>
            </a:r>
            <a:endParaRPr sz="1100"/>
          </a:p>
        </p:txBody>
      </p:sp>
      <p:graphicFrame>
        <p:nvGraphicFramePr>
          <p:cNvPr id="111" name="Google Shape;111;p19"/>
          <p:cNvGraphicFramePr/>
          <p:nvPr/>
        </p:nvGraphicFramePr>
        <p:xfrm>
          <a:off x="1887213" y="13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{125C71D3-3BA2-415F-887D-2394D4D2D82F}</a:tableStyleId>
              </a:tblPr>
              <a:tblGrid>
                <a:gridCol w="3089050"/>
              </a:tblGrid>
              <a:tr h="156425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 פתיחת יום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תיאום ציפיות 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מה זה מנטורינג?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הפסקה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בין מפקח למנטור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סיכום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" name="Google Shape;112;p19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/>
        </p:nvSpPr>
        <p:spPr>
          <a:xfrm>
            <a:off x="-367975" y="556375"/>
            <a:ext cx="67188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 23.10 (א' בחשון)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5.11 (י"ד בחשון)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6.11 (ט"ו בחשון)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27.11 (ז' בכסלו)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11.12 (כ"א בכסלו)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18.12 (כ"ח בכסלו) 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1.1 (י"ב בטבת)</a:t>
            </a:r>
            <a:endParaRPr sz="27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Gisha"/>
                <a:ea typeface="Gisha"/>
                <a:cs typeface="Gisha"/>
                <a:sym typeface="Gisha"/>
              </a:rPr>
              <a:t>15.1 (כ"ו בטבת)</a:t>
            </a:r>
            <a:endParaRPr sz="2700">
              <a:solidFill>
                <a:srgbClr val="00529E"/>
              </a:solidFill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7095875" y="1472850"/>
            <a:ext cx="20481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מועדים</a:t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1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25" name="Google Shape;125;p21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21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21"/>
          <p:cNvSpPr txBox="1"/>
          <p:nvPr/>
        </p:nvSpPr>
        <p:spPr>
          <a:xfrm>
            <a:off x="7111800" y="1650775"/>
            <a:ext cx="20322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תיאום ציפיות</a:t>
            </a:r>
            <a:endParaRPr sz="1100"/>
          </a:p>
        </p:txBody>
      </p:sp>
      <p:sp>
        <p:nvSpPr>
          <p:cNvPr id="128" name="Google Shape;128;p21"/>
          <p:cNvSpPr txBox="1"/>
          <p:nvPr/>
        </p:nvSpPr>
        <p:spPr>
          <a:xfrm>
            <a:off x="686725" y="1436000"/>
            <a:ext cx="60186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  <a:p>
            <a:pPr indent="0" lvl="0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מה אני צריך/ה כדי להרגיש בטוח/ה בלמידה כאן?</a:t>
            </a:r>
            <a:endParaRPr sz="4300">
              <a:solidFill>
                <a:schemeClr val="dk1"/>
              </a:solidFill>
            </a:endParaRPr>
          </a:p>
          <a:p>
            <a:pPr indent="0" lvl="0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-673225" y="457800"/>
            <a:ext cx="775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325" y="4183425"/>
            <a:ext cx="1044406" cy="96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2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37" name="Google Shape;137;p22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22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22"/>
          <p:cNvSpPr txBox="1"/>
          <p:nvPr/>
        </p:nvSpPr>
        <p:spPr>
          <a:xfrm>
            <a:off x="7111800" y="1650775"/>
            <a:ext cx="20322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מה זה מנטורינג?</a:t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754025" y="1650775"/>
            <a:ext cx="60186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9144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מה חייב להתקיים כדי שנדע שזה מנטורינג?</a:t>
            </a:r>
            <a:endParaRPr b="1" sz="33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48" y="4139348"/>
            <a:ext cx="1040925" cy="78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23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48" name="Google Shape;148;p23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23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Google Shape;150;p23"/>
          <p:cNvSpPr txBox="1"/>
          <p:nvPr/>
        </p:nvSpPr>
        <p:spPr>
          <a:xfrm>
            <a:off x="7111800" y="1650775"/>
            <a:ext cx="20322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מה זה מנטורינג?</a:t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191675" y="74950"/>
            <a:ext cx="6437100" cy="52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 </a:t>
            </a:r>
            <a:r>
              <a:rPr i="1" lang="en" sz="2400">
                <a:solidFill>
                  <a:schemeClr val="dk1"/>
                </a:solidFill>
              </a:rPr>
              <a:t>"מנטורינג הוא מערכת יחסים התפתחותית בין אדם מנוסה יותר לאדם פחות מנוסה, הכוללת רכיבי תמיכה בקריירה ורכיבי תמיכה פסיכו־חברתית." </a:t>
            </a:r>
            <a:r>
              <a:rPr b="1" lang="en" sz="1600">
                <a:solidFill>
                  <a:schemeClr val="dk1"/>
                </a:solidFill>
              </a:rPr>
              <a:t>Kram, 1985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 </a:t>
            </a:r>
            <a:r>
              <a:rPr i="1" lang="en" sz="2400">
                <a:solidFill>
                  <a:schemeClr val="dk1"/>
                </a:solidFill>
              </a:rPr>
              <a:t>"מנטורינג הוא תהליך שבו אדם מנוסה יותר מעניק הנחיה, תמיכה ומשוב לאדם אחר, במטרה לקדם את למידתו והתפתחותו האישית והמקצועית."</a:t>
            </a:r>
            <a:r>
              <a:rPr b="1" lang="en" sz="24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Clutterbuck, 2004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 </a:t>
            </a:r>
            <a:r>
              <a:rPr i="1" lang="en" sz="2400">
                <a:solidFill>
                  <a:schemeClr val="dk1"/>
                </a:solidFill>
              </a:rPr>
              <a:t>"מנטורינג הוא דיאלוג שוויוני, מתמשך ואותנטי, המאפשר למנטי למצות את הפוטנציאל שלו באמצעות ליווי, עידוד ושיקוף מצד המנטור."</a:t>
            </a:r>
            <a:r>
              <a:rPr b="1" lang="en" sz="1600">
                <a:solidFill>
                  <a:schemeClr val="dk1"/>
                </a:solidFill>
              </a:rPr>
              <a:t>Megginson &amp; Clutterbuck, 2009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24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57" name="Google Shape;157;p24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4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24"/>
          <p:cNvSpPr txBox="1"/>
          <p:nvPr/>
        </p:nvSpPr>
        <p:spPr>
          <a:xfrm>
            <a:off x="7111800" y="1650775"/>
            <a:ext cx="20322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מה זה מנטורינג?</a:t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191675" y="74950"/>
            <a:ext cx="6437100" cy="5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2400">
                <a:solidFill>
                  <a:schemeClr val="dk1"/>
                </a:solidFill>
              </a:rPr>
              <a:t>"מנטורינג הוא תהליך התפתחותי שבו אדם מנוסה יותר (המנטור) תומך באדם פחות מנוסה (המנטי) באמצעות שיתוף ידע, ניסיון ותובנות, במטרה לקדם את צמיחתו המקצועית והאישית".</a:t>
            </a:r>
            <a:br>
              <a:rPr i="1" lang="en" sz="2400">
                <a:solidFill>
                  <a:schemeClr val="dk1"/>
                </a:solidFill>
              </a:rPr>
            </a:br>
            <a:r>
              <a:rPr b="1" i="1"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(ICF, 2020 – Core Competencies &amp; Mentoring Guidelines)</a:t>
            </a:r>
            <a:br>
              <a:rPr i="1" lang="en" sz="2400">
                <a:solidFill>
                  <a:schemeClr val="dk1"/>
                </a:solidFill>
              </a:rPr>
            </a:br>
            <a:br>
              <a:rPr i="1" lang="en" sz="2400">
                <a:solidFill>
                  <a:schemeClr val="dk1"/>
                </a:solidFill>
              </a:rPr>
            </a:br>
            <a:r>
              <a:rPr i="1" lang="en" sz="2400">
                <a:solidFill>
                  <a:schemeClr val="dk1"/>
                </a:solidFill>
              </a:rPr>
              <a:t>"מנטורינג הוא מערכת יחסים  המבוססת על אמון הדדי, שבמסגרתה אדם בעל ניסיון מסייע לאחר לפתח את יכולותיו, זהותו המקצועית והביטחון העצמי שלו, באמצעות דיאלוג, שיקוף ולמידה משותפת".</a:t>
            </a:r>
            <a:br>
              <a:rPr i="1" lang="en" sz="2400">
                <a:solidFill>
                  <a:schemeClr val="dk1"/>
                </a:solidFill>
              </a:rPr>
            </a:br>
            <a:r>
              <a:rPr b="1" lang="en" sz="1600">
                <a:solidFill>
                  <a:schemeClr val="dk1"/>
                </a:solidFill>
              </a:rPr>
              <a:t> (EMCC Competence Framework, 2019)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i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25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66" name="Google Shape;166;p25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5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" name="Google Shape;168;p25"/>
          <p:cNvSpPr txBox="1"/>
          <p:nvPr/>
        </p:nvSpPr>
        <p:spPr>
          <a:xfrm>
            <a:off x="7111800" y="1650775"/>
            <a:ext cx="20322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מה זה מנטורינג?</a:t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00529E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191675" y="74950"/>
            <a:ext cx="64371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None/>
            </a:pPr>
            <a:br>
              <a:rPr b="1" lang="en" sz="1100">
                <a:solidFill>
                  <a:schemeClr val="dk1"/>
                </a:solidFill>
              </a:rPr>
            </a:br>
            <a:endParaRPr i="1" sz="2400">
              <a:solidFill>
                <a:schemeClr val="dk1"/>
              </a:solidFill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754025" y="1650775"/>
            <a:ext cx="6018600" cy="1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  <a:p>
            <a:pPr indent="0" lvl="0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 הגדרה משותפת</a:t>
            </a:r>
            <a:endParaRPr sz="3300">
              <a:solidFill>
                <a:schemeClr val="dk1"/>
              </a:solidFill>
            </a:endParaRPr>
          </a:p>
          <a:p>
            <a:pPr indent="0" lvl="0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Gisha"/>
              <a:ea typeface="Gisha"/>
              <a:cs typeface="Gisha"/>
              <a:sym typeface="Gisha"/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325" y="4183425"/>
            <a:ext cx="1044406" cy="96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6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78" name="Google Shape;178;p26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26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" name="Google Shape;180;p26"/>
          <p:cNvSpPr txBox="1"/>
          <p:nvPr/>
        </p:nvSpPr>
        <p:spPr>
          <a:xfrm>
            <a:off x="7111800" y="1650775"/>
            <a:ext cx="20322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בין מפקח למנטור	</a:t>
            </a:r>
            <a:endParaRPr sz="1100"/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325" y="4183425"/>
            <a:ext cx="1044406" cy="96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7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88" name="Google Shape;188;p27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7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27"/>
          <p:cNvSpPr txBox="1"/>
          <p:nvPr/>
        </p:nvSpPr>
        <p:spPr>
          <a:xfrm>
            <a:off x="7111800" y="1650775"/>
            <a:ext cx="20322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בין מפקח למנטור	</a:t>
            </a:r>
            <a:endParaRPr sz="1100"/>
          </a:p>
        </p:txBody>
      </p:sp>
      <p:graphicFrame>
        <p:nvGraphicFramePr>
          <p:cNvPr id="191" name="Google Shape;191;p27"/>
          <p:cNvGraphicFramePr/>
          <p:nvPr/>
        </p:nvGraphicFramePr>
        <p:xfrm>
          <a:off x="602050" y="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{328627B3-4296-41F6-9BA9-E99579EFCA1F}</a:tableStyleId>
              </a:tblPr>
              <a:tblGrid>
                <a:gridCol w="1577100"/>
                <a:gridCol w="1577100"/>
                <a:gridCol w="2652400"/>
              </a:tblGrid>
              <a:tr h="381000">
                <a:tc>
                  <a:txBody>
                    <a:bodyPr/>
                    <a:lstStyle/>
                    <a:p>
                      <a:pPr indent="0" lvl="0" marL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פיקוח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מנטורינג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קטגוריה</a:t>
                      </a:r>
                      <a:endParaRPr b="1" sz="17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מטרה עיקרית</a:t>
                      </a:r>
                      <a:endParaRPr sz="1600"/>
                    </a:p>
                  </a:txBody>
                  <a:tcPr marT="91425" marB="91425" marR="91425" marL="91425"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אופי הקשר</a:t>
                      </a:r>
                      <a:endParaRPr sz="1600"/>
                    </a:p>
                  </a:txBody>
                  <a:tcPr marT="91425" marB="91425" marR="91425" marL="91425"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מקור הסמכות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מדדי הצלחה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משך ותדירות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כלי עבודה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יחסי כוח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קוד אתי ומרחב שיח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תפיסת השגיאה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הקשר מוסדי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תוצאה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28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197" name="Google Shape;197;p28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28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28"/>
          <p:cNvSpPr txBox="1"/>
          <p:nvPr/>
        </p:nvSpPr>
        <p:spPr>
          <a:xfrm>
            <a:off x="818817" y="556387"/>
            <a:ext cx="5532000" cy="2385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0" name="Google Shape;200;p28"/>
          <p:cNvSpPr txBox="1"/>
          <p:nvPr/>
        </p:nvSpPr>
        <p:spPr>
          <a:xfrm>
            <a:off x="7111800" y="1650775"/>
            <a:ext cx="2032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סיכום</a:t>
            </a: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	</a:t>
            </a:r>
            <a:endParaRPr sz="1100"/>
          </a:p>
        </p:txBody>
      </p:sp>
      <p:sp>
        <p:nvSpPr>
          <p:cNvPr id="201" name="Google Shape;201;p28"/>
          <p:cNvSpPr txBox="1"/>
          <p:nvPr/>
        </p:nvSpPr>
        <p:spPr>
          <a:xfrm>
            <a:off x="203200" y="1641500"/>
            <a:ext cx="6350700" cy="20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" sz="2700">
                <a:solidFill>
                  <a:schemeClr val="dk1"/>
                </a:solidFill>
              </a:rPr>
              <a:t>מה חידש/חיזק לי היום לגבי תפקידי כמפקח־מנטור?</a:t>
            </a:r>
            <a:endParaRPr sz="2700">
              <a:solidFill>
                <a:schemeClr val="dk1"/>
              </a:solidFill>
            </a:endParaRPr>
          </a:p>
          <a:p>
            <a:pPr indent="-3937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" sz="2700">
                <a:solidFill>
                  <a:schemeClr val="dk1"/>
                </a:solidFill>
              </a:rPr>
              <a:t>מה הדבר הקטן שאני לוקח איתי ליישום עד המפגש הבא ?</a:t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202" name="Google Shape;20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451739">
            <a:off x="152400" y="3827900"/>
            <a:ext cx="1540454" cy="116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29"/>
          <p:cNvGrpSpPr/>
          <p:nvPr/>
        </p:nvGrpSpPr>
        <p:grpSpPr>
          <a:xfrm>
            <a:off x="7002768" y="-14"/>
            <a:ext cx="2141217" cy="960074"/>
            <a:chOff x="9794489" y="346571"/>
            <a:chExt cx="2397511" cy="1037133"/>
          </a:xfrm>
        </p:grpSpPr>
        <p:pic>
          <p:nvPicPr>
            <p:cNvPr id="209" name="Google Shape;209;p29"/>
            <p:cNvPicPr preferRelativeResize="0"/>
            <p:nvPr/>
          </p:nvPicPr>
          <p:blipFill rotWithShape="1">
            <a:blip r:embed="rId3">
              <a:alphaModFix/>
            </a:blip>
            <a:srcRect b="20803" l="10854" r="65272" t="42081"/>
            <a:stretch/>
          </p:blipFill>
          <p:spPr>
            <a:xfrm>
              <a:off x="11005352" y="346572"/>
              <a:ext cx="1186648" cy="103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 rotWithShape="1">
            <a:blip r:embed="rId3">
              <a:alphaModFix/>
            </a:blip>
            <a:srcRect b="20803" l="40966" r="29243" t="42081"/>
            <a:stretch/>
          </p:blipFill>
          <p:spPr>
            <a:xfrm>
              <a:off x="9794489" y="346571"/>
              <a:ext cx="1480686" cy="1037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/>
          <p:nvPr/>
        </p:nvSpPr>
        <p:spPr>
          <a:xfrm>
            <a:off x="7111800" y="1650775"/>
            <a:ext cx="2032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סיכום	</a:t>
            </a:r>
            <a:endParaRPr sz="1100"/>
          </a:p>
        </p:txBody>
      </p:sp>
      <p:pic>
        <p:nvPicPr>
          <p:cNvPr id="212" name="Google Shape;21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7350" y="2062901"/>
            <a:ext cx="1736499" cy="173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2472951" y="2419276"/>
            <a:ext cx="1736499" cy="173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8100" y="2227975"/>
            <a:ext cx="1356950" cy="21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9"/>
          <p:cNvSpPr txBox="1"/>
          <p:nvPr/>
        </p:nvSpPr>
        <p:spPr>
          <a:xfrm>
            <a:off x="818817" y="556387"/>
            <a:ext cx="5532000" cy="577200"/>
          </a:xfrm>
          <a:prstGeom prst="rect">
            <a:avLst/>
          </a:prstGeom>
          <a:solidFill>
            <a:srgbClr val="0052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המפקח כמנטור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7423484" y="702926"/>
            <a:ext cx="1535400" cy="3361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title"/>
          </p:nvPr>
        </p:nvSpPr>
        <p:spPr>
          <a:xfrm>
            <a:off x="7423484" y="702926"/>
            <a:ext cx="1535400" cy="3361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