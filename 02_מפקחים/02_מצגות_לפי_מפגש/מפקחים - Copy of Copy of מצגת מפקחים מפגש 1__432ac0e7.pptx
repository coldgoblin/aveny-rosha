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61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109566F6-143E-4294-915D-E0D71DAB653B}">
  <a:tblStyle styleId="{109566F6-143E-4294-915D-E0D71DAB653B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  <a:tblStyle styleId="{5127A9EC-7392-4C17-8BFB-D807CD288EEB}" styleName="Table_1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11" Type="http://schemas.openxmlformats.org/officeDocument/2006/relationships/slide" Target="slides/slide5.xml"/><Relationship Id="rId22" Type="http://schemas.openxmlformats.org/officeDocument/2006/relationships/slide" Target="slides/slide16.xml"/><Relationship Id="rId10" Type="http://schemas.openxmlformats.org/officeDocument/2006/relationships/slide" Target="slides/slide4.xml"/><Relationship Id="rId21" Type="http://schemas.openxmlformats.org/officeDocument/2006/relationships/slide" Target="slides/slide15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23" Type="http://schemas.openxmlformats.org/officeDocument/2006/relationships/slide" Target="slides/slide1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5" Type="http://schemas.openxmlformats.org/officeDocument/2006/relationships/slideMaster" Target="slideMasters/slideMaster1.xml"/><Relationship Id="rId19" Type="http://schemas.openxmlformats.org/officeDocument/2006/relationships/slide" Target="slides/slide13.xml"/><Relationship Id="rId6" Type="http://schemas.openxmlformats.org/officeDocument/2006/relationships/notesMaster" Target="notesMasters/notesMaster1.xml"/><Relationship Id="rId18" Type="http://schemas.openxmlformats.org/officeDocument/2006/relationships/slide" Target="slides/slide12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g39b36e1cdab_0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" name="Google Shape;62;g39b36e1cdab_0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g39bb5555bc6_0_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" name="Google Shape;71;g39bb5555bc6_0_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g39c10645629_0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" name="Google Shape;78;g39c10645629_0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g39bb5555bc6_0_2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" name="Google Shape;89;g39bb5555bc6_0_2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39b36e1cdab_0_3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" name="Google Shape;104;g39b36e1cdab_0_3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g39c34057e4a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5" name="Google Shape;115;g39c34057e4a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39b36e1cdab_0_2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2" name="Google Shape;122;g39b36e1cdab_0_2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1" algn="r">
              <a:lnSpc>
                <a:spcPct val="115000"/>
              </a:lnSpc>
              <a:spcBef>
                <a:spcPts val="33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200">
                <a:solidFill>
                  <a:schemeClr val="dk1"/>
                </a:solidFill>
                <a:latin typeface="Gisha"/>
                <a:ea typeface="Gisha"/>
                <a:cs typeface="Gisha"/>
                <a:sym typeface="Gisha"/>
              </a:rPr>
              <a:t>במהלך השנתיים נעבוד יחד בלמידה ובתרגול רגיש. כדי שהמרחב שלנו יהיה מוגן ומקדם, חשוב שניצור כללים - לא מסמך פורמלי, אלא הסכמות של הקבוצה עצמה.”</a:t>
            </a:r>
            <a:endParaRPr b="1" sz="1200">
              <a:solidFill>
                <a:schemeClr val="dk1"/>
              </a:solidFill>
              <a:latin typeface="Gisha"/>
              <a:ea typeface="Gisha"/>
              <a:cs typeface="Gisha"/>
              <a:sym typeface="Gisha"/>
            </a:endParaRPr>
          </a:p>
          <a:p>
            <a:pPr indent="0" lvl="0" marL="0" rtl="1" algn="r">
              <a:spcBef>
                <a:spcPts val="330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dk1"/>
                </a:solidFill>
                <a:latin typeface="Gisha"/>
                <a:ea typeface="Gisha"/>
                <a:cs typeface="Gisha"/>
                <a:sym typeface="Gisha"/>
              </a:rPr>
              <a:t>חשיבה אישית (5 דק’)</a:t>
            </a:r>
            <a:r>
              <a:rPr lang="en"/>
              <a:t>סודיות</a:t>
            </a:r>
            <a:endParaRPr/>
          </a:p>
          <a:p>
            <a:pPr indent="0" lvl="0" marL="0" rtl="1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ראש של מתחילים</a:t>
            </a:r>
            <a:endParaRPr/>
          </a:p>
          <a:p>
            <a:pPr indent="0" lvl="0" marL="0" rtl="1" algn="r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</a:rPr>
              <a:t>עבודה בקבוצות קטנות (10 דק’)</a:t>
            </a:r>
            <a:endParaRPr sz="1200">
              <a:solidFill>
                <a:schemeClr val="dk1"/>
              </a:solidFill>
            </a:endParaRPr>
          </a:p>
          <a:p>
            <a:pPr indent="-298450" lvl="0" marL="457200" rtl="1" algn="r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200">
                <a:solidFill>
                  <a:schemeClr val="dk1"/>
                </a:solidFill>
              </a:rPr>
              <a:t>כל קבוצה אוספת את הרעיונות ומחברת ל־3–4 סעיפים.</a:t>
            </a:r>
            <a:endParaRPr sz="1200">
              <a:solidFill>
                <a:schemeClr val="dk1"/>
              </a:solidFill>
            </a:endParaRPr>
          </a:p>
          <a:p>
            <a:pPr indent="-298450" lvl="0" marL="457200" rtl="1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200">
                <a:solidFill>
                  <a:schemeClr val="dk1"/>
                </a:solidFill>
              </a:rPr>
              <a:t>דוגמאות שצצות כמעט תמיד: סודיות, הקשבה, כבוד הדדי, זכות לדבר/לא לדבר, מחויבות לנוכחות, כנות.</a:t>
            </a:r>
            <a:endParaRPr sz="1200">
              <a:solidFill>
                <a:schemeClr val="dk1"/>
              </a:solidFill>
            </a:endParaRPr>
          </a:p>
          <a:p>
            <a:pPr indent="0" lvl="0" marL="0" rtl="1" algn="r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</a:rPr>
              <a:t>בנייה משותפת במליאה (15 דק’)</a:t>
            </a:r>
            <a:endParaRPr sz="1200">
              <a:solidFill>
                <a:schemeClr val="dk1"/>
              </a:solidFill>
            </a:endParaRPr>
          </a:p>
          <a:p>
            <a:pPr indent="-298450" lvl="0" marL="457200" rtl="1" algn="r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200">
                <a:solidFill>
                  <a:schemeClr val="dk1"/>
                </a:solidFill>
              </a:rPr>
              <a:t>כל קבוצה מציגה את הסעיפים שלה. שמים ליד כל סעיף אימוג'י מתאים</a:t>
            </a:r>
            <a:endParaRPr sz="1200">
              <a:solidFill>
                <a:schemeClr val="dk1"/>
              </a:solidFill>
            </a:endParaRPr>
          </a:p>
          <a:p>
            <a:pPr indent="-317500" lvl="1" marL="914400" rtl="1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○"/>
            </a:pPr>
            <a:r>
              <a:rPr lang="en" sz="1500">
                <a:solidFill>
                  <a:schemeClr val="dk1"/>
                </a:solidFill>
              </a:rPr>
              <a:t>דוגמאות שצצות כמעט תמיד: סודיות, הקשבה, כבוד הדדי, זכות לדבר/לא לדבר, מחויבות לנוכחות, כנות.</a:t>
            </a:r>
            <a:endParaRPr sz="1500">
              <a:solidFill>
                <a:schemeClr val="dk1"/>
              </a:solidFill>
            </a:endParaRPr>
          </a:p>
          <a:p>
            <a:pPr indent="0" lvl="0" marL="0" rtl="1" algn="r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1"/>
                </a:solidFill>
              </a:rPr>
              <a:t>בנייה משותפת במליאה (15 דק’)</a:t>
            </a:r>
            <a:endParaRPr sz="1500">
              <a:solidFill>
                <a:schemeClr val="dk1"/>
              </a:solidFill>
            </a:endParaRPr>
          </a:p>
          <a:p>
            <a:pPr indent="-317500" lvl="0" marL="457200" rtl="1" algn="r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 sz="1500">
                <a:solidFill>
                  <a:schemeClr val="dk1"/>
                </a:solidFill>
              </a:rPr>
              <a:t>כל קבוצה מציגה את הסעיפים שלה. שמים ליד כל סעיף אימוג'י מתאים</a:t>
            </a:r>
            <a:endParaRPr sz="1500">
              <a:solidFill>
                <a:schemeClr val="dk1"/>
              </a:solidFill>
            </a:endParaRPr>
          </a:p>
          <a:p>
            <a:pPr indent="-323850" lvl="1" marL="914400" rtl="1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Gisha"/>
              <a:buChar char="○"/>
            </a:pPr>
            <a:r>
              <a:t/>
            </a:r>
            <a:endParaRPr b="1" sz="1500">
              <a:solidFill>
                <a:schemeClr val="dk1"/>
              </a:solidFill>
              <a:latin typeface="Gisha"/>
              <a:ea typeface="Gisha"/>
              <a:cs typeface="Gisha"/>
              <a:sym typeface="Gisha"/>
            </a:endParaRPr>
          </a:p>
          <a:p>
            <a:pPr indent="-304800" lvl="1" marL="914400" rtl="1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Gisha"/>
              <a:buChar char="○"/>
            </a:pPr>
            <a:r>
              <a:t/>
            </a:r>
            <a:endParaRPr b="1" sz="1200">
              <a:solidFill>
                <a:schemeClr val="dk1"/>
              </a:solidFill>
              <a:latin typeface="Gisha"/>
              <a:ea typeface="Gisha"/>
              <a:cs typeface="Gisha"/>
              <a:sym typeface="Gisha"/>
            </a:endParaRPr>
          </a:p>
          <a:p>
            <a:pPr indent="0" lvl="0" marL="0" rtl="1" algn="r">
              <a:spcBef>
                <a:spcPts val="33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g39c10645629_0_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4" name="Google Shape;134;g39c10645629_0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1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g39b36e1cdab_0_29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5" name="Google Shape;145;g39b36e1cdab_0_29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1" algn="r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</a:rPr>
              <a:t>מחלקים לכל קבוצה קטנה את שלוש ההגדרות האקדמיות.</a:t>
            </a:r>
            <a:endParaRPr sz="1200">
              <a:solidFill>
                <a:schemeClr val="dk1"/>
              </a:solidFill>
            </a:endParaRPr>
          </a:p>
          <a:p>
            <a:pPr indent="0" lvl="0" marL="0" rtl="1" algn="r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</a:rPr>
              <a:t>כל קבוצה עונה:</a:t>
            </a:r>
            <a:endParaRPr sz="1200">
              <a:solidFill>
                <a:schemeClr val="dk1"/>
              </a:solidFill>
            </a:endParaRPr>
          </a:p>
          <a:p>
            <a:pPr indent="0" lvl="0" marL="0" rtl="1" algn="r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</a:rPr>
              <a:t>מה אני מבין/ה מכל הגדרה?</a:t>
            </a:r>
            <a:endParaRPr sz="1200">
              <a:solidFill>
                <a:schemeClr val="dk1"/>
              </a:solidFill>
            </a:endParaRPr>
          </a:p>
          <a:p>
            <a:pPr indent="0" lvl="0" marL="0" rtl="1" algn="r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</a:rPr>
              <a:t>איזה מרכיב בהגדרה רלוונטי במיוחד לעולם הפיקוח?</a:t>
            </a:r>
            <a:endParaRPr sz="1200">
              <a:solidFill>
                <a:schemeClr val="dk1"/>
              </a:solidFill>
            </a:endParaRPr>
          </a:p>
          <a:p>
            <a:pPr indent="0" lvl="0" marL="0" rtl="1" algn="r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</a:rPr>
              <a:t>מה פחות מתאים?</a:t>
            </a:r>
            <a:endParaRPr sz="1200">
              <a:solidFill>
                <a:schemeClr val="dk1"/>
              </a:solidFill>
            </a:endParaRPr>
          </a:p>
          <a:p>
            <a:pPr indent="0" lvl="0" marL="0" rtl="1" algn="r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</a:rPr>
              <a:t>בסיום כל קבוצה מסמנת מילת מפתח מההגדרה שבחרה.</a:t>
            </a:r>
            <a:endParaRPr sz="1200">
              <a:solidFill>
                <a:schemeClr val="dk1"/>
              </a:solidFill>
            </a:endParaRPr>
          </a:p>
          <a:p>
            <a:pPr indent="0" lvl="0" marL="0" rtl="1" algn="r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</a:rPr>
              <a:t> </a:t>
            </a:r>
            <a:endParaRPr sz="1200">
              <a:solidFill>
                <a:schemeClr val="dk1"/>
              </a:solidFill>
            </a:endParaRPr>
          </a:p>
          <a:p>
            <a:pPr indent="0" lvl="0" marL="0" rtl="1" algn="r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</a:rPr>
              <a:t>אחרי שהכירו את ההגדרות האקדמיות, הקבוצות מתבקשות </a:t>
            </a:r>
            <a:r>
              <a:rPr b="1" lang="en" sz="1200">
                <a:solidFill>
                  <a:schemeClr val="dk1"/>
                </a:solidFill>
              </a:rPr>
              <a:t>לנסח הגדרה משלהן</a:t>
            </a:r>
            <a:r>
              <a:rPr lang="en" sz="1200">
                <a:solidFill>
                  <a:schemeClr val="dk1"/>
                </a:solidFill>
              </a:rPr>
              <a:t> למנטורינג במערכת החינוך בישראל.</a:t>
            </a:r>
            <a:endParaRPr sz="1200">
              <a:solidFill>
                <a:schemeClr val="dk1"/>
              </a:solidFill>
            </a:endParaRPr>
          </a:p>
          <a:p>
            <a:pPr indent="0" lvl="0" marL="0" rtl="1" algn="r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</a:rPr>
              <a:t>כל קבוצה כותבת 2–3 משפטים ומציגה.</a:t>
            </a:r>
            <a:endParaRPr sz="1200">
              <a:solidFill>
                <a:schemeClr val="dk1"/>
              </a:solidFill>
            </a:endParaRPr>
          </a:p>
          <a:p>
            <a:pPr indent="0" lvl="0" marL="0" rtl="1" algn="r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</a:rPr>
              <a:t>במליאה יוצרים “הגדרה משותפת” שתלווה את המחזור.</a:t>
            </a:r>
            <a:endParaRPr sz="1200">
              <a:solidFill>
                <a:schemeClr val="dk1"/>
              </a:solidFill>
            </a:endParaRPr>
          </a:p>
          <a:p>
            <a:pPr indent="0" lvl="0" marL="0" rtl="1" algn="r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200">
                <a:solidFill>
                  <a:schemeClr val="dk1"/>
                </a:solidFill>
              </a:rPr>
              <a:t>תוצר:</a:t>
            </a:r>
            <a:r>
              <a:rPr lang="en" sz="1200">
                <a:solidFill>
                  <a:schemeClr val="dk1"/>
                </a:solidFill>
              </a:rPr>
              <a:t> הגדרה קולקטיבית (שאפשר לתלות בכיתה/להפוך למסמך).</a:t>
            </a:r>
            <a:endParaRPr sz="1200">
              <a:solidFill>
                <a:schemeClr val="dk1"/>
              </a:solidFill>
            </a:endParaRPr>
          </a:p>
          <a:p>
            <a:pPr indent="0" lvl="0" marL="0" rtl="1" algn="r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g39c10645629_0_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4" name="Google Shape;154;g39c10645629_0_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1" algn="r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</a:rPr>
              <a:t>מחלקים לכל קבוצה קטנה את שלוש ההגדרות האקדמיות.</a:t>
            </a:r>
            <a:endParaRPr sz="1200">
              <a:solidFill>
                <a:schemeClr val="dk1"/>
              </a:solidFill>
            </a:endParaRPr>
          </a:p>
          <a:p>
            <a:pPr indent="0" lvl="0" marL="0" rtl="1" algn="r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</a:rPr>
              <a:t>כל קבוצה עונה:</a:t>
            </a:r>
            <a:endParaRPr sz="1200">
              <a:solidFill>
                <a:schemeClr val="dk1"/>
              </a:solidFill>
            </a:endParaRPr>
          </a:p>
          <a:p>
            <a:pPr indent="0" lvl="0" marL="0" rtl="1" algn="r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</a:rPr>
              <a:t>מה אני מבין/ה מכל הגדרה?</a:t>
            </a:r>
            <a:endParaRPr sz="1200">
              <a:solidFill>
                <a:schemeClr val="dk1"/>
              </a:solidFill>
            </a:endParaRPr>
          </a:p>
          <a:p>
            <a:pPr indent="0" lvl="0" marL="0" rtl="1" algn="r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</a:rPr>
              <a:t>איזה מרכיב בהגדרה רלוונטי במיוחד לעולם הפיקוח?</a:t>
            </a:r>
            <a:endParaRPr sz="1200">
              <a:solidFill>
                <a:schemeClr val="dk1"/>
              </a:solidFill>
            </a:endParaRPr>
          </a:p>
          <a:p>
            <a:pPr indent="0" lvl="0" marL="0" rtl="1" algn="r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</a:rPr>
              <a:t>מה פחות מתאים?</a:t>
            </a:r>
            <a:endParaRPr sz="1200">
              <a:solidFill>
                <a:schemeClr val="dk1"/>
              </a:solidFill>
            </a:endParaRPr>
          </a:p>
          <a:p>
            <a:pPr indent="0" lvl="0" marL="0" rtl="1" algn="r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</a:rPr>
              <a:t>בסיום כל קבוצה מסמנת מילת מפתח מההגדרה שבחרה.</a:t>
            </a:r>
            <a:endParaRPr sz="1200">
              <a:solidFill>
                <a:schemeClr val="dk1"/>
              </a:solidFill>
            </a:endParaRPr>
          </a:p>
          <a:p>
            <a:pPr indent="0" lvl="0" marL="0" rtl="1" algn="r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</a:rPr>
              <a:t> </a:t>
            </a:r>
            <a:endParaRPr sz="1200">
              <a:solidFill>
                <a:schemeClr val="dk1"/>
              </a:solidFill>
            </a:endParaRPr>
          </a:p>
          <a:p>
            <a:pPr indent="0" lvl="0" marL="0" rtl="1" algn="r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</a:rPr>
              <a:t>אחרי שהכירו את ההגדרות האקדמיות, הקבוצות מתבקשות </a:t>
            </a:r>
            <a:r>
              <a:rPr b="1" lang="en" sz="1200">
                <a:solidFill>
                  <a:schemeClr val="dk1"/>
                </a:solidFill>
              </a:rPr>
              <a:t>לנסח הגדרה משלהן</a:t>
            </a:r>
            <a:r>
              <a:rPr lang="en" sz="1200">
                <a:solidFill>
                  <a:schemeClr val="dk1"/>
                </a:solidFill>
              </a:rPr>
              <a:t> למנטורינג במערכת החינוך בישראל.</a:t>
            </a:r>
            <a:endParaRPr sz="1200">
              <a:solidFill>
                <a:schemeClr val="dk1"/>
              </a:solidFill>
            </a:endParaRPr>
          </a:p>
          <a:p>
            <a:pPr indent="0" lvl="0" marL="0" rtl="1" algn="r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</a:rPr>
              <a:t>כל קבוצה כותבת 2–3 משפטים ומציגה.</a:t>
            </a:r>
            <a:endParaRPr sz="1200">
              <a:solidFill>
                <a:schemeClr val="dk1"/>
              </a:solidFill>
            </a:endParaRPr>
          </a:p>
          <a:p>
            <a:pPr indent="0" lvl="0" marL="0" rtl="1" algn="r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</a:rPr>
              <a:t>במליאה יוצרים “הגדרה משותפת” שתלווה את המחזור.</a:t>
            </a:r>
            <a:endParaRPr sz="1200">
              <a:solidFill>
                <a:schemeClr val="dk1"/>
              </a:solidFill>
            </a:endParaRPr>
          </a:p>
          <a:p>
            <a:pPr indent="0" lvl="0" marL="0" rtl="1" algn="r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200">
                <a:solidFill>
                  <a:schemeClr val="dk1"/>
                </a:solidFill>
              </a:rPr>
              <a:t>תוצר:</a:t>
            </a:r>
            <a:r>
              <a:rPr lang="en" sz="1200">
                <a:solidFill>
                  <a:schemeClr val="dk1"/>
                </a:solidFill>
              </a:rPr>
              <a:t> הגדרה קולקטיבית (שאפשר לתלות בכיתה/להפוך למסמך).</a:t>
            </a:r>
            <a:endParaRPr sz="1200">
              <a:solidFill>
                <a:schemeClr val="dk1"/>
              </a:solidFill>
            </a:endParaRPr>
          </a:p>
          <a:p>
            <a:pPr indent="0" lvl="0" marL="0" rtl="1" algn="r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g39c10c003e4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3" name="Google Shape;163;g39c10c003e4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1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g39b36e1cdab_0_24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5" name="Google Shape;175;g39b36e1cdab_0_2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1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g39bb5555bc6_0_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5" name="Google Shape;185;g39bb5555bc6_0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g39bb5555bc6_0_4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4" name="Google Shape;194;g39bb5555bc6_0_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1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g39bb5555bc6_0_7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6" name="Google Shape;206;g39bb5555bc6_0_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1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g39c10c003e4_0_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8" name="Google Shape;218;g39c10c003e4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g39c10c003e4_0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3" name="Google Shape;223;g39c10c003e4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כותרת מקטע עליונה">
  <p:cSld name="SECTION_HEADER_1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623888" y="1282303"/>
            <a:ext cx="7886700" cy="21396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rtl="1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Play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623888" y="3442097"/>
            <a:ext cx="7886700" cy="1125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rtl="1" algn="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757575"/>
              </a:buClr>
              <a:buSzPts val="1800"/>
              <a:buNone/>
              <a:defRPr sz="1800">
                <a:solidFill>
                  <a:srgbClr val="757575"/>
                </a:solidFill>
              </a:defRPr>
            </a:lvl1pPr>
            <a:lvl2pPr indent="-228600" lvl="1" marL="914400" rtl="1" algn="r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757575"/>
              </a:buClr>
              <a:buSzPts val="1500"/>
              <a:buNone/>
              <a:defRPr sz="1500">
                <a:solidFill>
                  <a:srgbClr val="757575"/>
                </a:solidFill>
              </a:defRPr>
            </a:lvl2pPr>
            <a:lvl3pPr indent="-228600" lvl="2" marL="1371600" rtl="1" algn="r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757575"/>
              </a:buClr>
              <a:buSzPts val="1400"/>
              <a:buNone/>
              <a:defRPr sz="1400">
                <a:solidFill>
                  <a:srgbClr val="757575"/>
                </a:solidFill>
              </a:defRPr>
            </a:lvl3pPr>
            <a:lvl4pPr indent="-228600" lvl="3" marL="1828800" rtl="1" algn="r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757575"/>
              </a:buClr>
              <a:buSzPts val="1200"/>
              <a:buNone/>
              <a:defRPr sz="1200">
                <a:solidFill>
                  <a:srgbClr val="757575"/>
                </a:solidFill>
              </a:defRPr>
            </a:lvl4pPr>
            <a:lvl5pPr indent="-228600" lvl="4" marL="2286000" rtl="1" algn="r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757575"/>
              </a:buClr>
              <a:buSzPts val="1200"/>
              <a:buNone/>
              <a:defRPr sz="1200">
                <a:solidFill>
                  <a:srgbClr val="757575"/>
                </a:solidFill>
              </a:defRPr>
            </a:lvl5pPr>
            <a:lvl6pPr indent="-228600" lvl="5" marL="2743200" rtl="1" algn="r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757575"/>
              </a:buClr>
              <a:buSzPts val="1200"/>
              <a:buNone/>
              <a:defRPr sz="1200">
                <a:solidFill>
                  <a:srgbClr val="757575"/>
                </a:solidFill>
              </a:defRPr>
            </a:lvl6pPr>
            <a:lvl7pPr indent="-228600" lvl="6" marL="3200400" rtl="1" algn="r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757575"/>
              </a:buClr>
              <a:buSzPts val="1200"/>
              <a:buNone/>
              <a:defRPr sz="1200">
                <a:solidFill>
                  <a:srgbClr val="757575"/>
                </a:solidFill>
              </a:defRPr>
            </a:lvl7pPr>
            <a:lvl8pPr indent="-228600" lvl="7" marL="3657600" rtl="1" algn="r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757575"/>
              </a:buClr>
              <a:buSzPts val="1200"/>
              <a:buNone/>
              <a:defRPr sz="1200">
                <a:solidFill>
                  <a:srgbClr val="757575"/>
                </a:solidFill>
              </a:defRPr>
            </a:lvl8pPr>
            <a:lvl9pPr indent="-228600" lvl="8" marL="4114800" rtl="1" algn="r">
              <a:lnSpc>
                <a:spcPct val="90000"/>
              </a:lnSpc>
              <a:spcBef>
                <a:spcPts val="1200"/>
              </a:spcBef>
              <a:spcAft>
                <a:spcPts val="1200"/>
              </a:spcAft>
              <a:buClr>
                <a:srgbClr val="757575"/>
              </a:buClr>
              <a:buSzPts val="1200"/>
              <a:buNone/>
              <a:defRPr sz="1200">
                <a:solidFill>
                  <a:srgbClr val="757575"/>
                </a:solidFill>
              </a:defRPr>
            </a:lvl9pPr>
          </a:lstStyle>
          <a:p/>
        </p:txBody>
      </p:sp>
      <p:sp>
        <p:nvSpPr>
          <p:cNvPr id="53" name="Google Shape;53;p13"/>
          <p:cNvSpPr txBox="1"/>
          <p:nvPr>
            <p:ph idx="10" type="dt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rtl="1" algn="r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1pPr>
            <a:lvl2pPr lvl="1" rtl="1" algn="r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2pPr>
            <a:lvl3pPr lvl="2" rtl="1" algn="r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3pPr>
            <a:lvl4pPr lvl="3" rtl="1" algn="r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4pPr>
            <a:lvl5pPr lvl="4" rtl="1" algn="r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5pPr>
            <a:lvl6pPr lvl="5" rtl="1" algn="r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6pPr>
            <a:lvl7pPr lvl="6" rtl="1" algn="r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7pPr>
            <a:lvl8pPr lvl="7" rtl="1" algn="r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8pPr>
            <a:lvl9pPr lvl="8" rtl="1" algn="r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9pPr>
          </a:lstStyle>
          <a:p/>
        </p:txBody>
      </p:sp>
      <p:sp>
        <p:nvSpPr>
          <p:cNvPr id="54" name="Google Shape;54;p13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rtl="1" algn="ctr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1pPr>
            <a:lvl2pPr lvl="1" rtl="1" algn="r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2pPr>
            <a:lvl3pPr lvl="2" rtl="1" algn="r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3pPr>
            <a:lvl4pPr lvl="3" rtl="1" algn="r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4pPr>
            <a:lvl5pPr lvl="4" rtl="1" algn="r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5pPr>
            <a:lvl6pPr lvl="5" rtl="1" algn="r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6pPr>
            <a:lvl7pPr lvl="6" rtl="1" algn="r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7pPr>
            <a:lvl8pPr lvl="7" rtl="1" algn="r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8pPr>
            <a:lvl9pPr lvl="8" rtl="1" algn="r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9pPr>
          </a:lstStyle>
          <a:p/>
        </p:txBody>
      </p:sp>
      <p:sp>
        <p:nvSpPr>
          <p:cNvPr id="55" name="Google Shape;55;p13"/>
          <p:cNvSpPr txBox="1"/>
          <p:nvPr>
            <p:ph idx="12" type="sldNum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indent="0" lvl="0" marL="0" rtl="1" algn="l">
              <a:spcBef>
                <a:spcPts val="0"/>
              </a:spcBef>
              <a:buNone/>
              <a:defRPr/>
            </a:lvl1pPr>
            <a:lvl2pPr indent="0" lvl="1" marL="0" rtl="1" algn="l">
              <a:spcBef>
                <a:spcPts val="0"/>
              </a:spcBef>
              <a:buNone/>
              <a:defRPr/>
            </a:lvl2pPr>
            <a:lvl3pPr indent="0" lvl="2" marL="0" rtl="1" algn="l">
              <a:spcBef>
                <a:spcPts val="0"/>
              </a:spcBef>
              <a:buNone/>
              <a:defRPr/>
            </a:lvl3pPr>
            <a:lvl4pPr indent="0" lvl="3" marL="0" rtl="1" algn="l">
              <a:spcBef>
                <a:spcPts val="0"/>
              </a:spcBef>
              <a:buNone/>
              <a:defRPr/>
            </a:lvl4pPr>
            <a:lvl5pPr indent="0" lvl="4" marL="0" rtl="1" algn="l">
              <a:spcBef>
                <a:spcPts val="0"/>
              </a:spcBef>
              <a:buNone/>
              <a:defRPr/>
            </a:lvl5pPr>
            <a:lvl6pPr indent="0" lvl="5" marL="0" rtl="1" algn="l">
              <a:spcBef>
                <a:spcPts val="0"/>
              </a:spcBef>
              <a:buNone/>
              <a:defRPr/>
            </a:lvl6pPr>
            <a:lvl7pPr indent="0" lvl="6" marL="0" rtl="1" algn="l">
              <a:spcBef>
                <a:spcPts val="0"/>
              </a:spcBef>
              <a:buNone/>
              <a:defRPr/>
            </a:lvl7pPr>
            <a:lvl8pPr indent="0" lvl="7" marL="0" rtl="1" algn="l">
              <a:spcBef>
                <a:spcPts val="0"/>
              </a:spcBef>
              <a:buNone/>
              <a:defRPr/>
            </a:lvl8pPr>
            <a:lvl9pPr indent="0" lvl="8" marL="0" rtl="1" algn="l">
              <a:spcBef>
                <a:spcPts val="0"/>
              </a:spcBef>
              <a:buNone/>
              <a:defRPr/>
            </a:lvl9pPr>
          </a:lstStyle>
          <a:p>
            <a:pPr indent="0" lvl="0" marL="0" rtl="1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_כותרת ותוכן">
  <p:cSld name="2_כותרת ותוכן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7" name="Google Shape;57;p14"/>
          <p:cNvPicPr preferRelativeResize="0"/>
          <p:nvPr/>
        </p:nvPicPr>
        <p:blipFill rotWithShape="1">
          <a:blip r:embed="rId2">
            <a:alphaModFix/>
          </a:blip>
          <a:srcRect b="5597" l="71271" r="11537" t="16782"/>
          <a:stretch/>
        </p:blipFill>
        <p:spPr>
          <a:xfrm>
            <a:off x="7117774" y="0"/>
            <a:ext cx="2026229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58" name="Google Shape;58;p14"/>
          <p:cNvSpPr txBox="1"/>
          <p:nvPr>
            <p:ph idx="12" type="sldNum"/>
          </p:nvPr>
        </p:nvSpPr>
        <p:spPr>
          <a:xfrm>
            <a:off x="236048" y="4728411"/>
            <a:ext cx="642300" cy="31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indent="0" lvl="0" marL="0" marR="0" rtl="1" algn="ctr">
              <a:spcBef>
                <a:spcPts val="0"/>
              </a:spcBef>
              <a:buNone/>
              <a:defRPr b="0" i="0" sz="800" u="none" cap="none" strike="noStrike">
                <a:solidFill>
                  <a:srgbClr val="B0CBEB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1" algn="ctr">
              <a:spcBef>
                <a:spcPts val="0"/>
              </a:spcBef>
              <a:buNone/>
              <a:defRPr b="0" i="0" sz="800" u="none" cap="none" strike="noStrike">
                <a:solidFill>
                  <a:srgbClr val="B0CBEB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1" algn="ctr">
              <a:spcBef>
                <a:spcPts val="0"/>
              </a:spcBef>
              <a:buNone/>
              <a:defRPr b="0" i="0" sz="800" u="none" cap="none" strike="noStrike">
                <a:solidFill>
                  <a:srgbClr val="B0CBEB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1" algn="ctr">
              <a:spcBef>
                <a:spcPts val="0"/>
              </a:spcBef>
              <a:buNone/>
              <a:defRPr b="0" i="0" sz="800" u="none" cap="none" strike="noStrike">
                <a:solidFill>
                  <a:srgbClr val="B0CBEB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1" algn="ctr">
              <a:spcBef>
                <a:spcPts val="0"/>
              </a:spcBef>
              <a:buNone/>
              <a:defRPr b="0" i="0" sz="800" u="none" cap="none" strike="noStrike">
                <a:solidFill>
                  <a:srgbClr val="B0CBEB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1" algn="ctr">
              <a:spcBef>
                <a:spcPts val="0"/>
              </a:spcBef>
              <a:buNone/>
              <a:defRPr b="0" i="0" sz="800" u="none" cap="none" strike="noStrike">
                <a:solidFill>
                  <a:srgbClr val="B0CBEB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1" algn="ctr">
              <a:spcBef>
                <a:spcPts val="0"/>
              </a:spcBef>
              <a:buNone/>
              <a:defRPr b="0" i="0" sz="800" u="none" cap="none" strike="noStrike">
                <a:solidFill>
                  <a:srgbClr val="B0CBEB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1" algn="ctr">
              <a:spcBef>
                <a:spcPts val="0"/>
              </a:spcBef>
              <a:buNone/>
              <a:defRPr b="0" i="0" sz="800" u="none" cap="none" strike="noStrike">
                <a:solidFill>
                  <a:srgbClr val="B0CBEB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1" algn="ctr">
              <a:spcBef>
                <a:spcPts val="0"/>
              </a:spcBef>
              <a:buNone/>
              <a:defRPr b="0" i="0" sz="800" u="none" cap="none" strike="noStrike">
                <a:solidFill>
                  <a:srgbClr val="B0CBEB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1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9" name="Google Shape;59;p14"/>
          <p:cNvSpPr txBox="1"/>
          <p:nvPr>
            <p:ph type="title"/>
          </p:nvPr>
        </p:nvSpPr>
        <p:spPr>
          <a:xfrm>
            <a:off x="7423484" y="702926"/>
            <a:ext cx="1535400" cy="336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rtl="1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Play"/>
              <a:buNone/>
              <a:defRPr sz="20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2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5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5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5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5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5.png"/><Relationship Id="rId4" Type="http://schemas.openxmlformats.org/officeDocument/2006/relationships/image" Target="../media/image2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5.png"/><Relationship Id="rId4" Type="http://schemas.openxmlformats.org/officeDocument/2006/relationships/image" Target="../media/image1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5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5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5.png"/><Relationship Id="rId4" Type="http://schemas.openxmlformats.org/officeDocument/2006/relationships/image" Target="../media/image2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5.png"/><Relationship Id="rId4" Type="http://schemas.openxmlformats.org/officeDocument/2006/relationships/image" Target="../media/image2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5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5.png"/><Relationship Id="rId4" Type="http://schemas.openxmlformats.org/officeDocument/2006/relationships/image" Target="../media/image8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5.png"/><Relationship Id="rId4" Type="http://schemas.openxmlformats.org/officeDocument/2006/relationships/image" Target="../media/image9.png"/><Relationship Id="rId5" Type="http://schemas.openxmlformats.org/officeDocument/2006/relationships/image" Target="../media/image7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5"/>
          <p:cNvSpPr txBox="1"/>
          <p:nvPr>
            <p:ph type="title"/>
          </p:nvPr>
        </p:nvSpPr>
        <p:spPr>
          <a:xfrm>
            <a:off x="802793" y="1833769"/>
            <a:ext cx="7886700" cy="13119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b" bIns="34275" lIns="68575" spcFirstLastPara="1" rIns="68575" wrap="square" tIns="34275">
            <a:normAutofit fontScale="90000"/>
          </a:bodyPr>
          <a:lstStyle/>
          <a:p>
            <a:pPr indent="0" lvl="0" marL="0" rt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Gisha"/>
              <a:buNone/>
            </a:pPr>
            <a:r>
              <a:rPr b="1" lang="en" sz="5400">
                <a:solidFill>
                  <a:srgbClr val="00529E"/>
                </a:solidFill>
                <a:latin typeface="Gisha"/>
                <a:ea typeface="Gisha"/>
                <a:cs typeface="Gisha"/>
                <a:sym typeface="Gisha"/>
              </a:rPr>
              <a:t>המפקח כמנטור</a:t>
            </a:r>
            <a:endParaRPr b="1" sz="5400">
              <a:solidFill>
                <a:srgbClr val="00529E"/>
              </a:solidFill>
              <a:latin typeface="Gisha"/>
              <a:ea typeface="Gisha"/>
              <a:cs typeface="Gisha"/>
              <a:sym typeface="Gisha"/>
            </a:endParaRPr>
          </a:p>
          <a:p>
            <a:pPr indent="0" lvl="0" marL="0" rt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22727"/>
              <a:buFont typeface="Gisha"/>
              <a:buNone/>
            </a:pPr>
            <a:r>
              <a:rPr b="1" lang="en" sz="4400">
                <a:solidFill>
                  <a:srgbClr val="00529E"/>
                </a:solidFill>
                <a:latin typeface="Gisha"/>
                <a:ea typeface="Gisha"/>
                <a:cs typeface="Gisha"/>
                <a:sym typeface="Gisha"/>
              </a:rPr>
              <a:t>מחוז ת"א</a:t>
            </a:r>
            <a:endParaRPr b="1" sz="4400">
              <a:solidFill>
                <a:srgbClr val="00529E"/>
              </a:solidFill>
              <a:latin typeface="Gisha"/>
              <a:ea typeface="Gisha"/>
              <a:cs typeface="Gisha"/>
              <a:sym typeface="Gisha"/>
            </a:endParaRPr>
          </a:p>
        </p:txBody>
      </p:sp>
      <p:sp>
        <p:nvSpPr>
          <p:cNvPr id="65" name="Google Shape;65;p15"/>
          <p:cNvSpPr txBox="1"/>
          <p:nvPr>
            <p:ph idx="1" type="body"/>
          </p:nvPr>
        </p:nvSpPr>
        <p:spPr>
          <a:xfrm>
            <a:off x="802792" y="3442098"/>
            <a:ext cx="7886700" cy="426600"/>
          </a:xfrm>
          <a:prstGeom prst="rect">
            <a:avLst/>
          </a:prstGeom>
          <a:solidFill>
            <a:srgbClr val="00529E"/>
          </a:solidFill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rtl="1" algn="ctr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Clr>
                <a:schemeClr val="lt1"/>
              </a:buClr>
              <a:buSzPts val="2400"/>
              <a:buNone/>
            </a:pPr>
            <a:r>
              <a:rPr lang="en" sz="2400">
                <a:solidFill>
                  <a:schemeClr val="lt1"/>
                </a:solidFill>
                <a:latin typeface="Gisha"/>
                <a:ea typeface="Gisha"/>
                <a:cs typeface="Gisha"/>
                <a:sym typeface="Gisha"/>
              </a:rPr>
              <a:t>מפגש ראשון - 23/10/25 א' בחשוון</a:t>
            </a:r>
            <a:endParaRPr/>
          </a:p>
        </p:txBody>
      </p:sp>
      <p:grpSp>
        <p:nvGrpSpPr>
          <p:cNvPr id="66" name="Google Shape;66;p15"/>
          <p:cNvGrpSpPr/>
          <p:nvPr/>
        </p:nvGrpSpPr>
        <p:grpSpPr>
          <a:xfrm>
            <a:off x="6548261" y="335431"/>
            <a:ext cx="2141217" cy="960074"/>
            <a:chOff x="9794489" y="346571"/>
            <a:chExt cx="2397511" cy="1037133"/>
          </a:xfrm>
        </p:grpSpPr>
        <p:pic>
          <p:nvPicPr>
            <p:cNvPr id="67" name="Google Shape;67;p15"/>
            <p:cNvPicPr preferRelativeResize="0"/>
            <p:nvPr/>
          </p:nvPicPr>
          <p:blipFill rotWithShape="1">
            <a:blip r:embed="rId3">
              <a:alphaModFix/>
            </a:blip>
            <a:srcRect b="20803" l="10854" r="65272" t="42081"/>
            <a:stretch/>
          </p:blipFill>
          <p:spPr>
            <a:xfrm>
              <a:off x="11005352" y="346572"/>
              <a:ext cx="1186648" cy="103713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68" name="Google Shape;68;p15"/>
            <p:cNvPicPr preferRelativeResize="0"/>
            <p:nvPr/>
          </p:nvPicPr>
          <p:blipFill rotWithShape="1">
            <a:blip r:embed="rId3">
              <a:alphaModFix/>
            </a:blip>
            <a:srcRect b="20803" l="40966" r="29243" t="42081"/>
            <a:stretch/>
          </p:blipFill>
          <p:spPr>
            <a:xfrm>
              <a:off x="9794489" y="346571"/>
              <a:ext cx="1480686" cy="1037132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6"/>
          <p:cNvSpPr txBox="1"/>
          <p:nvPr>
            <p:ph type="title"/>
          </p:nvPr>
        </p:nvSpPr>
        <p:spPr>
          <a:xfrm>
            <a:off x="623888" y="1282303"/>
            <a:ext cx="7886700" cy="2139600"/>
          </a:xfrm>
          <a:prstGeom prst="rect">
            <a:avLst/>
          </a:prstGeom>
        </p:spPr>
        <p:txBody>
          <a:bodyPr anchorCtr="0" anchor="b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" name="Google Shape;74;p16"/>
          <p:cNvSpPr txBox="1"/>
          <p:nvPr>
            <p:ph idx="1" type="body"/>
          </p:nvPr>
        </p:nvSpPr>
        <p:spPr>
          <a:xfrm>
            <a:off x="623888" y="3442097"/>
            <a:ext cx="7886700" cy="11253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8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75" name="Google Shape;75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1537684">
            <a:off x="988167" y="-211686"/>
            <a:ext cx="6913642" cy="691364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7"/>
          <p:cNvSpPr txBox="1"/>
          <p:nvPr>
            <p:ph idx="12" type="sldNum"/>
          </p:nvPr>
        </p:nvSpPr>
        <p:spPr>
          <a:xfrm>
            <a:off x="236048" y="4728411"/>
            <a:ext cx="642300" cy="31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1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>
                <a:solidFill>
                  <a:srgbClr val="B0CBEB"/>
                </a:solidFill>
              </a:rPr>
              <a:t>‹#›</a:t>
            </a:fld>
            <a:endParaRPr>
              <a:solidFill>
                <a:srgbClr val="B0CBEB"/>
              </a:solidFill>
            </a:endParaRPr>
          </a:p>
        </p:txBody>
      </p:sp>
      <p:grpSp>
        <p:nvGrpSpPr>
          <p:cNvPr id="81" name="Google Shape;81;p17"/>
          <p:cNvGrpSpPr/>
          <p:nvPr/>
        </p:nvGrpSpPr>
        <p:grpSpPr>
          <a:xfrm>
            <a:off x="7002768" y="-14"/>
            <a:ext cx="2141217" cy="960074"/>
            <a:chOff x="9794489" y="346571"/>
            <a:chExt cx="2397511" cy="1037133"/>
          </a:xfrm>
        </p:grpSpPr>
        <p:pic>
          <p:nvPicPr>
            <p:cNvPr id="82" name="Google Shape;82;p17"/>
            <p:cNvPicPr preferRelativeResize="0"/>
            <p:nvPr/>
          </p:nvPicPr>
          <p:blipFill rotWithShape="1">
            <a:blip r:embed="rId3">
              <a:alphaModFix/>
            </a:blip>
            <a:srcRect b="20803" l="10854" r="65272" t="42081"/>
            <a:stretch/>
          </p:blipFill>
          <p:spPr>
            <a:xfrm>
              <a:off x="11005352" y="346572"/>
              <a:ext cx="1186648" cy="103713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83" name="Google Shape;83;p17"/>
            <p:cNvPicPr preferRelativeResize="0"/>
            <p:nvPr/>
          </p:nvPicPr>
          <p:blipFill rotWithShape="1">
            <a:blip r:embed="rId3">
              <a:alphaModFix/>
            </a:blip>
            <a:srcRect b="20803" l="40966" r="29243" t="42081"/>
            <a:stretch/>
          </p:blipFill>
          <p:spPr>
            <a:xfrm>
              <a:off x="9794489" y="346571"/>
              <a:ext cx="1480686" cy="1037132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84" name="Google Shape;84;p17"/>
          <p:cNvSpPr txBox="1"/>
          <p:nvPr/>
        </p:nvSpPr>
        <p:spPr>
          <a:xfrm>
            <a:off x="7152300" y="1512200"/>
            <a:ext cx="1991700" cy="155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300">
                <a:solidFill>
                  <a:srgbClr val="00529E"/>
                </a:solidFill>
                <a:latin typeface="Gisha"/>
                <a:ea typeface="Gisha"/>
                <a:cs typeface="Gisha"/>
                <a:sym typeface="Gisha"/>
              </a:rPr>
              <a:t>מטרות הפיתוח המקצועי</a:t>
            </a:r>
            <a:endParaRPr sz="3300"/>
          </a:p>
        </p:txBody>
      </p:sp>
      <p:sp>
        <p:nvSpPr>
          <p:cNvPr id="85" name="Google Shape;85;p17"/>
          <p:cNvSpPr txBox="1"/>
          <p:nvPr/>
        </p:nvSpPr>
        <p:spPr>
          <a:xfrm>
            <a:off x="229025" y="1386900"/>
            <a:ext cx="6711600" cy="3756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36550" lvl="0" marL="457200" rtl="1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529E"/>
              </a:buClr>
              <a:buSzPts val="1700"/>
              <a:buFont typeface="Gisha"/>
              <a:buAutoNum type="arabicPeriod"/>
            </a:pPr>
            <a:r>
              <a:rPr b="1" lang="en" sz="1700">
                <a:solidFill>
                  <a:srgbClr val="00529E"/>
                </a:solidFill>
                <a:latin typeface="Gisha"/>
                <a:ea typeface="Gisha"/>
                <a:cs typeface="Gisha"/>
                <a:sym typeface="Gisha"/>
              </a:rPr>
              <a:t>פיתוח זהות כפולה של מפקח-מנטור: לא רק בעל סמכות פיקוח, אלא גם דמות מלווה ותומכת.</a:t>
            </a:r>
            <a:endParaRPr b="1" sz="1700">
              <a:solidFill>
                <a:srgbClr val="00529E"/>
              </a:solidFill>
              <a:latin typeface="Gisha"/>
              <a:ea typeface="Gisha"/>
              <a:cs typeface="Gisha"/>
              <a:sym typeface="Gisha"/>
            </a:endParaRPr>
          </a:p>
          <a:p>
            <a:pPr indent="-336550" lvl="0" marL="457200" rtl="1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529E"/>
              </a:buClr>
              <a:buSzPts val="1700"/>
              <a:buFont typeface="Gisha"/>
              <a:buAutoNum type="arabicPeriod"/>
            </a:pPr>
            <a:r>
              <a:rPr b="1" lang="en" sz="1700">
                <a:solidFill>
                  <a:srgbClr val="00529E"/>
                </a:solidFill>
                <a:latin typeface="Gisha"/>
                <a:ea typeface="Gisha"/>
                <a:cs typeface="Gisha"/>
                <a:sym typeface="Gisha"/>
              </a:rPr>
              <a:t>הקניית ידע וכלים למפקחים בעבודת מנטורינג עם מנהלים - חדשים וותיקים.</a:t>
            </a:r>
            <a:endParaRPr b="1" sz="1700">
              <a:solidFill>
                <a:srgbClr val="00529E"/>
              </a:solidFill>
              <a:latin typeface="Gisha"/>
              <a:ea typeface="Gisha"/>
              <a:cs typeface="Gisha"/>
              <a:sym typeface="Gisha"/>
            </a:endParaRPr>
          </a:p>
          <a:p>
            <a:pPr indent="-336550" lvl="0" marL="457200" rtl="1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529E"/>
              </a:buClr>
              <a:buSzPts val="1700"/>
              <a:buFont typeface="Gisha"/>
              <a:buAutoNum type="arabicPeriod"/>
            </a:pPr>
            <a:r>
              <a:rPr b="1" lang="en" sz="1700">
                <a:solidFill>
                  <a:srgbClr val="00529E"/>
                </a:solidFill>
                <a:latin typeface="Gisha"/>
                <a:ea typeface="Gisha"/>
                <a:cs typeface="Gisha"/>
                <a:sym typeface="Gisha"/>
              </a:rPr>
              <a:t>חיזוק המקצועיות: יצירת סטנדרט מחוזי משותף למפקחים בתפקיד מנטורים.</a:t>
            </a:r>
            <a:endParaRPr b="1" sz="1700">
              <a:solidFill>
                <a:srgbClr val="00529E"/>
              </a:solidFill>
              <a:latin typeface="Gisha"/>
              <a:ea typeface="Gisha"/>
              <a:cs typeface="Gisha"/>
              <a:sym typeface="Gisha"/>
            </a:endParaRPr>
          </a:p>
          <a:p>
            <a:pPr indent="-336550" lvl="0" marL="457200" rtl="1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529E"/>
              </a:buClr>
              <a:buSzPts val="1700"/>
              <a:buFont typeface="Gisha"/>
              <a:buAutoNum type="arabicPeriod"/>
            </a:pPr>
            <a:r>
              <a:rPr b="1" lang="en" sz="1700">
                <a:solidFill>
                  <a:srgbClr val="00529E"/>
                </a:solidFill>
                <a:latin typeface="Gisha"/>
                <a:ea typeface="Gisha"/>
                <a:cs typeface="Gisha"/>
                <a:sym typeface="Gisha"/>
              </a:rPr>
              <a:t>פיתוח רשת לומדת: שפה מחוזית משותפת, תמיכה הדדית, ותחושת קהילה.</a:t>
            </a:r>
            <a:endParaRPr b="1" sz="1700">
              <a:solidFill>
                <a:srgbClr val="00529E"/>
              </a:solidFill>
              <a:latin typeface="Gisha"/>
              <a:ea typeface="Gisha"/>
              <a:cs typeface="Gisha"/>
              <a:sym typeface="Gisha"/>
            </a:endParaRPr>
          </a:p>
          <a:p>
            <a:pPr indent="-336550" lvl="0" marL="457200" rtl="1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529E"/>
              </a:buClr>
              <a:buSzPts val="1700"/>
              <a:buFont typeface="Gisha"/>
              <a:buAutoNum type="arabicPeriod"/>
            </a:pPr>
            <a:r>
              <a:rPr b="1" lang="en" sz="1700">
                <a:solidFill>
                  <a:srgbClr val="00529E"/>
                </a:solidFill>
                <a:latin typeface="Gisha"/>
                <a:ea typeface="Gisha"/>
                <a:cs typeface="Gisha"/>
                <a:sym typeface="Gisha"/>
              </a:rPr>
              <a:t>שיפור מערכת החינוך דרך ליווי איכותי למנהלים, צמצום שחיקה וחיזוק הנהגה פדגוגית אפקטיבית.</a:t>
            </a:r>
            <a:endParaRPr b="1" sz="1700">
              <a:solidFill>
                <a:srgbClr val="00529E"/>
              </a:solidFill>
              <a:latin typeface="Gisha"/>
              <a:ea typeface="Gisha"/>
              <a:cs typeface="Gisha"/>
              <a:sym typeface="Gisha"/>
            </a:endParaRPr>
          </a:p>
          <a:p>
            <a:pPr indent="0" lvl="0" marL="914400" rtl="1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700">
              <a:solidFill>
                <a:srgbClr val="00529E"/>
              </a:solidFill>
              <a:latin typeface="Gisha"/>
              <a:ea typeface="Gisha"/>
              <a:cs typeface="Gisha"/>
              <a:sym typeface="Gisha"/>
            </a:endParaRPr>
          </a:p>
          <a:p>
            <a:pPr indent="0" lvl="0" marL="0" rtl="1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700">
              <a:solidFill>
                <a:srgbClr val="00529E"/>
              </a:solidFill>
              <a:latin typeface="Gisha"/>
              <a:ea typeface="Gisha"/>
              <a:cs typeface="Gisha"/>
              <a:sym typeface="Gisha"/>
            </a:endParaRPr>
          </a:p>
        </p:txBody>
      </p:sp>
      <p:sp>
        <p:nvSpPr>
          <p:cNvPr id="86" name="Google Shape;86;p17"/>
          <p:cNvSpPr txBox="1"/>
          <p:nvPr/>
        </p:nvSpPr>
        <p:spPr>
          <a:xfrm>
            <a:off x="818817" y="556387"/>
            <a:ext cx="5532000" cy="577200"/>
          </a:xfrm>
          <a:prstGeom prst="rect">
            <a:avLst/>
          </a:prstGeom>
          <a:solidFill>
            <a:srgbClr val="00529E"/>
          </a:solidFill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1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3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המפקח כמנטור</a:t>
            </a:r>
            <a:endParaRPr sz="11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8"/>
          <p:cNvSpPr txBox="1"/>
          <p:nvPr>
            <p:ph idx="12" type="sldNum"/>
          </p:nvPr>
        </p:nvSpPr>
        <p:spPr>
          <a:xfrm>
            <a:off x="236048" y="4728411"/>
            <a:ext cx="642300" cy="31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1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>
                <a:solidFill>
                  <a:srgbClr val="B0CBEB"/>
                </a:solidFill>
              </a:rPr>
              <a:t>‹#›</a:t>
            </a:fld>
            <a:endParaRPr>
              <a:solidFill>
                <a:srgbClr val="B0CBEB"/>
              </a:solidFill>
            </a:endParaRPr>
          </a:p>
        </p:txBody>
      </p:sp>
      <p:grpSp>
        <p:nvGrpSpPr>
          <p:cNvPr id="92" name="Google Shape;92;p18"/>
          <p:cNvGrpSpPr/>
          <p:nvPr/>
        </p:nvGrpSpPr>
        <p:grpSpPr>
          <a:xfrm>
            <a:off x="7002768" y="-14"/>
            <a:ext cx="2141217" cy="960074"/>
            <a:chOff x="9794489" y="346571"/>
            <a:chExt cx="2397511" cy="1037133"/>
          </a:xfrm>
        </p:grpSpPr>
        <p:pic>
          <p:nvPicPr>
            <p:cNvPr id="93" name="Google Shape;93;p18"/>
            <p:cNvPicPr preferRelativeResize="0"/>
            <p:nvPr/>
          </p:nvPicPr>
          <p:blipFill rotWithShape="1">
            <a:blip r:embed="rId3">
              <a:alphaModFix/>
            </a:blip>
            <a:srcRect b="20803" l="10854" r="65272" t="42081"/>
            <a:stretch/>
          </p:blipFill>
          <p:spPr>
            <a:xfrm>
              <a:off x="11005352" y="346572"/>
              <a:ext cx="1186648" cy="103713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94" name="Google Shape;94;p18"/>
            <p:cNvPicPr preferRelativeResize="0"/>
            <p:nvPr/>
          </p:nvPicPr>
          <p:blipFill rotWithShape="1">
            <a:blip r:embed="rId3">
              <a:alphaModFix/>
            </a:blip>
            <a:srcRect b="20803" l="40966" r="29243" t="42081"/>
            <a:stretch/>
          </p:blipFill>
          <p:spPr>
            <a:xfrm>
              <a:off x="9794489" y="346571"/>
              <a:ext cx="1480686" cy="1037132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95" name="Google Shape;95;p18"/>
          <p:cNvSpPr txBox="1"/>
          <p:nvPr/>
        </p:nvSpPr>
        <p:spPr>
          <a:xfrm>
            <a:off x="818817" y="556387"/>
            <a:ext cx="5532000" cy="577200"/>
          </a:xfrm>
          <a:prstGeom prst="rect">
            <a:avLst/>
          </a:prstGeom>
          <a:solidFill>
            <a:srgbClr val="00529E"/>
          </a:solidFill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1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3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המפקח כמנטור</a:t>
            </a:r>
            <a:endParaRPr sz="1100"/>
          </a:p>
        </p:txBody>
      </p:sp>
      <p:sp>
        <p:nvSpPr>
          <p:cNvPr id="96" name="Google Shape;96;p18"/>
          <p:cNvSpPr txBox="1"/>
          <p:nvPr/>
        </p:nvSpPr>
        <p:spPr>
          <a:xfrm>
            <a:off x="7152300" y="1512200"/>
            <a:ext cx="1991700" cy="109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300">
                <a:solidFill>
                  <a:srgbClr val="00529E"/>
                </a:solidFill>
                <a:latin typeface="Gisha"/>
                <a:ea typeface="Gisha"/>
                <a:cs typeface="Gisha"/>
                <a:sym typeface="Gisha"/>
              </a:rPr>
              <a:t>מבנה </a:t>
            </a:r>
            <a:endParaRPr b="1" sz="3300">
              <a:solidFill>
                <a:srgbClr val="00529E"/>
              </a:solidFill>
              <a:latin typeface="Gisha"/>
              <a:ea typeface="Gisha"/>
              <a:cs typeface="Gisha"/>
              <a:sym typeface="Gisha"/>
            </a:endParaRPr>
          </a:p>
          <a:p>
            <a:pPr indent="0" lvl="0" marL="0" rt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300">
                <a:solidFill>
                  <a:srgbClr val="00529E"/>
                </a:solidFill>
                <a:latin typeface="Gisha"/>
                <a:ea typeface="Gisha"/>
                <a:cs typeface="Gisha"/>
                <a:sym typeface="Gisha"/>
              </a:rPr>
              <a:t>הלמידה</a:t>
            </a:r>
            <a:endParaRPr sz="3300"/>
          </a:p>
        </p:txBody>
      </p:sp>
      <p:sp>
        <p:nvSpPr>
          <p:cNvPr id="97" name="Google Shape;97;p18"/>
          <p:cNvSpPr txBox="1"/>
          <p:nvPr/>
        </p:nvSpPr>
        <p:spPr>
          <a:xfrm>
            <a:off x="3702775" y="1133575"/>
            <a:ext cx="3083400" cy="6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1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700">
                <a:solidFill>
                  <a:srgbClr val="00529E"/>
                </a:solidFill>
                <a:latin typeface="Gisha"/>
                <a:ea typeface="Gisha"/>
                <a:cs typeface="Gisha"/>
                <a:sym typeface="Gisha"/>
              </a:rPr>
              <a:t>שנה ראשונה:</a:t>
            </a:r>
            <a:endParaRPr b="1" sz="2700">
              <a:solidFill>
                <a:srgbClr val="00529E"/>
              </a:solidFill>
              <a:latin typeface="Gisha"/>
              <a:ea typeface="Gisha"/>
              <a:cs typeface="Gisha"/>
              <a:sym typeface="Gisha"/>
            </a:endParaRPr>
          </a:p>
        </p:txBody>
      </p:sp>
      <p:sp>
        <p:nvSpPr>
          <p:cNvPr id="98" name="Google Shape;98;p18"/>
          <p:cNvSpPr txBox="1"/>
          <p:nvPr/>
        </p:nvSpPr>
        <p:spPr>
          <a:xfrm>
            <a:off x="3189050" y="1830800"/>
            <a:ext cx="3298800" cy="10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1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8 מפגשים </a:t>
            </a:r>
            <a:r>
              <a:rPr lang="en" sz="1800">
                <a:solidFill>
                  <a:schemeClr val="dk2"/>
                </a:solidFill>
              </a:rPr>
              <a:t>פרונטליים</a:t>
            </a:r>
            <a:r>
              <a:rPr lang="en" sz="1800">
                <a:solidFill>
                  <a:schemeClr val="dk2"/>
                </a:solidFill>
              </a:rPr>
              <a:t> סה"כ 50 ש"א</a:t>
            </a:r>
            <a:endParaRPr sz="1800">
              <a:solidFill>
                <a:schemeClr val="dk2"/>
              </a:solidFill>
            </a:endParaRPr>
          </a:p>
          <a:p>
            <a:pPr indent="0" lvl="0" marL="0" rtl="1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20 שעות פרקטיקום</a:t>
            </a:r>
            <a:endParaRPr sz="1800">
              <a:solidFill>
                <a:schemeClr val="dk2"/>
              </a:solidFill>
            </a:endParaRPr>
          </a:p>
          <a:p>
            <a:pPr indent="0" lvl="0" marL="0" rtl="1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10 שעות </a:t>
            </a:r>
            <a:r>
              <a:rPr lang="en" sz="1800">
                <a:solidFill>
                  <a:schemeClr val="dk2"/>
                </a:solidFill>
              </a:rPr>
              <a:t>סופרויז'ן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99" name="Google Shape;99;p18"/>
          <p:cNvSpPr txBox="1"/>
          <p:nvPr/>
        </p:nvSpPr>
        <p:spPr>
          <a:xfrm>
            <a:off x="3623150" y="2943525"/>
            <a:ext cx="3083400" cy="6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1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700">
                <a:solidFill>
                  <a:srgbClr val="00529E"/>
                </a:solidFill>
                <a:latin typeface="Gisha"/>
                <a:ea typeface="Gisha"/>
                <a:cs typeface="Gisha"/>
                <a:sym typeface="Gisha"/>
              </a:rPr>
              <a:t>שנה שניה:</a:t>
            </a:r>
            <a:endParaRPr b="1" sz="2700">
              <a:solidFill>
                <a:srgbClr val="00529E"/>
              </a:solidFill>
              <a:latin typeface="Gisha"/>
              <a:ea typeface="Gisha"/>
              <a:cs typeface="Gisha"/>
              <a:sym typeface="Gisha"/>
            </a:endParaRPr>
          </a:p>
        </p:txBody>
      </p:sp>
      <p:sp>
        <p:nvSpPr>
          <p:cNvPr id="100" name="Google Shape;100;p18"/>
          <p:cNvSpPr txBox="1"/>
          <p:nvPr/>
        </p:nvSpPr>
        <p:spPr>
          <a:xfrm>
            <a:off x="3189050" y="3543825"/>
            <a:ext cx="3298800" cy="10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1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8 מפגשים </a:t>
            </a:r>
            <a:r>
              <a:rPr lang="en" sz="1800">
                <a:solidFill>
                  <a:schemeClr val="dk2"/>
                </a:solidFill>
              </a:rPr>
              <a:t>פרונטליים</a:t>
            </a:r>
            <a:r>
              <a:rPr lang="en" sz="1800">
                <a:solidFill>
                  <a:schemeClr val="dk2"/>
                </a:solidFill>
              </a:rPr>
              <a:t> סה"כ 50 ש"א</a:t>
            </a:r>
            <a:endParaRPr sz="1800">
              <a:solidFill>
                <a:schemeClr val="dk2"/>
              </a:solidFill>
            </a:endParaRPr>
          </a:p>
          <a:p>
            <a:pPr indent="0" lvl="0" marL="0" rtl="1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20 שעות פרקטיקום</a:t>
            </a:r>
            <a:endParaRPr sz="1800">
              <a:solidFill>
                <a:schemeClr val="dk2"/>
              </a:solidFill>
            </a:endParaRPr>
          </a:p>
          <a:p>
            <a:pPr indent="0" lvl="0" marL="0" rtl="1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10 שעות </a:t>
            </a:r>
            <a:r>
              <a:rPr lang="en" sz="1800">
                <a:solidFill>
                  <a:schemeClr val="dk2"/>
                </a:solidFill>
              </a:rPr>
              <a:t>סופרויז'ן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01" name="Google Shape;101;p18"/>
          <p:cNvSpPr txBox="1"/>
          <p:nvPr/>
        </p:nvSpPr>
        <p:spPr>
          <a:xfrm>
            <a:off x="-4172975" y="4411650"/>
            <a:ext cx="7230600" cy="6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1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700">
                <a:solidFill>
                  <a:srgbClr val="00529E"/>
                </a:solidFill>
                <a:latin typeface="Gisha"/>
                <a:ea typeface="Gisha"/>
                <a:cs typeface="Gisha"/>
                <a:sym typeface="Gisha"/>
              </a:rPr>
              <a:t>סה"כ 160 שעות</a:t>
            </a:r>
            <a:endParaRPr b="1" sz="2700">
              <a:solidFill>
                <a:srgbClr val="00529E"/>
              </a:solidFill>
              <a:latin typeface="Gisha"/>
              <a:ea typeface="Gisha"/>
              <a:cs typeface="Gisha"/>
              <a:sym typeface="Gisha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19"/>
          <p:cNvSpPr txBox="1"/>
          <p:nvPr>
            <p:ph idx="12" type="sldNum"/>
          </p:nvPr>
        </p:nvSpPr>
        <p:spPr>
          <a:xfrm>
            <a:off x="236048" y="4728411"/>
            <a:ext cx="642300" cy="31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1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>
                <a:solidFill>
                  <a:srgbClr val="B0CBEB"/>
                </a:solidFill>
              </a:rPr>
              <a:t>‹#›</a:t>
            </a:fld>
            <a:endParaRPr>
              <a:solidFill>
                <a:srgbClr val="B0CBEB"/>
              </a:solidFill>
            </a:endParaRPr>
          </a:p>
        </p:txBody>
      </p:sp>
      <p:grpSp>
        <p:nvGrpSpPr>
          <p:cNvPr id="107" name="Google Shape;107;p19"/>
          <p:cNvGrpSpPr/>
          <p:nvPr/>
        </p:nvGrpSpPr>
        <p:grpSpPr>
          <a:xfrm>
            <a:off x="7002768" y="-14"/>
            <a:ext cx="2141217" cy="960074"/>
            <a:chOff x="9794489" y="346571"/>
            <a:chExt cx="2397511" cy="1037133"/>
          </a:xfrm>
        </p:grpSpPr>
        <p:pic>
          <p:nvPicPr>
            <p:cNvPr id="108" name="Google Shape;108;p19"/>
            <p:cNvPicPr preferRelativeResize="0"/>
            <p:nvPr/>
          </p:nvPicPr>
          <p:blipFill rotWithShape="1">
            <a:blip r:embed="rId3">
              <a:alphaModFix/>
            </a:blip>
            <a:srcRect b="20803" l="10854" r="65272" t="42081"/>
            <a:stretch/>
          </p:blipFill>
          <p:spPr>
            <a:xfrm>
              <a:off x="11005352" y="346572"/>
              <a:ext cx="1186648" cy="103713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09" name="Google Shape;109;p19"/>
            <p:cNvPicPr preferRelativeResize="0"/>
            <p:nvPr/>
          </p:nvPicPr>
          <p:blipFill rotWithShape="1">
            <a:blip r:embed="rId3">
              <a:alphaModFix/>
            </a:blip>
            <a:srcRect b="20803" l="40966" r="29243" t="42081"/>
            <a:stretch/>
          </p:blipFill>
          <p:spPr>
            <a:xfrm>
              <a:off x="9794489" y="346571"/>
              <a:ext cx="1480686" cy="1037132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10" name="Google Shape;110;p19"/>
          <p:cNvSpPr txBox="1"/>
          <p:nvPr/>
        </p:nvSpPr>
        <p:spPr>
          <a:xfrm>
            <a:off x="7111800" y="1650775"/>
            <a:ext cx="2032200" cy="1593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300">
                <a:solidFill>
                  <a:srgbClr val="00529E"/>
                </a:solidFill>
                <a:latin typeface="Gisha"/>
                <a:ea typeface="Gisha"/>
                <a:cs typeface="Gisha"/>
                <a:sym typeface="Gisha"/>
              </a:rPr>
              <a:t>לו"ז</a:t>
            </a:r>
            <a:endParaRPr b="1" sz="3300">
              <a:solidFill>
                <a:srgbClr val="00529E"/>
              </a:solidFill>
              <a:latin typeface="Gisha"/>
              <a:ea typeface="Gisha"/>
              <a:cs typeface="Gisha"/>
              <a:sym typeface="Gisha"/>
            </a:endParaRPr>
          </a:p>
          <a:p>
            <a:pPr indent="0" lvl="0" marL="0" marR="0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300">
                <a:solidFill>
                  <a:srgbClr val="00529E"/>
                </a:solidFill>
                <a:latin typeface="Gisha"/>
                <a:ea typeface="Gisha"/>
                <a:cs typeface="Gisha"/>
                <a:sym typeface="Gisha"/>
              </a:rPr>
              <a:t>מפגש ראשון</a:t>
            </a:r>
            <a:endParaRPr sz="1100"/>
          </a:p>
        </p:txBody>
      </p:sp>
      <p:graphicFrame>
        <p:nvGraphicFramePr>
          <p:cNvPr id="111" name="Google Shape;111;p19"/>
          <p:cNvGraphicFramePr/>
          <p:nvPr/>
        </p:nvGraphicFramePr>
        <p:xfrm>
          <a:off x="1887213" y="13858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{109566F6-143E-4294-915D-E0D71DAB653B}</a:tableStyleId>
              </a:tblPr>
              <a:tblGrid>
                <a:gridCol w="3089050"/>
              </a:tblGrid>
              <a:tr h="156425">
                <a:tc>
                  <a:txBody>
                    <a:bodyPr/>
                    <a:lstStyle/>
                    <a:p>
                      <a:pPr indent="0" lvl="0" marL="0" rtl="1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b="1" lang="en" sz="2000">
                          <a:solidFill>
                            <a:srgbClr val="00529E"/>
                          </a:solidFill>
                          <a:latin typeface="Gisha"/>
                          <a:ea typeface="Gisha"/>
                          <a:cs typeface="Gisha"/>
                          <a:sym typeface="Gisha"/>
                        </a:rPr>
                        <a:t> פתיחת יום</a:t>
                      </a:r>
                      <a:endParaRPr b="1" sz="2000">
                        <a:solidFill>
                          <a:srgbClr val="00529E"/>
                        </a:solidFill>
                        <a:latin typeface="Gisha"/>
                        <a:ea typeface="Gisha"/>
                        <a:cs typeface="Gisha"/>
                        <a:sym typeface="Gisha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2700">
                <a:tc>
                  <a:txBody>
                    <a:bodyPr/>
                    <a:lstStyle/>
                    <a:p>
                      <a:pPr indent="0" lvl="0" marL="0" rtl="1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b="1" lang="en" sz="2000">
                          <a:solidFill>
                            <a:srgbClr val="00529E"/>
                          </a:solidFill>
                          <a:latin typeface="Gisha"/>
                          <a:ea typeface="Gisha"/>
                          <a:cs typeface="Gisha"/>
                          <a:sym typeface="Gisha"/>
                        </a:rPr>
                        <a:t>תיאום ציפיות </a:t>
                      </a:r>
                      <a:endParaRPr b="1" sz="2000">
                        <a:solidFill>
                          <a:srgbClr val="00529E"/>
                        </a:solidFill>
                        <a:latin typeface="Gisha"/>
                        <a:ea typeface="Gisha"/>
                        <a:cs typeface="Gisha"/>
                        <a:sym typeface="Gisha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2700">
                <a:tc>
                  <a:txBody>
                    <a:bodyPr/>
                    <a:lstStyle/>
                    <a:p>
                      <a:pPr indent="0" lvl="0" marL="0" rtl="1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b="1" lang="en" sz="2000">
                          <a:solidFill>
                            <a:srgbClr val="00529E"/>
                          </a:solidFill>
                          <a:latin typeface="Gisha"/>
                          <a:ea typeface="Gisha"/>
                          <a:cs typeface="Gisha"/>
                          <a:sym typeface="Gisha"/>
                        </a:rPr>
                        <a:t>מה זה מנטורינג?</a:t>
                      </a:r>
                      <a:endParaRPr b="1" sz="2000">
                        <a:solidFill>
                          <a:srgbClr val="00529E"/>
                        </a:solidFill>
                        <a:latin typeface="Gisha"/>
                        <a:ea typeface="Gisha"/>
                        <a:cs typeface="Gisha"/>
                        <a:sym typeface="Gisha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2700">
                <a:tc>
                  <a:txBody>
                    <a:bodyPr/>
                    <a:lstStyle/>
                    <a:p>
                      <a:pPr indent="0" lvl="0" marL="0" rtl="1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b="1" lang="en" sz="2000">
                          <a:solidFill>
                            <a:srgbClr val="00529E"/>
                          </a:solidFill>
                          <a:latin typeface="Gisha"/>
                          <a:ea typeface="Gisha"/>
                          <a:cs typeface="Gisha"/>
                          <a:sym typeface="Gisha"/>
                        </a:rPr>
                        <a:t>הפסקה</a:t>
                      </a:r>
                      <a:endParaRPr b="1" sz="2000">
                        <a:solidFill>
                          <a:srgbClr val="00529E"/>
                        </a:solidFill>
                        <a:latin typeface="Gisha"/>
                        <a:ea typeface="Gisha"/>
                        <a:cs typeface="Gisha"/>
                        <a:sym typeface="Gisha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2700">
                <a:tc>
                  <a:txBody>
                    <a:bodyPr/>
                    <a:lstStyle/>
                    <a:p>
                      <a:pPr indent="0" lvl="0" marL="0" rtl="1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b="1" lang="en" sz="2000">
                          <a:solidFill>
                            <a:srgbClr val="00529E"/>
                          </a:solidFill>
                          <a:latin typeface="Gisha"/>
                          <a:ea typeface="Gisha"/>
                          <a:cs typeface="Gisha"/>
                          <a:sym typeface="Gisha"/>
                        </a:rPr>
                        <a:t>בין מפקח למנטור</a:t>
                      </a:r>
                      <a:endParaRPr b="1" sz="2000">
                        <a:solidFill>
                          <a:srgbClr val="00529E"/>
                        </a:solidFill>
                        <a:latin typeface="Gisha"/>
                        <a:ea typeface="Gisha"/>
                        <a:cs typeface="Gisha"/>
                        <a:sym typeface="Gisha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2700">
                <a:tc>
                  <a:txBody>
                    <a:bodyPr/>
                    <a:lstStyle/>
                    <a:p>
                      <a:pPr indent="0" lvl="0" marL="0" rtl="1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b="1" lang="en" sz="2000">
                          <a:solidFill>
                            <a:srgbClr val="00529E"/>
                          </a:solidFill>
                          <a:latin typeface="Gisha"/>
                          <a:ea typeface="Gisha"/>
                          <a:cs typeface="Gisha"/>
                          <a:sym typeface="Gisha"/>
                        </a:rPr>
                        <a:t>סיכום</a:t>
                      </a:r>
                      <a:endParaRPr b="1" sz="2000">
                        <a:solidFill>
                          <a:srgbClr val="00529E"/>
                        </a:solidFill>
                        <a:latin typeface="Gisha"/>
                        <a:ea typeface="Gisha"/>
                        <a:cs typeface="Gisha"/>
                        <a:sym typeface="Gisha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12" name="Google Shape;112;p19"/>
          <p:cNvSpPr txBox="1"/>
          <p:nvPr/>
        </p:nvSpPr>
        <p:spPr>
          <a:xfrm>
            <a:off x="818817" y="556387"/>
            <a:ext cx="5532000" cy="577200"/>
          </a:xfrm>
          <a:prstGeom prst="rect">
            <a:avLst/>
          </a:prstGeom>
          <a:solidFill>
            <a:srgbClr val="00529E"/>
          </a:solidFill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1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3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המפקח כמנטור</a:t>
            </a:r>
            <a:endParaRPr sz="11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20"/>
          <p:cNvSpPr txBox="1"/>
          <p:nvPr/>
        </p:nvSpPr>
        <p:spPr>
          <a:xfrm>
            <a:off x="-367975" y="556375"/>
            <a:ext cx="6718800" cy="443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1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3300">
              <a:solidFill>
                <a:schemeClr val="dk1"/>
              </a:solidFill>
              <a:latin typeface="Gisha"/>
              <a:ea typeface="Gisha"/>
              <a:cs typeface="Gisha"/>
              <a:sym typeface="Gisha"/>
            </a:endParaRPr>
          </a:p>
          <a:p>
            <a:pPr indent="0" lvl="0" marL="0" rtl="1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700">
              <a:solidFill>
                <a:schemeClr val="dk1"/>
              </a:solidFill>
              <a:latin typeface="Gisha"/>
              <a:ea typeface="Gisha"/>
              <a:cs typeface="Gisha"/>
              <a:sym typeface="Gisha"/>
            </a:endParaRPr>
          </a:p>
          <a:p>
            <a:pPr indent="0" lvl="0" marL="0" rtl="1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2700">
                <a:solidFill>
                  <a:schemeClr val="dk1"/>
                </a:solidFill>
                <a:latin typeface="Gisha"/>
                <a:ea typeface="Gisha"/>
                <a:cs typeface="Gisha"/>
                <a:sym typeface="Gisha"/>
              </a:rPr>
              <a:t> 23.10 (א' בחשון)</a:t>
            </a:r>
            <a:endParaRPr sz="2700">
              <a:solidFill>
                <a:schemeClr val="dk1"/>
              </a:solidFill>
              <a:latin typeface="Gisha"/>
              <a:ea typeface="Gisha"/>
              <a:cs typeface="Gisha"/>
              <a:sym typeface="Gisha"/>
            </a:endParaRPr>
          </a:p>
          <a:p>
            <a:pPr indent="0" lvl="0" marL="0" rtl="1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2700">
                <a:solidFill>
                  <a:schemeClr val="dk1"/>
                </a:solidFill>
                <a:latin typeface="Gisha"/>
                <a:ea typeface="Gisha"/>
                <a:cs typeface="Gisha"/>
                <a:sym typeface="Gisha"/>
              </a:rPr>
              <a:t>5.11 (י"ד בחשון)</a:t>
            </a:r>
            <a:endParaRPr sz="2700">
              <a:solidFill>
                <a:schemeClr val="dk1"/>
              </a:solidFill>
              <a:latin typeface="Gisha"/>
              <a:ea typeface="Gisha"/>
              <a:cs typeface="Gisha"/>
              <a:sym typeface="Gisha"/>
            </a:endParaRPr>
          </a:p>
          <a:p>
            <a:pPr indent="0" lvl="0" marL="0" rtl="1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2700">
                <a:solidFill>
                  <a:schemeClr val="dk1"/>
                </a:solidFill>
                <a:latin typeface="Gisha"/>
                <a:ea typeface="Gisha"/>
                <a:cs typeface="Gisha"/>
                <a:sym typeface="Gisha"/>
              </a:rPr>
              <a:t>6.11 (ט"ו בחשון)</a:t>
            </a:r>
            <a:endParaRPr sz="2700">
              <a:solidFill>
                <a:schemeClr val="dk1"/>
              </a:solidFill>
              <a:latin typeface="Gisha"/>
              <a:ea typeface="Gisha"/>
              <a:cs typeface="Gisha"/>
              <a:sym typeface="Gisha"/>
            </a:endParaRPr>
          </a:p>
          <a:p>
            <a:pPr indent="0" lvl="0" marL="0" rtl="1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2700">
                <a:solidFill>
                  <a:schemeClr val="dk1"/>
                </a:solidFill>
                <a:latin typeface="Gisha"/>
                <a:ea typeface="Gisha"/>
                <a:cs typeface="Gisha"/>
                <a:sym typeface="Gisha"/>
              </a:rPr>
              <a:t>27.11 (ז' בכסלו)</a:t>
            </a:r>
            <a:endParaRPr sz="2700">
              <a:solidFill>
                <a:schemeClr val="dk1"/>
              </a:solidFill>
              <a:latin typeface="Gisha"/>
              <a:ea typeface="Gisha"/>
              <a:cs typeface="Gisha"/>
              <a:sym typeface="Gisha"/>
            </a:endParaRPr>
          </a:p>
          <a:p>
            <a:pPr indent="0" lvl="0" marL="0" rtl="1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2700">
                <a:solidFill>
                  <a:schemeClr val="dk1"/>
                </a:solidFill>
                <a:latin typeface="Gisha"/>
                <a:ea typeface="Gisha"/>
                <a:cs typeface="Gisha"/>
                <a:sym typeface="Gisha"/>
              </a:rPr>
              <a:t>11.12 (כ"א בכסלו)</a:t>
            </a:r>
            <a:endParaRPr sz="2700">
              <a:solidFill>
                <a:schemeClr val="dk1"/>
              </a:solidFill>
              <a:latin typeface="Gisha"/>
              <a:ea typeface="Gisha"/>
              <a:cs typeface="Gisha"/>
              <a:sym typeface="Gisha"/>
            </a:endParaRPr>
          </a:p>
          <a:p>
            <a:pPr indent="0" lvl="0" marL="0" rtl="1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2700">
                <a:solidFill>
                  <a:schemeClr val="dk1"/>
                </a:solidFill>
                <a:latin typeface="Gisha"/>
                <a:ea typeface="Gisha"/>
                <a:cs typeface="Gisha"/>
                <a:sym typeface="Gisha"/>
              </a:rPr>
              <a:t>18.12 (כ"ח בכסלו) </a:t>
            </a:r>
            <a:endParaRPr sz="2700">
              <a:solidFill>
                <a:schemeClr val="dk1"/>
              </a:solidFill>
              <a:latin typeface="Gisha"/>
              <a:ea typeface="Gisha"/>
              <a:cs typeface="Gisha"/>
              <a:sym typeface="Gisha"/>
            </a:endParaRPr>
          </a:p>
          <a:p>
            <a:pPr indent="0" lvl="0" marL="0" rtl="1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2700">
                <a:solidFill>
                  <a:schemeClr val="dk1"/>
                </a:solidFill>
                <a:latin typeface="Gisha"/>
                <a:ea typeface="Gisha"/>
                <a:cs typeface="Gisha"/>
                <a:sym typeface="Gisha"/>
              </a:rPr>
              <a:t>1.1 (י"ב בטבת)</a:t>
            </a:r>
            <a:endParaRPr sz="2700">
              <a:solidFill>
                <a:schemeClr val="dk1"/>
              </a:solidFill>
              <a:latin typeface="Gisha"/>
              <a:ea typeface="Gisha"/>
              <a:cs typeface="Gisha"/>
              <a:sym typeface="Gisha"/>
            </a:endParaRPr>
          </a:p>
          <a:p>
            <a:pPr indent="0" lvl="0" marL="0" rtl="1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2700">
                <a:solidFill>
                  <a:schemeClr val="dk1"/>
                </a:solidFill>
                <a:latin typeface="Gisha"/>
                <a:ea typeface="Gisha"/>
                <a:cs typeface="Gisha"/>
                <a:sym typeface="Gisha"/>
              </a:rPr>
              <a:t>15.1 (כ"ו בטבת)</a:t>
            </a:r>
            <a:endParaRPr sz="2700">
              <a:solidFill>
                <a:srgbClr val="00529E"/>
              </a:solidFill>
            </a:endParaRPr>
          </a:p>
        </p:txBody>
      </p:sp>
      <p:sp>
        <p:nvSpPr>
          <p:cNvPr id="118" name="Google Shape;118;p20"/>
          <p:cNvSpPr txBox="1"/>
          <p:nvPr/>
        </p:nvSpPr>
        <p:spPr>
          <a:xfrm>
            <a:off x="7095875" y="1472850"/>
            <a:ext cx="2048100" cy="64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300">
                <a:solidFill>
                  <a:srgbClr val="00529E"/>
                </a:solidFill>
                <a:latin typeface="Gisha"/>
                <a:ea typeface="Gisha"/>
                <a:cs typeface="Gisha"/>
                <a:sym typeface="Gisha"/>
              </a:rPr>
              <a:t>מועדים</a:t>
            </a:r>
            <a:endParaRPr/>
          </a:p>
        </p:txBody>
      </p:sp>
      <p:sp>
        <p:nvSpPr>
          <p:cNvPr id="119" name="Google Shape;119;p20"/>
          <p:cNvSpPr txBox="1"/>
          <p:nvPr/>
        </p:nvSpPr>
        <p:spPr>
          <a:xfrm>
            <a:off x="818817" y="556387"/>
            <a:ext cx="5532000" cy="577200"/>
          </a:xfrm>
          <a:prstGeom prst="rect">
            <a:avLst/>
          </a:prstGeom>
          <a:solidFill>
            <a:srgbClr val="00529E"/>
          </a:solidFill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1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3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המפקח כמנטור</a:t>
            </a:r>
            <a:endParaRPr sz="11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4" name="Google Shape;124;p21"/>
          <p:cNvGrpSpPr/>
          <p:nvPr/>
        </p:nvGrpSpPr>
        <p:grpSpPr>
          <a:xfrm>
            <a:off x="7002768" y="-14"/>
            <a:ext cx="2141217" cy="960074"/>
            <a:chOff x="9794489" y="346571"/>
            <a:chExt cx="2397511" cy="1037133"/>
          </a:xfrm>
        </p:grpSpPr>
        <p:pic>
          <p:nvPicPr>
            <p:cNvPr id="125" name="Google Shape;125;p21"/>
            <p:cNvPicPr preferRelativeResize="0"/>
            <p:nvPr/>
          </p:nvPicPr>
          <p:blipFill rotWithShape="1">
            <a:blip r:embed="rId3">
              <a:alphaModFix/>
            </a:blip>
            <a:srcRect b="20803" l="10854" r="65272" t="42081"/>
            <a:stretch/>
          </p:blipFill>
          <p:spPr>
            <a:xfrm>
              <a:off x="11005352" y="346572"/>
              <a:ext cx="1186648" cy="103713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26" name="Google Shape;126;p21"/>
            <p:cNvPicPr preferRelativeResize="0"/>
            <p:nvPr/>
          </p:nvPicPr>
          <p:blipFill rotWithShape="1">
            <a:blip r:embed="rId3">
              <a:alphaModFix/>
            </a:blip>
            <a:srcRect b="20803" l="40966" r="29243" t="42081"/>
            <a:stretch/>
          </p:blipFill>
          <p:spPr>
            <a:xfrm>
              <a:off x="9794489" y="346571"/>
              <a:ext cx="1480686" cy="1037132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27" name="Google Shape;127;p21"/>
          <p:cNvSpPr txBox="1"/>
          <p:nvPr/>
        </p:nvSpPr>
        <p:spPr>
          <a:xfrm>
            <a:off x="7111800" y="1650775"/>
            <a:ext cx="2032200" cy="10851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300">
                <a:solidFill>
                  <a:srgbClr val="00529E"/>
                </a:solidFill>
                <a:latin typeface="Gisha"/>
                <a:ea typeface="Gisha"/>
                <a:cs typeface="Gisha"/>
                <a:sym typeface="Gisha"/>
              </a:rPr>
              <a:t>תיאום ציפיות</a:t>
            </a:r>
            <a:endParaRPr sz="1100"/>
          </a:p>
        </p:txBody>
      </p:sp>
      <p:sp>
        <p:nvSpPr>
          <p:cNvPr id="128" name="Google Shape;128;p21"/>
          <p:cNvSpPr txBox="1"/>
          <p:nvPr/>
        </p:nvSpPr>
        <p:spPr>
          <a:xfrm>
            <a:off x="686725" y="1436000"/>
            <a:ext cx="6018600" cy="23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914400" rtl="1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300">
              <a:solidFill>
                <a:schemeClr val="dk1"/>
              </a:solidFill>
            </a:endParaRPr>
          </a:p>
          <a:p>
            <a:pPr indent="0" lvl="0" marL="914400" rtl="1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000">
                <a:solidFill>
                  <a:srgbClr val="00529E"/>
                </a:solidFill>
                <a:latin typeface="Gisha"/>
                <a:ea typeface="Gisha"/>
                <a:cs typeface="Gisha"/>
                <a:sym typeface="Gisha"/>
              </a:rPr>
              <a:t>מה אני צריך/ה כדי להרגיש בטוח/ה בלמידה כאן?</a:t>
            </a:r>
            <a:endParaRPr sz="4300">
              <a:solidFill>
                <a:schemeClr val="dk1"/>
              </a:solidFill>
            </a:endParaRPr>
          </a:p>
          <a:p>
            <a:pPr indent="0" lvl="0" marL="914400" rtl="1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3300">
              <a:solidFill>
                <a:schemeClr val="dk1"/>
              </a:solidFill>
              <a:latin typeface="Gisha"/>
              <a:ea typeface="Gisha"/>
              <a:cs typeface="Gisha"/>
              <a:sym typeface="Gisha"/>
            </a:endParaRPr>
          </a:p>
        </p:txBody>
      </p:sp>
      <p:sp>
        <p:nvSpPr>
          <p:cNvPr id="129" name="Google Shape;129;p21"/>
          <p:cNvSpPr txBox="1"/>
          <p:nvPr/>
        </p:nvSpPr>
        <p:spPr>
          <a:xfrm>
            <a:off x="-673225" y="457800"/>
            <a:ext cx="7755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pic>
        <p:nvPicPr>
          <p:cNvPr id="130" name="Google Shape;130;p2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59325" y="4183425"/>
            <a:ext cx="1044406" cy="960075"/>
          </a:xfrm>
          <a:prstGeom prst="rect">
            <a:avLst/>
          </a:prstGeom>
          <a:noFill/>
          <a:ln>
            <a:noFill/>
          </a:ln>
        </p:spPr>
      </p:pic>
      <p:sp>
        <p:nvSpPr>
          <p:cNvPr id="131" name="Google Shape;131;p21"/>
          <p:cNvSpPr txBox="1"/>
          <p:nvPr/>
        </p:nvSpPr>
        <p:spPr>
          <a:xfrm>
            <a:off x="818817" y="556387"/>
            <a:ext cx="5532000" cy="577200"/>
          </a:xfrm>
          <a:prstGeom prst="rect">
            <a:avLst/>
          </a:prstGeom>
          <a:solidFill>
            <a:srgbClr val="00529E"/>
          </a:solidFill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1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3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המפקח כמנטור</a:t>
            </a:r>
            <a:endParaRPr sz="11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6" name="Google Shape;136;p22"/>
          <p:cNvGrpSpPr/>
          <p:nvPr/>
        </p:nvGrpSpPr>
        <p:grpSpPr>
          <a:xfrm>
            <a:off x="7002768" y="-14"/>
            <a:ext cx="2141217" cy="960074"/>
            <a:chOff x="9794489" y="346571"/>
            <a:chExt cx="2397511" cy="1037133"/>
          </a:xfrm>
        </p:grpSpPr>
        <p:pic>
          <p:nvPicPr>
            <p:cNvPr id="137" name="Google Shape;137;p22"/>
            <p:cNvPicPr preferRelativeResize="0"/>
            <p:nvPr/>
          </p:nvPicPr>
          <p:blipFill rotWithShape="1">
            <a:blip r:embed="rId3">
              <a:alphaModFix/>
            </a:blip>
            <a:srcRect b="20803" l="10854" r="65272" t="42081"/>
            <a:stretch/>
          </p:blipFill>
          <p:spPr>
            <a:xfrm>
              <a:off x="11005352" y="346572"/>
              <a:ext cx="1186648" cy="103713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38" name="Google Shape;138;p22"/>
            <p:cNvPicPr preferRelativeResize="0"/>
            <p:nvPr/>
          </p:nvPicPr>
          <p:blipFill rotWithShape="1">
            <a:blip r:embed="rId3">
              <a:alphaModFix/>
            </a:blip>
            <a:srcRect b="20803" l="40966" r="29243" t="42081"/>
            <a:stretch/>
          </p:blipFill>
          <p:spPr>
            <a:xfrm>
              <a:off x="9794489" y="346571"/>
              <a:ext cx="1480686" cy="1037132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39" name="Google Shape;139;p22"/>
          <p:cNvSpPr txBox="1"/>
          <p:nvPr/>
        </p:nvSpPr>
        <p:spPr>
          <a:xfrm>
            <a:off x="7111800" y="1650775"/>
            <a:ext cx="2032200" cy="1593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300">
                <a:solidFill>
                  <a:srgbClr val="00529E"/>
                </a:solidFill>
                <a:latin typeface="Gisha"/>
                <a:ea typeface="Gisha"/>
                <a:cs typeface="Gisha"/>
                <a:sym typeface="Gisha"/>
              </a:rPr>
              <a:t>מה זה מנטורינג?</a:t>
            </a:r>
            <a:endParaRPr b="1" sz="3300">
              <a:solidFill>
                <a:srgbClr val="00529E"/>
              </a:solidFill>
              <a:latin typeface="Gisha"/>
              <a:ea typeface="Gisha"/>
              <a:cs typeface="Gisha"/>
              <a:sym typeface="Gisha"/>
            </a:endParaRPr>
          </a:p>
          <a:p>
            <a:pPr indent="0" lvl="0" marL="0" marR="0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3300">
              <a:solidFill>
                <a:srgbClr val="00529E"/>
              </a:solidFill>
              <a:latin typeface="Gisha"/>
              <a:ea typeface="Gisha"/>
              <a:cs typeface="Gisha"/>
              <a:sym typeface="Gisha"/>
            </a:endParaRPr>
          </a:p>
        </p:txBody>
      </p:sp>
      <p:sp>
        <p:nvSpPr>
          <p:cNvPr id="140" name="Google Shape;140;p22"/>
          <p:cNvSpPr txBox="1"/>
          <p:nvPr/>
        </p:nvSpPr>
        <p:spPr>
          <a:xfrm>
            <a:off x="754025" y="1650775"/>
            <a:ext cx="6018600" cy="164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1" algn="r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200">
              <a:solidFill>
                <a:schemeClr val="dk1"/>
              </a:solidFill>
            </a:endParaRPr>
          </a:p>
          <a:p>
            <a:pPr indent="0" lvl="0" marL="914400" rtl="1" algn="r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3300">
                <a:solidFill>
                  <a:schemeClr val="dk1"/>
                </a:solidFill>
              </a:rPr>
              <a:t>מה חייב להתקיים כדי שנדע שזה מנטורינג?</a:t>
            </a:r>
            <a:endParaRPr b="1" sz="3300">
              <a:solidFill>
                <a:schemeClr val="dk1"/>
              </a:solidFill>
              <a:latin typeface="Gisha"/>
              <a:ea typeface="Gisha"/>
              <a:cs typeface="Gisha"/>
              <a:sym typeface="Gisha"/>
            </a:endParaRPr>
          </a:p>
        </p:txBody>
      </p:sp>
      <p:pic>
        <p:nvPicPr>
          <p:cNvPr id="141" name="Google Shape;141;p2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05548" y="4139348"/>
            <a:ext cx="1040925" cy="783225"/>
          </a:xfrm>
          <a:prstGeom prst="rect">
            <a:avLst/>
          </a:prstGeom>
          <a:noFill/>
          <a:ln>
            <a:noFill/>
          </a:ln>
        </p:spPr>
      </p:pic>
      <p:sp>
        <p:nvSpPr>
          <p:cNvPr id="142" name="Google Shape;142;p22"/>
          <p:cNvSpPr txBox="1"/>
          <p:nvPr/>
        </p:nvSpPr>
        <p:spPr>
          <a:xfrm>
            <a:off x="818817" y="556387"/>
            <a:ext cx="5532000" cy="577200"/>
          </a:xfrm>
          <a:prstGeom prst="rect">
            <a:avLst/>
          </a:prstGeom>
          <a:solidFill>
            <a:srgbClr val="00529E"/>
          </a:solidFill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1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3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המפקח כמנטור</a:t>
            </a:r>
            <a:endParaRPr sz="11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7" name="Google Shape;147;p23"/>
          <p:cNvGrpSpPr/>
          <p:nvPr/>
        </p:nvGrpSpPr>
        <p:grpSpPr>
          <a:xfrm>
            <a:off x="7002768" y="-14"/>
            <a:ext cx="2141217" cy="960074"/>
            <a:chOff x="9794489" y="346571"/>
            <a:chExt cx="2397511" cy="1037133"/>
          </a:xfrm>
        </p:grpSpPr>
        <p:pic>
          <p:nvPicPr>
            <p:cNvPr id="148" name="Google Shape;148;p23"/>
            <p:cNvPicPr preferRelativeResize="0"/>
            <p:nvPr/>
          </p:nvPicPr>
          <p:blipFill rotWithShape="1">
            <a:blip r:embed="rId3">
              <a:alphaModFix/>
            </a:blip>
            <a:srcRect b="20803" l="10854" r="65272" t="42081"/>
            <a:stretch/>
          </p:blipFill>
          <p:spPr>
            <a:xfrm>
              <a:off x="11005352" y="346572"/>
              <a:ext cx="1186648" cy="103713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49" name="Google Shape;149;p23"/>
            <p:cNvPicPr preferRelativeResize="0"/>
            <p:nvPr/>
          </p:nvPicPr>
          <p:blipFill rotWithShape="1">
            <a:blip r:embed="rId3">
              <a:alphaModFix/>
            </a:blip>
            <a:srcRect b="20803" l="40966" r="29243" t="42081"/>
            <a:stretch/>
          </p:blipFill>
          <p:spPr>
            <a:xfrm>
              <a:off x="9794489" y="346571"/>
              <a:ext cx="1480686" cy="1037132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50" name="Google Shape;150;p23"/>
          <p:cNvSpPr txBox="1"/>
          <p:nvPr/>
        </p:nvSpPr>
        <p:spPr>
          <a:xfrm>
            <a:off x="7111800" y="1650775"/>
            <a:ext cx="2032200" cy="1593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300">
                <a:solidFill>
                  <a:srgbClr val="00529E"/>
                </a:solidFill>
                <a:latin typeface="Gisha"/>
                <a:ea typeface="Gisha"/>
                <a:cs typeface="Gisha"/>
                <a:sym typeface="Gisha"/>
              </a:rPr>
              <a:t>מה זה מנטורינג?</a:t>
            </a:r>
            <a:endParaRPr b="1" sz="3300">
              <a:solidFill>
                <a:srgbClr val="00529E"/>
              </a:solidFill>
              <a:latin typeface="Gisha"/>
              <a:ea typeface="Gisha"/>
              <a:cs typeface="Gisha"/>
              <a:sym typeface="Gisha"/>
            </a:endParaRPr>
          </a:p>
          <a:p>
            <a:pPr indent="0" lvl="0" marL="0" marR="0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3300">
              <a:solidFill>
                <a:srgbClr val="00529E"/>
              </a:solidFill>
              <a:latin typeface="Gisha"/>
              <a:ea typeface="Gisha"/>
              <a:cs typeface="Gisha"/>
              <a:sym typeface="Gisha"/>
            </a:endParaRPr>
          </a:p>
        </p:txBody>
      </p:sp>
      <p:sp>
        <p:nvSpPr>
          <p:cNvPr id="151" name="Google Shape;151;p23"/>
          <p:cNvSpPr txBox="1"/>
          <p:nvPr/>
        </p:nvSpPr>
        <p:spPr>
          <a:xfrm>
            <a:off x="191675" y="74950"/>
            <a:ext cx="6437100" cy="5208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1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dk1"/>
                </a:solidFill>
              </a:rPr>
              <a:t> </a:t>
            </a:r>
            <a:r>
              <a:rPr i="1" lang="en" sz="2400">
                <a:solidFill>
                  <a:schemeClr val="dk1"/>
                </a:solidFill>
              </a:rPr>
              <a:t>"מנטורינג הוא מערכת יחסים התפתחותית בין אדם מנוסה יותר לאדם פחות מנוסה, הכוללת רכיבי תמיכה בקריירה ורכיבי תמיכה פסיכו־חברתית." </a:t>
            </a:r>
            <a:r>
              <a:rPr b="1" lang="en" sz="1600">
                <a:solidFill>
                  <a:schemeClr val="dk1"/>
                </a:solidFill>
              </a:rPr>
              <a:t>Kram, 1985</a:t>
            </a:r>
            <a:endParaRPr b="1" sz="1600">
              <a:solidFill>
                <a:schemeClr val="dk1"/>
              </a:solidFill>
            </a:endParaRPr>
          </a:p>
          <a:p>
            <a:pPr indent="0" lvl="0" marL="0" rtl="1" algn="r">
              <a:lnSpc>
                <a:spcPct val="115000"/>
              </a:lnSpc>
              <a:spcBef>
                <a:spcPts val="1100"/>
              </a:spcBef>
              <a:spcAft>
                <a:spcPts val="0"/>
              </a:spcAft>
              <a:buNone/>
            </a:pPr>
            <a:r>
              <a:t/>
            </a:r>
            <a:endParaRPr b="1" sz="300">
              <a:solidFill>
                <a:schemeClr val="dk1"/>
              </a:solidFill>
            </a:endParaRPr>
          </a:p>
          <a:p>
            <a:pPr indent="0" lvl="0" marL="0" rtl="1" algn="r">
              <a:lnSpc>
                <a:spcPct val="115000"/>
              </a:lnSpc>
              <a:spcBef>
                <a:spcPts val="110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dk1"/>
                </a:solidFill>
              </a:rPr>
              <a:t> </a:t>
            </a:r>
            <a:r>
              <a:rPr i="1" lang="en" sz="2400">
                <a:solidFill>
                  <a:schemeClr val="dk1"/>
                </a:solidFill>
              </a:rPr>
              <a:t>"מנטורינג הוא תהליך שבו אדם מנוסה יותר מעניק הנחיה, תמיכה ומשוב לאדם אחר, במטרה לקדם את למידתו והתפתחותו האישית והמקצועית."</a:t>
            </a:r>
            <a:r>
              <a:rPr b="1" lang="en" sz="2400">
                <a:solidFill>
                  <a:schemeClr val="dk1"/>
                </a:solidFill>
              </a:rPr>
              <a:t> </a:t>
            </a:r>
            <a:r>
              <a:rPr b="1" lang="en" sz="1600">
                <a:solidFill>
                  <a:schemeClr val="dk1"/>
                </a:solidFill>
              </a:rPr>
              <a:t>Clutterbuck, 2004</a:t>
            </a:r>
            <a:endParaRPr b="1" sz="1600">
              <a:solidFill>
                <a:schemeClr val="dk1"/>
              </a:solidFill>
            </a:endParaRPr>
          </a:p>
          <a:p>
            <a:pPr indent="0" lvl="0" marL="0" rtl="1" algn="r">
              <a:lnSpc>
                <a:spcPct val="115000"/>
              </a:lnSpc>
              <a:spcBef>
                <a:spcPts val="1100"/>
              </a:spcBef>
              <a:spcAft>
                <a:spcPts val="0"/>
              </a:spcAft>
              <a:buNone/>
            </a:pPr>
            <a:r>
              <a:t/>
            </a:r>
            <a:endParaRPr b="1" sz="300">
              <a:solidFill>
                <a:schemeClr val="dk1"/>
              </a:solidFill>
            </a:endParaRPr>
          </a:p>
          <a:p>
            <a:pPr indent="0" lvl="0" marL="0" rtl="1" algn="r">
              <a:lnSpc>
                <a:spcPct val="115000"/>
              </a:lnSpc>
              <a:spcBef>
                <a:spcPts val="1100"/>
              </a:spcBef>
              <a:spcAft>
                <a:spcPts val="1100"/>
              </a:spcAft>
              <a:buNone/>
            </a:pPr>
            <a:r>
              <a:rPr lang="en" sz="2400">
                <a:solidFill>
                  <a:schemeClr val="dk1"/>
                </a:solidFill>
              </a:rPr>
              <a:t> </a:t>
            </a:r>
            <a:r>
              <a:rPr i="1" lang="en" sz="2400">
                <a:solidFill>
                  <a:schemeClr val="dk1"/>
                </a:solidFill>
              </a:rPr>
              <a:t>"מנטורינג הוא דיאלוג שוויוני, מתמשך ואותנטי, המאפשר למנטי למצות את הפוטנציאל שלו באמצעות ליווי, עידוד ושיקוף מצד המנטור."</a:t>
            </a:r>
            <a:r>
              <a:rPr b="1" lang="en" sz="1600">
                <a:solidFill>
                  <a:schemeClr val="dk1"/>
                </a:solidFill>
              </a:rPr>
              <a:t>Megginson &amp; Clutterbuck, 2009</a:t>
            </a:r>
            <a:endParaRPr b="1" sz="16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6" name="Google Shape;156;p24"/>
          <p:cNvGrpSpPr/>
          <p:nvPr/>
        </p:nvGrpSpPr>
        <p:grpSpPr>
          <a:xfrm>
            <a:off x="7002768" y="-14"/>
            <a:ext cx="2141217" cy="960074"/>
            <a:chOff x="9794489" y="346571"/>
            <a:chExt cx="2397511" cy="1037133"/>
          </a:xfrm>
        </p:grpSpPr>
        <p:pic>
          <p:nvPicPr>
            <p:cNvPr id="157" name="Google Shape;157;p24"/>
            <p:cNvPicPr preferRelativeResize="0"/>
            <p:nvPr/>
          </p:nvPicPr>
          <p:blipFill rotWithShape="1">
            <a:blip r:embed="rId3">
              <a:alphaModFix/>
            </a:blip>
            <a:srcRect b="20803" l="10854" r="65272" t="42081"/>
            <a:stretch/>
          </p:blipFill>
          <p:spPr>
            <a:xfrm>
              <a:off x="11005352" y="346572"/>
              <a:ext cx="1186648" cy="103713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58" name="Google Shape;158;p24"/>
            <p:cNvPicPr preferRelativeResize="0"/>
            <p:nvPr/>
          </p:nvPicPr>
          <p:blipFill rotWithShape="1">
            <a:blip r:embed="rId3">
              <a:alphaModFix/>
            </a:blip>
            <a:srcRect b="20803" l="40966" r="29243" t="42081"/>
            <a:stretch/>
          </p:blipFill>
          <p:spPr>
            <a:xfrm>
              <a:off x="9794489" y="346571"/>
              <a:ext cx="1480686" cy="1037132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59" name="Google Shape;159;p24"/>
          <p:cNvSpPr txBox="1"/>
          <p:nvPr/>
        </p:nvSpPr>
        <p:spPr>
          <a:xfrm>
            <a:off x="7111800" y="1650775"/>
            <a:ext cx="2032200" cy="1593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300">
                <a:solidFill>
                  <a:srgbClr val="00529E"/>
                </a:solidFill>
                <a:latin typeface="Gisha"/>
                <a:ea typeface="Gisha"/>
                <a:cs typeface="Gisha"/>
                <a:sym typeface="Gisha"/>
              </a:rPr>
              <a:t>מה זה מנטורינג?</a:t>
            </a:r>
            <a:endParaRPr b="1" sz="3300">
              <a:solidFill>
                <a:srgbClr val="00529E"/>
              </a:solidFill>
              <a:latin typeface="Gisha"/>
              <a:ea typeface="Gisha"/>
              <a:cs typeface="Gisha"/>
              <a:sym typeface="Gisha"/>
            </a:endParaRPr>
          </a:p>
          <a:p>
            <a:pPr indent="0" lvl="0" marL="0" marR="0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3300">
              <a:solidFill>
                <a:srgbClr val="00529E"/>
              </a:solidFill>
              <a:latin typeface="Gisha"/>
              <a:ea typeface="Gisha"/>
              <a:cs typeface="Gisha"/>
              <a:sym typeface="Gisha"/>
            </a:endParaRPr>
          </a:p>
        </p:txBody>
      </p:sp>
      <p:sp>
        <p:nvSpPr>
          <p:cNvPr id="160" name="Google Shape;160;p24"/>
          <p:cNvSpPr txBox="1"/>
          <p:nvPr/>
        </p:nvSpPr>
        <p:spPr>
          <a:xfrm>
            <a:off x="191675" y="74950"/>
            <a:ext cx="6437100" cy="527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1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br>
              <a:rPr b="1" lang="en" sz="1100">
                <a:solidFill>
                  <a:schemeClr val="dk1"/>
                </a:solidFill>
              </a:rPr>
            </a:br>
            <a:r>
              <a:rPr lang="en" sz="1100">
                <a:solidFill>
                  <a:schemeClr val="dk1"/>
                </a:solidFill>
              </a:rPr>
              <a:t> </a:t>
            </a:r>
            <a:r>
              <a:rPr i="1" lang="en" sz="2400">
                <a:solidFill>
                  <a:schemeClr val="dk1"/>
                </a:solidFill>
              </a:rPr>
              <a:t>"מנטורינג הוא תהליך התפתחותי שבו אדם מנוסה יותר (המנטור) תומך באדם פחות מנוסה (המנטי) באמצעות שיתוף ידע, ניסיון ותובנות, במטרה לקדם את צמיחתו המקצועית והאישית".</a:t>
            </a:r>
            <a:br>
              <a:rPr i="1" lang="en" sz="2400">
                <a:solidFill>
                  <a:schemeClr val="dk1"/>
                </a:solidFill>
              </a:rPr>
            </a:br>
            <a:r>
              <a:rPr b="1" i="1" lang="en" sz="1600">
                <a:solidFill>
                  <a:schemeClr val="dk1"/>
                </a:solidFill>
              </a:rPr>
              <a:t> </a:t>
            </a:r>
            <a:r>
              <a:rPr b="1" lang="en" sz="1600">
                <a:solidFill>
                  <a:schemeClr val="dk1"/>
                </a:solidFill>
              </a:rPr>
              <a:t>(ICF, 2020 – Core Competencies &amp; Mentoring Guidelines)</a:t>
            </a:r>
            <a:br>
              <a:rPr i="1" lang="en" sz="2400">
                <a:solidFill>
                  <a:schemeClr val="dk1"/>
                </a:solidFill>
              </a:rPr>
            </a:br>
            <a:br>
              <a:rPr i="1" lang="en" sz="2400">
                <a:solidFill>
                  <a:schemeClr val="dk1"/>
                </a:solidFill>
              </a:rPr>
            </a:br>
            <a:r>
              <a:rPr i="1" lang="en" sz="2400">
                <a:solidFill>
                  <a:schemeClr val="dk1"/>
                </a:solidFill>
              </a:rPr>
              <a:t>"מנטורינג הוא מערכת יחסים  המבוססת על אמון הדדי, שבמסגרתה אדם בעל ניסיון מסייע לאחר לפתח את יכולותיו, זהותו המקצועית והביטחון העצמי שלו, באמצעות דיאלוג, שיקוף ולמידה משותפת".</a:t>
            </a:r>
            <a:br>
              <a:rPr i="1" lang="en" sz="2400">
                <a:solidFill>
                  <a:schemeClr val="dk1"/>
                </a:solidFill>
              </a:rPr>
            </a:br>
            <a:r>
              <a:rPr b="1" lang="en" sz="1600">
                <a:solidFill>
                  <a:schemeClr val="dk1"/>
                </a:solidFill>
              </a:rPr>
              <a:t> (EMCC Competence Framework, 2019)</a:t>
            </a:r>
            <a:endParaRPr b="1" sz="1600">
              <a:solidFill>
                <a:schemeClr val="dk1"/>
              </a:solidFill>
            </a:endParaRPr>
          </a:p>
          <a:p>
            <a:pPr indent="0" lvl="0" marL="0" rtl="1" algn="r">
              <a:lnSpc>
                <a:spcPct val="115000"/>
              </a:lnSpc>
              <a:spcBef>
                <a:spcPts val="1100"/>
              </a:spcBef>
              <a:spcAft>
                <a:spcPts val="1100"/>
              </a:spcAft>
              <a:buNone/>
            </a:pPr>
            <a:r>
              <a:t/>
            </a:r>
            <a:endParaRPr i="1" sz="24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5" name="Google Shape;165;p25"/>
          <p:cNvGrpSpPr/>
          <p:nvPr/>
        </p:nvGrpSpPr>
        <p:grpSpPr>
          <a:xfrm>
            <a:off x="7002768" y="-14"/>
            <a:ext cx="2141217" cy="960074"/>
            <a:chOff x="9794489" y="346571"/>
            <a:chExt cx="2397511" cy="1037133"/>
          </a:xfrm>
        </p:grpSpPr>
        <p:pic>
          <p:nvPicPr>
            <p:cNvPr id="166" name="Google Shape;166;p25"/>
            <p:cNvPicPr preferRelativeResize="0"/>
            <p:nvPr/>
          </p:nvPicPr>
          <p:blipFill rotWithShape="1">
            <a:blip r:embed="rId3">
              <a:alphaModFix/>
            </a:blip>
            <a:srcRect b="20803" l="10854" r="65272" t="42081"/>
            <a:stretch/>
          </p:blipFill>
          <p:spPr>
            <a:xfrm>
              <a:off x="11005352" y="346572"/>
              <a:ext cx="1186648" cy="103713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67" name="Google Shape;167;p25"/>
            <p:cNvPicPr preferRelativeResize="0"/>
            <p:nvPr/>
          </p:nvPicPr>
          <p:blipFill rotWithShape="1">
            <a:blip r:embed="rId3">
              <a:alphaModFix/>
            </a:blip>
            <a:srcRect b="20803" l="40966" r="29243" t="42081"/>
            <a:stretch/>
          </p:blipFill>
          <p:spPr>
            <a:xfrm>
              <a:off x="9794489" y="346571"/>
              <a:ext cx="1480686" cy="1037132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68" name="Google Shape;168;p25"/>
          <p:cNvSpPr txBox="1"/>
          <p:nvPr/>
        </p:nvSpPr>
        <p:spPr>
          <a:xfrm>
            <a:off x="7111800" y="1650775"/>
            <a:ext cx="2032200" cy="1593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300">
                <a:solidFill>
                  <a:srgbClr val="00529E"/>
                </a:solidFill>
                <a:latin typeface="Gisha"/>
                <a:ea typeface="Gisha"/>
                <a:cs typeface="Gisha"/>
                <a:sym typeface="Gisha"/>
              </a:rPr>
              <a:t>מה זה מנטורינג?</a:t>
            </a:r>
            <a:endParaRPr b="1" sz="3300">
              <a:solidFill>
                <a:srgbClr val="00529E"/>
              </a:solidFill>
              <a:latin typeface="Gisha"/>
              <a:ea typeface="Gisha"/>
              <a:cs typeface="Gisha"/>
              <a:sym typeface="Gisha"/>
            </a:endParaRPr>
          </a:p>
          <a:p>
            <a:pPr indent="0" lvl="0" marL="0" marR="0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3300">
              <a:solidFill>
                <a:srgbClr val="00529E"/>
              </a:solidFill>
              <a:latin typeface="Gisha"/>
              <a:ea typeface="Gisha"/>
              <a:cs typeface="Gisha"/>
              <a:sym typeface="Gisha"/>
            </a:endParaRPr>
          </a:p>
        </p:txBody>
      </p:sp>
      <p:sp>
        <p:nvSpPr>
          <p:cNvPr id="169" name="Google Shape;169;p25"/>
          <p:cNvSpPr txBox="1"/>
          <p:nvPr/>
        </p:nvSpPr>
        <p:spPr>
          <a:xfrm>
            <a:off x="191675" y="74950"/>
            <a:ext cx="6437100" cy="74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1" algn="r">
              <a:lnSpc>
                <a:spcPct val="115000"/>
              </a:lnSpc>
              <a:spcBef>
                <a:spcPts val="0"/>
              </a:spcBef>
              <a:spcAft>
                <a:spcPts val="1100"/>
              </a:spcAft>
              <a:buNone/>
            </a:pPr>
            <a:br>
              <a:rPr b="1" lang="en" sz="1100">
                <a:solidFill>
                  <a:schemeClr val="dk1"/>
                </a:solidFill>
              </a:rPr>
            </a:br>
            <a:endParaRPr i="1" sz="2400">
              <a:solidFill>
                <a:schemeClr val="dk1"/>
              </a:solidFill>
            </a:endParaRPr>
          </a:p>
        </p:txBody>
      </p:sp>
      <p:sp>
        <p:nvSpPr>
          <p:cNvPr id="170" name="Google Shape;170;p25"/>
          <p:cNvSpPr txBox="1"/>
          <p:nvPr/>
        </p:nvSpPr>
        <p:spPr>
          <a:xfrm>
            <a:off x="754025" y="1650775"/>
            <a:ext cx="6018600" cy="1860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914400" rtl="1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300">
              <a:solidFill>
                <a:schemeClr val="dk1"/>
              </a:solidFill>
            </a:endParaRPr>
          </a:p>
          <a:p>
            <a:pPr indent="0" lvl="0" marL="914400" rtl="1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300">
                <a:solidFill>
                  <a:schemeClr val="dk1"/>
                </a:solidFill>
              </a:rPr>
              <a:t> הגדרה משותפת</a:t>
            </a:r>
            <a:endParaRPr sz="3300">
              <a:solidFill>
                <a:schemeClr val="dk1"/>
              </a:solidFill>
            </a:endParaRPr>
          </a:p>
          <a:p>
            <a:pPr indent="0" lvl="0" marL="914400" rtl="1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3300">
              <a:solidFill>
                <a:schemeClr val="dk1"/>
              </a:solidFill>
              <a:latin typeface="Gisha"/>
              <a:ea typeface="Gisha"/>
              <a:cs typeface="Gisha"/>
              <a:sym typeface="Gisha"/>
            </a:endParaRPr>
          </a:p>
        </p:txBody>
      </p:sp>
      <p:pic>
        <p:nvPicPr>
          <p:cNvPr id="171" name="Google Shape;171;p2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59325" y="4183425"/>
            <a:ext cx="1044406" cy="960075"/>
          </a:xfrm>
          <a:prstGeom prst="rect">
            <a:avLst/>
          </a:prstGeom>
          <a:noFill/>
          <a:ln>
            <a:noFill/>
          </a:ln>
        </p:spPr>
      </p:pic>
      <p:sp>
        <p:nvSpPr>
          <p:cNvPr id="172" name="Google Shape;172;p25"/>
          <p:cNvSpPr txBox="1"/>
          <p:nvPr/>
        </p:nvSpPr>
        <p:spPr>
          <a:xfrm>
            <a:off x="818817" y="556387"/>
            <a:ext cx="5532000" cy="577200"/>
          </a:xfrm>
          <a:prstGeom prst="rect">
            <a:avLst/>
          </a:prstGeom>
          <a:solidFill>
            <a:srgbClr val="00529E"/>
          </a:solidFill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1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3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המפקח כמנטור</a:t>
            </a:r>
            <a:endParaRPr sz="110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7" name="Google Shape;177;p26"/>
          <p:cNvGrpSpPr/>
          <p:nvPr/>
        </p:nvGrpSpPr>
        <p:grpSpPr>
          <a:xfrm>
            <a:off x="7002768" y="-14"/>
            <a:ext cx="2141217" cy="960074"/>
            <a:chOff x="9794489" y="346571"/>
            <a:chExt cx="2397511" cy="1037133"/>
          </a:xfrm>
        </p:grpSpPr>
        <p:pic>
          <p:nvPicPr>
            <p:cNvPr id="178" name="Google Shape;178;p26"/>
            <p:cNvPicPr preferRelativeResize="0"/>
            <p:nvPr/>
          </p:nvPicPr>
          <p:blipFill rotWithShape="1">
            <a:blip r:embed="rId3">
              <a:alphaModFix/>
            </a:blip>
            <a:srcRect b="20803" l="10854" r="65272" t="42081"/>
            <a:stretch/>
          </p:blipFill>
          <p:spPr>
            <a:xfrm>
              <a:off x="11005352" y="346572"/>
              <a:ext cx="1186648" cy="103713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79" name="Google Shape;179;p26"/>
            <p:cNvPicPr preferRelativeResize="0"/>
            <p:nvPr/>
          </p:nvPicPr>
          <p:blipFill rotWithShape="1">
            <a:blip r:embed="rId3">
              <a:alphaModFix/>
            </a:blip>
            <a:srcRect b="20803" l="40966" r="29243" t="42081"/>
            <a:stretch/>
          </p:blipFill>
          <p:spPr>
            <a:xfrm>
              <a:off x="9794489" y="346571"/>
              <a:ext cx="1480686" cy="1037132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80" name="Google Shape;180;p26"/>
          <p:cNvSpPr txBox="1"/>
          <p:nvPr/>
        </p:nvSpPr>
        <p:spPr>
          <a:xfrm>
            <a:off x="7111800" y="1650775"/>
            <a:ext cx="2032200" cy="10851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300">
                <a:solidFill>
                  <a:srgbClr val="00529E"/>
                </a:solidFill>
                <a:latin typeface="Gisha"/>
                <a:ea typeface="Gisha"/>
                <a:cs typeface="Gisha"/>
                <a:sym typeface="Gisha"/>
              </a:rPr>
              <a:t>בין מפקח למנטור	</a:t>
            </a:r>
            <a:endParaRPr sz="1100"/>
          </a:p>
        </p:txBody>
      </p:sp>
      <p:pic>
        <p:nvPicPr>
          <p:cNvPr id="181" name="Google Shape;181;p2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59325" y="4183425"/>
            <a:ext cx="1044406" cy="960075"/>
          </a:xfrm>
          <a:prstGeom prst="rect">
            <a:avLst/>
          </a:prstGeom>
          <a:noFill/>
          <a:ln>
            <a:noFill/>
          </a:ln>
        </p:spPr>
      </p:pic>
      <p:sp>
        <p:nvSpPr>
          <p:cNvPr id="182" name="Google Shape;182;p26"/>
          <p:cNvSpPr txBox="1"/>
          <p:nvPr/>
        </p:nvSpPr>
        <p:spPr>
          <a:xfrm>
            <a:off x="818817" y="556387"/>
            <a:ext cx="5532000" cy="577200"/>
          </a:xfrm>
          <a:prstGeom prst="rect">
            <a:avLst/>
          </a:prstGeom>
          <a:solidFill>
            <a:srgbClr val="00529E"/>
          </a:solidFill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1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3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המפקח כמנטור</a:t>
            </a:r>
            <a:endParaRPr sz="110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7" name="Google Shape;187;p27"/>
          <p:cNvGrpSpPr/>
          <p:nvPr/>
        </p:nvGrpSpPr>
        <p:grpSpPr>
          <a:xfrm>
            <a:off x="7002768" y="-14"/>
            <a:ext cx="2141217" cy="960074"/>
            <a:chOff x="9794489" y="346571"/>
            <a:chExt cx="2397511" cy="1037133"/>
          </a:xfrm>
        </p:grpSpPr>
        <p:pic>
          <p:nvPicPr>
            <p:cNvPr id="188" name="Google Shape;188;p27"/>
            <p:cNvPicPr preferRelativeResize="0"/>
            <p:nvPr/>
          </p:nvPicPr>
          <p:blipFill rotWithShape="1">
            <a:blip r:embed="rId3">
              <a:alphaModFix/>
            </a:blip>
            <a:srcRect b="20803" l="10854" r="65272" t="42081"/>
            <a:stretch/>
          </p:blipFill>
          <p:spPr>
            <a:xfrm>
              <a:off x="11005352" y="346572"/>
              <a:ext cx="1186648" cy="103713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89" name="Google Shape;189;p27"/>
            <p:cNvPicPr preferRelativeResize="0"/>
            <p:nvPr/>
          </p:nvPicPr>
          <p:blipFill rotWithShape="1">
            <a:blip r:embed="rId3">
              <a:alphaModFix/>
            </a:blip>
            <a:srcRect b="20803" l="40966" r="29243" t="42081"/>
            <a:stretch/>
          </p:blipFill>
          <p:spPr>
            <a:xfrm>
              <a:off x="9794489" y="346571"/>
              <a:ext cx="1480686" cy="1037132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90" name="Google Shape;190;p27"/>
          <p:cNvSpPr txBox="1"/>
          <p:nvPr/>
        </p:nvSpPr>
        <p:spPr>
          <a:xfrm>
            <a:off x="7111800" y="1650775"/>
            <a:ext cx="2032200" cy="10851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300">
                <a:solidFill>
                  <a:srgbClr val="00529E"/>
                </a:solidFill>
                <a:latin typeface="Gisha"/>
                <a:ea typeface="Gisha"/>
                <a:cs typeface="Gisha"/>
                <a:sym typeface="Gisha"/>
              </a:rPr>
              <a:t>בין מפקח למנטור	</a:t>
            </a:r>
            <a:endParaRPr sz="1100"/>
          </a:p>
        </p:txBody>
      </p:sp>
      <p:graphicFrame>
        <p:nvGraphicFramePr>
          <p:cNvPr id="191" name="Google Shape;191;p27"/>
          <p:cNvGraphicFramePr/>
          <p:nvPr/>
        </p:nvGraphicFramePr>
        <p:xfrm>
          <a:off x="602050" y="40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{5127A9EC-7392-4C17-8BFB-D807CD288EEB}</a:tableStyleId>
              </a:tblPr>
              <a:tblGrid>
                <a:gridCol w="1577100"/>
                <a:gridCol w="1577100"/>
                <a:gridCol w="2652400"/>
              </a:tblGrid>
              <a:tr h="381000">
                <a:tc>
                  <a:txBody>
                    <a:bodyPr/>
                    <a:lstStyle/>
                    <a:p>
                      <a:pPr indent="0" lvl="0" marL="0" rtl="1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700"/>
                        <a:t>פיקוח</a:t>
                      </a:r>
                      <a:endParaRPr b="1" sz="17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1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700"/>
                        <a:t>מנטורינג</a:t>
                      </a:r>
                      <a:endParaRPr b="1" sz="17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1" algn="r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700"/>
                        <a:t>קטגוריה</a:t>
                      </a:r>
                      <a:endParaRPr b="1" sz="1700"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1" algn="r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/>
                        <a:t>מטרה עיקרית</a:t>
                      </a:r>
                      <a:endParaRPr sz="1600"/>
                    </a:p>
                  </a:txBody>
                  <a:tcPr marT="91425" marB="91425" marR="91425" marL="91425">
                    <a:lnB cap="flat" cmpd="sng" w="9525">
                      <a:solidFill>
                        <a:srgbClr val="4A86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1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1" algn="r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/>
                        <a:t>אופי הקשר</a:t>
                      </a:r>
                      <a:endParaRPr sz="1600"/>
                    </a:p>
                  </a:txBody>
                  <a:tcPr marT="91425" marB="91425" marR="91425" marL="91425">
                    <a:lnT cap="flat" cmpd="sng" w="9525">
                      <a:solidFill>
                        <a:srgbClr val="4A86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1" algn="r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/>
                        <a:t>מקור הסמכות</a:t>
                      </a:r>
                      <a:endParaRPr sz="1600"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1" algn="r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/>
                        <a:t>מדדי הצלחה</a:t>
                      </a:r>
                      <a:endParaRPr sz="1600"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1" algn="r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/>
                        <a:t>משך ותדירות</a:t>
                      </a:r>
                      <a:endParaRPr sz="1600"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1" algn="r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/>
                        <a:t>כלי עבודה</a:t>
                      </a:r>
                      <a:endParaRPr sz="1600"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1" algn="r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/>
                        <a:t>יחסי כוח</a:t>
                      </a:r>
                      <a:endParaRPr sz="1600"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1" algn="r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/>
                        <a:t>קוד אתי ומרחב שיח</a:t>
                      </a:r>
                      <a:endParaRPr sz="1600"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1" algn="r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/>
                        <a:t>תפיסת השגיאה</a:t>
                      </a:r>
                      <a:endParaRPr sz="1600"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1" algn="r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/>
                        <a:t>הקשר מוסדי</a:t>
                      </a:r>
                      <a:endParaRPr sz="1600"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1" algn="r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/>
                        <a:t>תוצאה</a:t>
                      </a:r>
                      <a:endParaRPr sz="1600"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6" name="Google Shape;196;p28"/>
          <p:cNvGrpSpPr/>
          <p:nvPr/>
        </p:nvGrpSpPr>
        <p:grpSpPr>
          <a:xfrm>
            <a:off x="7002768" y="-14"/>
            <a:ext cx="2141217" cy="960074"/>
            <a:chOff x="9794489" y="346571"/>
            <a:chExt cx="2397511" cy="1037133"/>
          </a:xfrm>
        </p:grpSpPr>
        <p:pic>
          <p:nvPicPr>
            <p:cNvPr id="197" name="Google Shape;197;p28"/>
            <p:cNvPicPr preferRelativeResize="0"/>
            <p:nvPr/>
          </p:nvPicPr>
          <p:blipFill rotWithShape="1">
            <a:blip r:embed="rId3">
              <a:alphaModFix/>
            </a:blip>
            <a:srcRect b="20803" l="10854" r="65272" t="42081"/>
            <a:stretch/>
          </p:blipFill>
          <p:spPr>
            <a:xfrm>
              <a:off x="11005352" y="346572"/>
              <a:ext cx="1186648" cy="103713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98" name="Google Shape;198;p28"/>
            <p:cNvPicPr preferRelativeResize="0"/>
            <p:nvPr/>
          </p:nvPicPr>
          <p:blipFill rotWithShape="1">
            <a:blip r:embed="rId3">
              <a:alphaModFix/>
            </a:blip>
            <a:srcRect b="20803" l="40966" r="29243" t="42081"/>
            <a:stretch/>
          </p:blipFill>
          <p:spPr>
            <a:xfrm>
              <a:off x="9794489" y="346571"/>
              <a:ext cx="1480686" cy="1037132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99" name="Google Shape;199;p28"/>
          <p:cNvSpPr txBox="1"/>
          <p:nvPr/>
        </p:nvSpPr>
        <p:spPr>
          <a:xfrm>
            <a:off x="818817" y="556387"/>
            <a:ext cx="5532000" cy="238500"/>
          </a:xfrm>
          <a:prstGeom prst="rect">
            <a:avLst/>
          </a:prstGeom>
          <a:solidFill>
            <a:srgbClr val="00529E"/>
          </a:solidFill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1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/>
          </a:p>
        </p:txBody>
      </p:sp>
      <p:sp>
        <p:nvSpPr>
          <p:cNvPr id="200" name="Google Shape;200;p28"/>
          <p:cNvSpPr txBox="1"/>
          <p:nvPr/>
        </p:nvSpPr>
        <p:spPr>
          <a:xfrm>
            <a:off x="7111800" y="1650775"/>
            <a:ext cx="2032200" cy="5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300">
                <a:solidFill>
                  <a:srgbClr val="00529E"/>
                </a:solidFill>
                <a:latin typeface="Gisha"/>
                <a:ea typeface="Gisha"/>
                <a:cs typeface="Gisha"/>
                <a:sym typeface="Gisha"/>
              </a:rPr>
              <a:t>סיכום</a:t>
            </a:r>
            <a:r>
              <a:rPr b="1" lang="en" sz="3300">
                <a:solidFill>
                  <a:srgbClr val="00529E"/>
                </a:solidFill>
                <a:latin typeface="Gisha"/>
                <a:ea typeface="Gisha"/>
                <a:cs typeface="Gisha"/>
                <a:sym typeface="Gisha"/>
              </a:rPr>
              <a:t>	</a:t>
            </a:r>
            <a:endParaRPr sz="1100"/>
          </a:p>
        </p:txBody>
      </p:sp>
      <p:sp>
        <p:nvSpPr>
          <p:cNvPr id="201" name="Google Shape;201;p28"/>
          <p:cNvSpPr txBox="1"/>
          <p:nvPr/>
        </p:nvSpPr>
        <p:spPr>
          <a:xfrm>
            <a:off x="203200" y="1641500"/>
            <a:ext cx="6350700" cy="203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93700" lvl="0" marL="457200" rtl="1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AutoNum type="arabicPeriod"/>
            </a:pPr>
            <a:r>
              <a:rPr lang="en" sz="2700">
                <a:solidFill>
                  <a:schemeClr val="dk1"/>
                </a:solidFill>
              </a:rPr>
              <a:t>מה חידש/חיזק לי היום לגבי תפקידי כמפקח־מנטור?</a:t>
            </a:r>
            <a:endParaRPr sz="2700">
              <a:solidFill>
                <a:schemeClr val="dk1"/>
              </a:solidFill>
            </a:endParaRPr>
          </a:p>
          <a:p>
            <a:pPr indent="-393700" lvl="0" marL="457200" rtl="1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AutoNum type="arabicPeriod"/>
            </a:pPr>
            <a:r>
              <a:rPr lang="en" sz="2700">
                <a:solidFill>
                  <a:schemeClr val="dk1"/>
                </a:solidFill>
              </a:rPr>
              <a:t>מה הדבר הקטן שאני לוקח איתי ליישום עד המפגש הבא ?</a:t>
            </a:r>
            <a:endParaRPr sz="2700">
              <a:solidFill>
                <a:schemeClr val="dk1"/>
              </a:solidFill>
            </a:endParaRPr>
          </a:p>
        </p:txBody>
      </p:sp>
      <p:pic>
        <p:nvPicPr>
          <p:cNvPr id="202" name="Google Shape;202;p2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1451739">
            <a:off x="152400" y="3827900"/>
            <a:ext cx="1540454" cy="1163200"/>
          </a:xfrm>
          <a:prstGeom prst="rect">
            <a:avLst/>
          </a:prstGeom>
          <a:noFill/>
          <a:ln>
            <a:noFill/>
          </a:ln>
        </p:spPr>
      </p:pic>
      <p:sp>
        <p:nvSpPr>
          <p:cNvPr id="203" name="Google Shape;203;p28"/>
          <p:cNvSpPr txBox="1"/>
          <p:nvPr/>
        </p:nvSpPr>
        <p:spPr>
          <a:xfrm>
            <a:off x="818817" y="556387"/>
            <a:ext cx="5532000" cy="577200"/>
          </a:xfrm>
          <a:prstGeom prst="rect">
            <a:avLst/>
          </a:prstGeom>
          <a:solidFill>
            <a:srgbClr val="00529E"/>
          </a:solidFill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1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3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המפקח כמנטור</a:t>
            </a:r>
            <a:endParaRPr sz="110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8" name="Google Shape;208;p29"/>
          <p:cNvGrpSpPr/>
          <p:nvPr/>
        </p:nvGrpSpPr>
        <p:grpSpPr>
          <a:xfrm>
            <a:off x="7002768" y="-14"/>
            <a:ext cx="2141217" cy="960074"/>
            <a:chOff x="9794489" y="346571"/>
            <a:chExt cx="2397511" cy="1037133"/>
          </a:xfrm>
        </p:grpSpPr>
        <p:pic>
          <p:nvPicPr>
            <p:cNvPr id="209" name="Google Shape;209;p29"/>
            <p:cNvPicPr preferRelativeResize="0"/>
            <p:nvPr/>
          </p:nvPicPr>
          <p:blipFill rotWithShape="1">
            <a:blip r:embed="rId3">
              <a:alphaModFix/>
            </a:blip>
            <a:srcRect b="20803" l="10854" r="65272" t="42081"/>
            <a:stretch/>
          </p:blipFill>
          <p:spPr>
            <a:xfrm>
              <a:off x="11005352" y="346572"/>
              <a:ext cx="1186648" cy="103713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10" name="Google Shape;210;p29"/>
            <p:cNvPicPr preferRelativeResize="0"/>
            <p:nvPr/>
          </p:nvPicPr>
          <p:blipFill rotWithShape="1">
            <a:blip r:embed="rId3">
              <a:alphaModFix/>
            </a:blip>
            <a:srcRect b="20803" l="40966" r="29243" t="42081"/>
            <a:stretch/>
          </p:blipFill>
          <p:spPr>
            <a:xfrm>
              <a:off x="9794489" y="346571"/>
              <a:ext cx="1480686" cy="1037132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11" name="Google Shape;211;p29"/>
          <p:cNvSpPr txBox="1"/>
          <p:nvPr/>
        </p:nvSpPr>
        <p:spPr>
          <a:xfrm>
            <a:off x="7111800" y="1650775"/>
            <a:ext cx="2032200" cy="5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300">
                <a:solidFill>
                  <a:srgbClr val="00529E"/>
                </a:solidFill>
                <a:latin typeface="Gisha"/>
                <a:ea typeface="Gisha"/>
                <a:cs typeface="Gisha"/>
                <a:sym typeface="Gisha"/>
              </a:rPr>
              <a:t>סיכום	</a:t>
            </a:r>
            <a:endParaRPr sz="1100"/>
          </a:p>
        </p:txBody>
      </p:sp>
      <p:pic>
        <p:nvPicPr>
          <p:cNvPr id="212" name="Google Shape;212;p2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387350" y="2062901"/>
            <a:ext cx="1736499" cy="1736499"/>
          </a:xfrm>
          <a:prstGeom prst="rect">
            <a:avLst/>
          </a:prstGeom>
          <a:noFill/>
          <a:ln>
            <a:noFill/>
          </a:ln>
        </p:spPr>
      </p:pic>
      <p:pic>
        <p:nvPicPr>
          <p:cNvPr id="213" name="Google Shape;213;p2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10800000">
            <a:off x="2472951" y="2419276"/>
            <a:ext cx="1736499" cy="1736499"/>
          </a:xfrm>
          <a:prstGeom prst="rect">
            <a:avLst/>
          </a:prstGeom>
          <a:noFill/>
          <a:ln>
            <a:noFill/>
          </a:ln>
        </p:spPr>
      </p:pic>
      <p:pic>
        <p:nvPicPr>
          <p:cNvPr id="214" name="Google Shape;214;p2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938100" y="2227975"/>
            <a:ext cx="1356950" cy="2119100"/>
          </a:xfrm>
          <a:prstGeom prst="rect">
            <a:avLst/>
          </a:prstGeom>
          <a:noFill/>
          <a:ln>
            <a:noFill/>
          </a:ln>
        </p:spPr>
      </p:pic>
      <p:sp>
        <p:nvSpPr>
          <p:cNvPr id="215" name="Google Shape;215;p29"/>
          <p:cNvSpPr txBox="1"/>
          <p:nvPr/>
        </p:nvSpPr>
        <p:spPr>
          <a:xfrm>
            <a:off x="818817" y="556387"/>
            <a:ext cx="5532000" cy="577200"/>
          </a:xfrm>
          <a:prstGeom prst="rect">
            <a:avLst/>
          </a:prstGeom>
          <a:solidFill>
            <a:srgbClr val="00529E"/>
          </a:solidFill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1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3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המפקח כמנטור</a:t>
            </a:r>
            <a:endParaRPr sz="110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30"/>
          <p:cNvSpPr txBox="1"/>
          <p:nvPr>
            <p:ph type="title"/>
          </p:nvPr>
        </p:nvSpPr>
        <p:spPr>
          <a:xfrm>
            <a:off x="7423484" y="702926"/>
            <a:ext cx="1535400" cy="33615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31"/>
          <p:cNvSpPr txBox="1"/>
          <p:nvPr>
            <p:ph type="title"/>
          </p:nvPr>
        </p:nvSpPr>
        <p:spPr>
          <a:xfrm>
            <a:off x="7423484" y="702926"/>
            <a:ext cx="1535400" cy="33615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