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y="5143500" cx="9144000"/>
  <p:notesSz cx="6858000" cy="9144000"/>
  <p:embeddedFontLst>
    <p:embeddedFont>
      <p:font typeface="Tahoma"/>
      <p:regular r:id="rId39"/>
      <p:bold r:id="rId40"/>
    </p:embeddedFont>
    <p:embeddedFont>
      <p:font typeface="Oi"/>
      <p:regular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574158E-5F5D-4B13-9335-682B654692A7}">
  <a:tblStyle styleId="{7574158E-5F5D-4B13-9335-682B654692A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Tahoma-bold.fntdata"/><Relationship Id="rId20" Type="http://schemas.openxmlformats.org/officeDocument/2006/relationships/slide" Target="slides/slide14.xml"/><Relationship Id="rId41" Type="http://schemas.openxmlformats.org/officeDocument/2006/relationships/font" Target="fonts/Oi-regular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Tahoma-regular.fntdata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021675a0a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021675a0a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0300adb93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0300adb93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6c348c5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6c348c5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06c348c5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06c348c5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06c348c5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06c348c5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06c348c53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06c348c53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06c348c53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06c348c5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6c348c5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06c348c5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6fd81192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6fd81192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6fd81192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6fd81192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6fd81192b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6fd81192b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fd81192b7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6fd81192b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fd81192b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fd81192b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fd81192b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6fd81192b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6fd81192b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6fd81192b7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021675a0a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021675a0a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06c348c53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06c348c53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06c348c53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06c348c53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a06c348c53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a06c348c53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06c348c53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06c348c5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06c348c5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06c348c5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06c348c53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06c348c53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06c348c53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06c348c53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06c348c53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06c348c53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06c348c53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06c348c53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06c348c5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a06c348c5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06c348c53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06c348c53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06c348c53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06c348c53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06c348c53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06c348c53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06c348c53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06c348c53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06c348c53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a06c348c53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Section 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6656" y="315468"/>
            <a:ext cx="4398300" cy="2715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/>
          <p:nvPr>
            <p:ph idx="2" type="pic"/>
          </p:nvPr>
        </p:nvSpPr>
        <p:spPr>
          <a:xfrm>
            <a:off x="5719477" y="-6858"/>
            <a:ext cx="3436200" cy="49518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3"/>
          <p:cNvSpPr/>
          <p:nvPr/>
        </p:nvSpPr>
        <p:spPr>
          <a:xfrm>
            <a:off x="0" y="4937760"/>
            <a:ext cx="5715000" cy="205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">
  <p:cSld name="Introduc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669798" y="54389"/>
            <a:ext cx="6223200" cy="9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649223" y="1554480"/>
            <a:ext cx="6243000" cy="26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1pPr>
            <a:lvl2pPr indent="-323850" lvl="1" marL="914400" algn="l">
              <a:lnSpc>
                <a:spcPct val="12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2pPr>
            <a:lvl3pPr indent="-323850" lvl="2" marL="13716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3pPr>
            <a:lvl4pPr indent="-323850" lvl="3" marL="18288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4pPr>
            <a:lvl5pPr indent="-323850" lvl="4" marL="228600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683514" y="4684967"/>
            <a:ext cx="2002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l">
              <a:spcBef>
                <a:spcPts val="0"/>
              </a:spcBef>
              <a:buNone/>
              <a:defRPr b="1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854646" y="4684967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pic>
        <p:nvPicPr>
          <p:cNvPr id="59" name="Google Shape;59;p14"/>
          <p:cNvPicPr preferRelativeResize="0"/>
          <p:nvPr/>
        </p:nvPicPr>
        <p:blipFill rotWithShape="1">
          <a:blip r:embed="rId2">
            <a:alphaModFix/>
          </a:blip>
          <a:srcRect b="3865" l="1588" r="26225" t="0"/>
          <a:stretch/>
        </p:blipFill>
        <p:spPr>
          <a:xfrm>
            <a:off x="7061597" y="198522"/>
            <a:ext cx="2082404" cy="49449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1">
                <a:solidFill>
                  <a:srgbClr val="660066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/>
            </a:lvl1pPr>
            <a:lvl2pPr indent="-406400" lvl="1" marL="914400" rtl="1" algn="r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/>
            </a:lvl2pPr>
            <a:lvl3pPr indent="-381000" lvl="2" marL="1371600" rtl="1" algn="r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■"/>
              <a:defRPr/>
            </a:lvl3pPr>
            <a:lvl4pPr indent="-355600" lvl="3" marL="18288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rtl="1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hyperlink" Target="https://youtu.be/pZwvrxVavnQhttps://youtu.be/pZwvrxVavnQ" TargetMode="External"/><Relationship Id="rId5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קוד אתי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שאילת שאלות מקדמות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בחירת המנטי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חוזה מנטור-מנטי וגלגל החיים</a:t>
            </a:r>
            <a:endParaRPr sz="2100">
              <a:solidFill>
                <a:srgbClr val="000000"/>
              </a:solidFill>
            </a:endParaRPr>
          </a:p>
          <a:p>
            <a:pPr indent="0" lvl="0" marL="0" rtl="1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</a:rPr>
              <a:t>סיכום וסיום</a:t>
            </a:r>
            <a:endParaRPr sz="2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/>
          <p:nvPr/>
        </p:nvSpPr>
        <p:spPr>
          <a:xfrm>
            <a:off x="1290850" y="293025"/>
            <a:ext cx="5621700" cy="437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8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לו"ז</a:t>
            </a:r>
            <a:endParaRPr b="1" sz="3300">
              <a:solidFill>
                <a:srgbClr val="F3F3F3"/>
              </a:solidFill>
              <a:latin typeface="Gisha"/>
              <a:ea typeface="Gisha"/>
              <a:cs typeface="Gisha"/>
              <a:sym typeface="Gisha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מפגש 3</a:t>
            </a:r>
            <a:endParaRPr>
              <a:solidFill>
                <a:srgbClr val="F3F3F3"/>
              </a:solidFill>
            </a:endParaRPr>
          </a:p>
        </p:txBody>
      </p:sp>
      <p:graphicFrame>
        <p:nvGraphicFramePr>
          <p:cNvPr id="87" name="Google Shape;87;p18"/>
          <p:cNvGraphicFramePr/>
          <p:nvPr/>
        </p:nvGraphicFramePr>
        <p:xfrm>
          <a:off x="1087263" y="367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{7574158E-5F5D-4B13-9335-682B654692A7}</a:tableStyleId>
              </a:tblPr>
              <a:tblGrid>
                <a:gridCol w="3890425"/>
                <a:gridCol w="1731150"/>
              </a:tblGrid>
              <a:tr h="156425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פתיחת יום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9:00-9:30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קוד אתי 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19:30-10:30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 הפסקה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10:30-10:45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5175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שאילת שאלות מקדמות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10:45-11:30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בחירת מנטי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11:30-12:30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755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הפסקה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12:30-13:15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הסכמה לליווי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13:15-13:45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חוזה מנטור מנטי 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13:45-14:15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b="1" lang="en" sz="2000">
                          <a:solidFill>
                            <a:srgbClr val="00529E"/>
                          </a:solidFill>
                          <a:latin typeface="Gisha"/>
                          <a:ea typeface="Gisha"/>
                          <a:cs typeface="Gisha"/>
                          <a:sym typeface="Gisha"/>
                        </a:rPr>
                        <a:t>סיכום</a:t>
                      </a:r>
                      <a:endParaRPr b="1" sz="2000">
                        <a:solidFill>
                          <a:srgbClr val="00529E"/>
                        </a:solidFill>
                        <a:latin typeface="Gisha"/>
                        <a:ea typeface="Gisha"/>
                        <a:cs typeface="Gisha"/>
                        <a:sym typeface="Gisha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1" algn="r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  <a:buNone/>
                      </a:pPr>
                      <a:r>
                        <a:rPr lang="en" sz="1600"/>
                        <a:t>14:15-15:00</a:t>
                      </a:r>
                      <a:endParaRPr sz="1600"/>
                    </a:p>
                  </a:txBody>
                  <a:tcPr marT="63500" marB="63500" marR="63500" marL="63500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9025" y="1017725"/>
            <a:ext cx="3505025" cy="296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01" name="Google Shape;101;p2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0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03" name="Google Shape;103;p20"/>
          <p:cNvSpPr txBox="1"/>
          <p:nvPr/>
        </p:nvSpPr>
        <p:spPr>
          <a:xfrm>
            <a:off x="606875" y="817050"/>
            <a:ext cx="590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קוד אתי - מטרה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אתי במנטורינג נועד להבטיח מערכת יחסים מקצועית, בטוחה ואמינה בין המנטור למנטי.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מטרתו לסמן כיוון, 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להגדיר גבולות, אחריות</a:t>
            </a:r>
            <a:b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3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ונורמות התנהגות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311700" y="761900"/>
            <a:ext cx="66531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במכון אבני ראשה רואים במנהל (המנטי) אדם יצירתי, בעל תושייה ושלם מטבעו, אין בו דבר שיש לתקן.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המנטי הוא בעל האחריות המלאה לתהליך, לסדר היום ולתוצאות.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המנטור תומך בו באמצעות שאלות מעוררות חשיבה, הקשבה פעילה וליווי גמיש המכוון להשגת יעדיו האישיים והמקצועיים.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הקשר המנטורי מתנהל כשותפות לומדת – דיאלוגית, שוויונית, ומבוססת אמון.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2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191500" y="445025"/>
            <a:ext cx="6598500" cy="44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AutoNum type="arabicPeriod"/>
            </a:pP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1.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שמירה על סודיות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כל מידע שהמנטי משתף בתהליך נשמר חסוי, ואינו נמסר לאחרים אלא בהסכמתו המפורשת.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2.</a:t>
            </a:r>
            <a:r>
              <a:rPr b="1" lang="en" sz="2400">
                <a:solidFill>
                  <a:srgbClr val="3C78D8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כבוד הדדי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הקשר המנטורי מבוסס על הקשבה, שוויון, מתן מקום לדעות שונות ויחס אנושי מכבד.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3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גבולות </a:t>
            </a:r>
            <a:r>
              <a:rPr b="1" lang="en" sz="24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תפקיד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איננו מטפל, פסיכולוג או יועץ משפטי. עליו לזהות מצבים המחייבים הפניה לגורם מקצועי מתאים.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4</a:t>
            </a:r>
            <a:r>
              <a:rPr lang="en" sz="1800">
                <a:solidFill>
                  <a:schemeClr val="dk1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. </a:t>
            </a:r>
            <a:r>
              <a:rPr b="1" lang="en" sz="2400">
                <a:solidFill>
                  <a:srgbClr val="00529E"/>
                </a:solidFill>
                <a:highlight>
                  <a:schemeClr val="lt1"/>
                </a:highlight>
                <a:latin typeface="Tahoma"/>
                <a:ea typeface="Tahoma"/>
                <a:cs typeface="Tahoma"/>
                <a:sym typeface="Tahoma"/>
              </a:rPr>
              <a:t>אחריות מקצועית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פועל ביושרה, מקפיד על סטנדרטים מקצועיים, וממשיך להתפתח ולשפר את כישוריו באופן מתמיד.</a:t>
            </a:r>
            <a:br>
              <a:rPr lang="en" sz="18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/>
          </a:p>
        </p:txBody>
      </p:sp>
      <p:pic>
        <p:nvPicPr>
          <p:cNvPr id="122" name="Google Shape;12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לוז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201263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311700" y="259925"/>
            <a:ext cx="65574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5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. הימנעות מניגוד עניינים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יש להימנע מיצירת תלות, קשרים עסקיים או אינטרסים אישיים שאינם חלק ממטרות התהליך.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העצמת עצמאות המנטי</a:t>
            </a:r>
            <a:br>
              <a:rPr lang="en" sz="1600">
                <a:solidFill>
                  <a:schemeClr val="dk1"/>
                </a:solidFill>
                <a:highlight>
                  <a:srgbClr val="00529E"/>
                </a:highlight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מסייע למנטי לגבש את החלטותיו, אך אינו מחליט בשמו. האחריות לפעולה נשארת בידי המנטי.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7.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שקיפות והסכמה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בתחילת התהליך יש להבהיר במשותף את מטרות הליווי, משכו, תדירות המפגשים, וכללי הסודיות וההתנהלות.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8. </a:t>
            </a:r>
            <a:r>
              <a:rPr b="1" lang="en" sz="2200">
                <a:solidFill>
                  <a:srgbClr val="00529E"/>
                </a:solidFill>
                <a:latin typeface="Tahoma"/>
                <a:ea typeface="Tahoma"/>
                <a:cs typeface="Tahoma"/>
                <a:sym typeface="Tahoma"/>
              </a:rPr>
              <a:t>רגישות וגמישות תרבותית</a:t>
            </a:r>
            <a:b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r>
              <a:rPr lang="en" sz="1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המנטור נדרש לגישה פתוחה ולא שיפוטית, תוך הימנעות מהשלכת ערכיו האישיים על התהליך ומתוך כבוד לרקע התרבותי של המנטי.</a:t>
            </a:r>
            <a:br>
              <a:rPr lang="en" sz="1600">
                <a:solidFill>
                  <a:schemeClr val="dk1"/>
                </a:solidFill>
                <a:latin typeface="David"/>
                <a:ea typeface="David"/>
                <a:cs typeface="David"/>
                <a:sym typeface="David"/>
              </a:rPr>
            </a:br>
            <a:endParaRPr sz="1200"/>
          </a:p>
        </p:txBody>
      </p:sp>
      <p:pic>
        <p:nvPicPr>
          <p:cNvPr id="131" name="Google Shape;13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1100" y="2114125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4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>
          <a:xfrm>
            <a:off x="7405575" y="761900"/>
            <a:ext cx="1639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138" name="Google Shape;138;p24"/>
          <p:cNvSpPr txBox="1"/>
          <p:nvPr/>
        </p:nvSpPr>
        <p:spPr>
          <a:xfrm>
            <a:off x="217725" y="1748525"/>
            <a:ext cx="6585900" cy="18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</a:rPr>
              <a:t>🟢 </a:t>
            </a: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סעיפים שמדברים אלינו מאוד.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🔵 סעיפים שנראים לו מאתגרים ליישום.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🔴 סעיפים שאינו מזדהה עמם או סבור שאינם ישימים בהקשר שלנו</a:t>
            </a:r>
            <a:r>
              <a:rPr b="1"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</a:t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39" name="Google Shape;139;p24"/>
          <p:cNvSpPr txBox="1"/>
          <p:nvPr/>
        </p:nvSpPr>
        <p:spPr>
          <a:xfrm>
            <a:off x="1379825" y="740550"/>
            <a:ext cx="3000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0529E"/>
                </a:solidFill>
                <a:latin typeface="Gisha"/>
                <a:ea typeface="Gisha"/>
                <a:cs typeface="Gisha"/>
                <a:sym typeface="Gisha"/>
              </a:rPr>
              <a:t>קוד אתי</a:t>
            </a:r>
            <a:endParaRPr sz="3000"/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5713" y="2196200"/>
            <a:ext cx="1868450" cy="15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אם ובת מבצעות יוגה" id="145" name="Google Shape;14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87" y="0"/>
            <a:ext cx="805522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5"/>
          <p:cNvSpPr txBox="1"/>
          <p:nvPr>
            <p:ph type="title"/>
          </p:nvPr>
        </p:nvSpPr>
        <p:spPr>
          <a:xfrm>
            <a:off x="2686050" y="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solidFill>
                  <a:schemeClr val="lt1"/>
                </a:solidFill>
                <a:latin typeface="Oi"/>
                <a:ea typeface="Oi"/>
                <a:cs typeface="Oi"/>
                <a:sym typeface="Oi"/>
              </a:rPr>
              <a:t>הקשבה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/>
        </p:nvSpPr>
        <p:spPr>
          <a:xfrm>
            <a:off x="6144000" y="2131725"/>
            <a:ext cx="3000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אם יכולתי לבחור את הקריירה שלי מחדש מה הייתי בוחר/ת?</a:t>
            </a:r>
            <a:endParaRPr b="1" sz="250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2800"/>
              <a:t>תרגול הקשבה 1</a:t>
            </a:r>
            <a:endParaRPr/>
          </a:p>
        </p:txBody>
      </p:sp>
      <p:sp>
        <p:nvSpPr>
          <p:cNvPr id="158" name="Google Shape;158;p27"/>
          <p:cNvSpPr txBox="1"/>
          <p:nvPr/>
        </p:nvSpPr>
        <p:spPr>
          <a:xfrm>
            <a:off x="311700" y="1208225"/>
            <a:ext cx="4069800" cy="32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על מה חשבתי כשהצד השני דיבר?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9650" y="2370724"/>
            <a:ext cx="3478000" cy="243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 rotWithShape="1">
          <a:blip r:embed="rId4">
            <a:alphaModFix/>
          </a:blip>
          <a:srcRect b="39650" l="22059" r="27931" t="2610"/>
          <a:stretch/>
        </p:blipFill>
        <p:spPr>
          <a:xfrm>
            <a:off x="0" y="3285400"/>
            <a:ext cx="2962227" cy="342002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/>
          <p:nvPr/>
        </p:nvSpPr>
        <p:spPr>
          <a:xfrm>
            <a:off x="1279325" y="2625598"/>
            <a:ext cx="936600" cy="465600"/>
          </a:xfrm>
          <a:prstGeom prst="wedgeEllipseCallout">
            <a:avLst>
              <a:gd fmla="val 17548" name="adj1"/>
              <a:gd fmla="val 273894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0" y="508997"/>
            <a:ext cx="1696500" cy="1250100"/>
          </a:xfrm>
          <a:prstGeom prst="cloudCallout">
            <a:avLst>
              <a:gd fmla="val -1976" name="adj1"/>
              <a:gd fmla="val 208714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מה זה אומר לגבי?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8850" y="2504450"/>
            <a:ext cx="1762300" cy="132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9"/>
          <p:cNvPicPr preferRelativeResize="0"/>
          <p:nvPr/>
        </p:nvPicPr>
        <p:blipFill rotWithShape="1">
          <a:blip r:embed="rId4">
            <a:alphaModFix/>
          </a:blip>
          <a:srcRect b="40377" l="16808" r="16441" t="2293"/>
          <a:stretch/>
        </p:blipFill>
        <p:spPr>
          <a:xfrm>
            <a:off x="0" y="3015333"/>
            <a:ext cx="3120801" cy="268021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9"/>
          <p:cNvSpPr/>
          <p:nvPr/>
        </p:nvSpPr>
        <p:spPr>
          <a:xfrm>
            <a:off x="1430175" y="2727760"/>
            <a:ext cx="936600" cy="432300"/>
          </a:xfrm>
          <a:prstGeom prst="wedgeEllipseCallout">
            <a:avLst>
              <a:gd fmla="val 27320" name="adj1"/>
              <a:gd fmla="val 163085" name="adj2"/>
            </a:avLst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9"/>
          <p:cNvSpPr/>
          <p:nvPr/>
        </p:nvSpPr>
        <p:spPr>
          <a:xfrm>
            <a:off x="119925" y="1"/>
            <a:ext cx="1751700" cy="1602300"/>
          </a:xfrm>
          <a:prstGeom prst="cloudCallout">
            <a:avLst>
              <a:gd fmla="val -6883" name="adj1"/>
              <a:gd fmla="val 133193" name="adj2"/>
            </a:avLst>
          </a:prstGeom>
          <a:noFill/>
          <a:ln cap="rnd" cmpd="sng" w="28575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אני רוצה לשמוע מה שה</a:t>
            </a:r>
            <a:r>
              <a:rPr lang="en" sz="2100">
                <a:solidFill>
                  <a:schemeClr val="dk1"/>
                </a:solidFill>
              </a:rPr>
              <a:t>י</a:t>
            </a: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א אומרת</a:t>
            </a: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/>
        </p:nvSpPr>
        <p:spPr>
          <a:xfrm>
            <a:off x="6144000" y="584200"/>
            <a:ext cx="2811600" cy="24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i="1" lang="en" sz="340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על מה אני רוצה לשים לב יותר כמנטור השנה?”</a:t>
            </a:r>
            <a:endParaRPr i="1" sz="3600"/>
          </a:p>
        </p:txBody>
      </p:sp>
      <p:pic>
        <p:nvPicPr>
          <p:cNvPr id="196" name="Google Shape;19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25" y="406748"/>
            <a:ext cx="5970575" cy="41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uestions - Free of Charge Creative Commons Handwriting image"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8738025" cy="58253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33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3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08" name="Google Shape;208;p33"/>
          <p:cNvSpPr txBox="1"/>
          <p:nvPr>
            <p:ph idx="4294967295" type="ctrTitle"/>
          </p:nvPr>
        </p:nvSpPr>
        <p:spPr>
          <a:xfrm>
            <a:off x="1652304" y="991625"/>
            <a:ext cx="3988500" cy="20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ahoma"/>
                <a:ea typeface="Tahoma"/>
                <a:cs typeface="Tahoma"/>
                <a:sym typeface="Tahoma"/>
              </a:rPr>
              <a:t>תרגיל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09" name="Google Shape;209;p33"/>
          <p:cNvSpPr txBox="1"/>
          <p:nvPr>
            <p:ph idx="4294967295" type="subTitle"/>
          </p:nvPr>
        </p:nvSpPr>
        <p:spPr>
          <a:xfrm>
            <a:off x="790500" y="2423725"/>
            <a:ext cx="43854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latin typeface="Tahoma"/>
                <a:ea typeface="Tahoma"/>
                <a:cs typeface="Tahoma"/>
                <a:sym typeface="Tahoma"/>
              </a:rPr>
              <a:t>אתגר פיקוחי שאני מתלבט/ת בו</a:t>
            </a:r>
            <a:endParaRPr sz="23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0" name="Google Shape;21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4399" y="1471175"/>
            <a:ext cx="2349999" cy="2311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4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4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17" name="Google Shape;217;p34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34"/>
          <p:cNvSpPr txBox="1"/>
          <p:nvPr>
            <p:ph idx="4294967295" type="ctrTitle"/>
          </p:nvPr>
        </p:nvSpPr>
        <p:spPr>
          <a:xfrm>
            <a:off x="1748175" y="0"/>
            <a:ext cx="3988500" cy="82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latin typeface="Tahoma"/>
                <a:ea typeface="Tahoma"/>
                <a:cs typeface="Tahoma"/>
                <a:sym typeface="Tahoma"/>
              </a:rPr>
              <a:t>המלצות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19" name="Google Shape;21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574" y="1279650"/>
            <a:ext cx="2349999" cy="2311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4"/>
          <p:cNvSpPr txBox="1"/>
          <p:nvPr/>
        </p:nvSpPr>
        <p:spPr>
          <a:xfrm>
            <a:off x="0" y="786300"/>
            <a:ext cx="6092400" cy="4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לשאול מתוך סקרנות אמיתית.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לשאול שאלות פתוחות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לעורר מחשבה, לא לחפש תשובה אחת נכונה.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לבחור מילים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לאפשר לאדם לחשוב אחרת ולנוע קדימה.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לא לבוא עם אג'נדה שלי, רואים את האג'נדה של המנטי. אם יש אג'נדה – להצהיר עליה.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לפתוח כיווני חשיבה חדשים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לשנות דפוסי חשיבה קיימים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ahoma"/>
              <a:buChar char="●"/>
            </a:pPr>
            <a:r>
              <a:rPr lang="en" sz="2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לשאול בזהירות</a:t>
            </a:r>
            <a:endParaRPr sz="2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91440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5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5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7" name="Google Shape;227;p35"/>
          <p:cNvSpPr txBox="1"/>
          <p:nvPr>
            <p:ph idx="4294967295" type="ctrTitle"/>
          </p:nvPr>
        </p:nvSpPr>
        <p:spPr>
          <a:xfrm>
            <a:off x="1925900" y="223100"/>
            <a:ext cx="3988500" cy="5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7931"/>
              <a:buFont typeface="Arial"/>
              <a:buNone/>
            </a:pPr>
            <a:r>
              <a:rPr lang="en"/>
              <a:t>עקרונות לבחירת מנטי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35"/>
          <p:cNvSpPr txBox="1"/>
          <p:nvPr>
            <p:ph idx="4294967295" type="subTitle"/>
          </p:nvPr>
        </p:nvSpPr>
        <p:spPr>
          <a:xfrm>
            <a:off x="217725" y="937650"/>
            <a:ext cx="6049500" cy="39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קשר של אמון בסיסי קיים – יש אפשרות לשיח פתוח (לא חובה קרבה רגשית).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רצון וצורך בלמידה – המנטי פתוח לשיח, לא מישהו ש"צריך תיקון".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פוטנציאל הדדיות – גם המנטור לומד, לא רק נותן.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מרחק מקצועי מתאים – לא קרוב מדי (יחסי חברות) ולא רחוק מדי (לא יוצר השפעה).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עניין אמיתי / סקרנות – תחושה שיש סיפור, דרך, או אתגר שמסקרן אותך.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11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ahoma"/>
              <a:buAutoNum type="arabicPeriod"/>
            </a:pPr>
            <a:r>
              <a:rPr lang="en" sz="1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התאמה ערכית – יש בסיס משותף של תפיסת חינוך או ראייה מערכתית.</a:t>
            </a:r>
            <a:endParaRPr sz="1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אתגר במידה הנכונה – לא קל מדי, אבל גם לא מבהיל או מתיש.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אין לי אג'נדה לגביו (אין לי את התשובות).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המנהל יהיה מסוגל להגיד לי לא אם לא מתאים לו.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AutoNum type="arabicPeriod"/>
            </a:pPr>
            <a:r>
              <a:rPr lang="en" sz="1700">
                <a:solidFill>
                  <a:schemeClr val="dk1"/>
                </a:solidFill>
              </a:rPr>
              <a:t>אם הסירוב של אותו מנהל לא ישפיע על יחסיו איתו?</a:t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29" name="Google Shape;22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7125" y="734750"/>
            <a:ext cx="2933700" cy="155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6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6" name="Google Shape;236;p36"/>
          <p:cNvSpPr txBox="1"/>
          <p:nvPr>
            <p:ph idx="4294967295" type="ctrTitle"/>
          </p:nvPr>
        </p:nvSpPr>
        <p:spPr>
          <a:xfrm>
            <a:off x="565825" y="991625"/>
            <a:ext cx="62379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2380"/>
              <a:t>הסכמה לליווי מתוך התאמה ורצון הדדי:</a:t>
            </a:r>
            <a:endParaRPr sz="29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7" name="Google Shape;237;p36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9671" r="17064" t="0"/>
          <a:stretch/>
        </p:blipFill>
        <p:spPr>
          <a:xfrm flipH="1" rot="-13">
            <a:off x="1858675" y="2193379"/>
            <a:ext cx="1959425" cy="1782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2" name="Google Shape;242;p3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7"/>
          <p:cNvSpPr txBox="1"/>
          <p:nvPr/>
        </p:nvSpPr>
        <p:spPr>
          <a:xfrm>
            <a:off x="7405575" y="761900"/>
            <a:ext cx="16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217725" y="1748525"/>
            <a:ext cx="65859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5" name="Google Shape;245;p37"/>
          <p:cNvSpPr txBox="1"/>
          <p:nvPr>
            <p:ph idx="4294967295" type="ctrTitle"/>
          </p:nvPr>
        </p:nvSpPr>
        <p:spPr>
          <a:xfrm>
            <a:off x="1745125" y="141500"/>
            <a:ext cx="3988500" cy="6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הצגה עצמית</a:t>
            </a:r>
            <a:endParaRPr b="1" sz="3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6" name="Google Shape;246;p37"/>
          <p:cNvSpPr txBox="1"/>
          <p:nvPr>
            <p:ph idx="4294967295" type="subTitle"/>
          </p:nvPr>
        </p:nvSpPr>
        <p:spPr>
          <a:xfrm>
            <a:off x="475875" y="801300"/>
            <a:ext cx="5835300" cy="43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חשבו ספציפית על מישהו שהייתם רוצים שיהיה המנטי שלכם,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מהם שלושת הדברים שאתם חושבים שהוא צריך לדעת עליכם כדי להכנס לתהליך? 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הייתם רוצים שהמנטי ידע עליכם בתור מנטור (ולא בתור מפקח)?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נסחו את ההצגה העצמית שלכם והצעת הערך עבור (למה כדאי להם) אותו מנטי.</a:t>
            </a:r>
            <a:endParaRPr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1" algn="r">
              <a:spcBef>
                <a:spcPts val="8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47" name="Google Shape;247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3625" y="0"/>
            <a:ext cx="2340375" cy="123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8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8"/>
          <p:cNvSpPr txBox="1"/>
          <p:nvPr/>
        </p:nvSpPr>
        <p:spPr>
          <a:xfrm>
            <a:off x="217725" y="1748525"/>
            <a:ext cx="68781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בהירות: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לכתוב בשפה פשוטה, בלי מונחים טכניים.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תועלת מוחשית: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להדגיש מה הלקוח מרוויח (לא מה אתה עושה).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ייחודיות: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להראות מה מבדל אותך מהמתחרים.</a:t>
            </a:r>
            <a:b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</a:b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אמינות:</a:t>
            </a:r>
            <a:r>
              <a:rPr lang="en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רק הבטחות שאתה באמת עומד מאחוריהן</a:t>
            </a:r>
            <a:endParaRPr b="1" sz="3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54" name="Google Shape;254;p38"/>
          <p:cNvSpPr txBox="1"/>
          <p:nvPr>
            <p:ph idx="4294967295" type="ctrTitle"/>
          </p:nvPr>
        </p:nvSpPr>
        <p:spPr>
          <a:xfrm>
            <a:off x="565825" y="99162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/>
              <a:t>עקרונות טובים להצעת ערך</a:t>
            </a:r>
            <a:endParaRPr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9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9"/>
          <p:cNvSpPr txBox="1"/>
          <p:nvPr/>
        </p:nvSpPr>
        <p:spPr>
          <a:xfrm>
            <a:off x="217725" y="1748525"/>
            <a:ext cx="6878100" cy="29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חשוב למנטור?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חשוב למנטי?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מה חשוב למנטורינג?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74650" lvl="0" marL="457200" rtl="1" algn="r">
              <a:lnSpc>
                <a:spcPct val="107916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ahoma"/>
              <a:buChar char="●"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קוד האתי </a:t>
            </a:r>
            <a:endParaRPr sz="23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" sz="23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גלגל ניהול/גלגל חיים</a:t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61" name="Google Shape;261;p39"/>
          <p:cNvSpPr txBox="1"/>
          <p:nvPr>
            <p:ph idx="4294967295" type="ctrTitle"/>
          </p:nvPr>
        </p:nvSpPr>
        <p:spPr>
          <a:xfrm>
            <a:off x="593200" y="225575"/>
            <a:ext cx="4541700" cy="8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3904"/>
              <a:buFont typeface="Arial"/>
              <a:buNone/>
            </a:pPr>
            <a:r>
              <a:rPr b="1" lang="en" sz="3244"/>
              <a:t>השיחה הראשונה</a:t>
            </a:r>
            <a:endParaRPr b="1" sz="3244"/>
          </a:p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2400"/>
          </a:p>
        </p:txBody>
      </p:sp>
      <p:pic>
        <p:nvPicPr>
          <p:cNvPr id="262" name="Google Shape;26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2745" y="225570"/>
            <a:ext cx="2682200" cy="1621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40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0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69" name="Google Shape;269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725" y="21885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40"/>
          <p:cNvSpPr txBox="1"/>
          <p:nvPr/>
        </p:nvSpPr>
        <p:spPr>
          <a:xfrm>
            <a:off x="8268600" y="308400"/>
            <a:ext cx="875400" cy="3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1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41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78" name="Google Shape;27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4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1"/>
          <p:cNvSpPr txBox="1"/>
          <p:nvPr/>
        </p:nvSpPr>
        <p:spPr>
          <a:xfrm>
            <a:off x="8199000" y="281050"/>
            <a:ext cx="451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2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2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87" name="Google Shape;28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44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3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43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3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96" name="Google Shape;2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43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4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98" name="Google Shape;298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4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4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05" name="Google Shape;305;p44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06" name="Google Shape;30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6858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48363" y="1230600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5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5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15" name="Google Shape;31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80588" y="1129175"/>
            <a:ext cx="2478700" cy="1859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5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6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17" name="Google Shape;317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46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46"/>
          <p:cNvSpPr txBox="1"/>
          <p:nvPr/>
        </p:nvSpPr>
        <p:spPr>
          <a:xfrm>
            <a:off x="217725" y="1748525"/>
            <a:ext cx="6878100" cy="11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457200" rtl="1" algn="r">
              <a:lnSpc>
                <a:spcPct val="107916"/>
              </a:lnSpc>
              <a:spcBef>
                <a:spcPts val="400"/>
              </a:spcBef>
              <a:spcAft>
                <a:spcPts val="80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24" name="Google Shape;324;p46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5" name="Google Shape;325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325" y="0"/>
            <a:ext cx="6448500" cy="483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363" y="1230600"/>
            <a:ext cx="2143125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825" y="-1162"/>
            <a:ext cx="645159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7"/>
          <p:cNvPicPr preferRelativeResize="0"/>
          <p:nvPr/>
        </p:nvPicPr>
        <p:blipFill rotWithShape="1">
          <a:blip r:embed="rId3">
            <a:alphaModFix/>
          </a:blip>
          <a:srcRect b="0" l="77602" r="0" t="0"/>
          <a:stretch/>
        </p:blipFill>
        <p:spPr>
          <a:xfrm>
            <a:off x="7095875" y="0"/>
            <a:ext cx="204812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7"/>
          <p:cNvSpPr txBox="1"/>
          <p:nvPr/>
        </p:nvSpPr>
        <p:spPr>
          <a:xfrm>
            <a:off x="235050" y="1270500"/>
            <a:ext cx="3878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A4054"/>
              </a:buClr>
              <a:buSzPts val="3000"/>
              <a:buFont typeface="Arial"/>
              <a:buNone/>
            </a:pPr>
            <a:r>
              <a:rPr b="1" lang="en" sz="2900">
                <a:solidFill>
                  <a:srgbClr val="0A4054"/>
                </a:solidFill>
                <a:latin typeface="Tahoma"/>
                <a:ea typeface="Tahoma"/>
                <a:cs typeface="Tahoma"/>
                <a:sym typeface="Tahoma"/>
              </a:rPr>
              <a:t>התחייבות המנטור</a:t>
            </a:r>
            <a:endParaRPr sz="13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4" name="Google Shape;334;p47"/>
          <p:cNvSpPr txBox="1"/>
          <p:nvPr/>
        </p:nvSpPr>
        <p:spPr>
          <a:xfrm>
            <a:off x="8253725" y="116900"/>
            <a:ext cx="478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7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5" name="Google Shape;335;p47"/>
          <p:cNvSpPr txBox="1"/>
          <p:nvPr/>
        </p:nvSpPr>
        <p:spPr>
          <a:xfrm>
            <a:off x="1113750" y="684000"/>
            <a:ext cx="30000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חוזה אישי</a:t>
            </a:r>
            <a:endParaRPr b="1" sz="2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6" name="Google Shape;336;p47"/>
          <p:cNvSpPr txBox="1"/>
          <p:nvPr/>
        </p:nvSpPr>
        <p:spPr>
          <a:xfrm>
            <a:off x="305925" y="1778350"/>
            <a:ext cx="3692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6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0A4054"/>
                </a:solidFill>
                <a:latin typeface="Tahoma"/>
                <a:ea typeface="Tahoma"/>
                <a:cs typeface="Tahoma"/>
                <a:sym typeface="Tahoma"/>
              </a:rPr>
              <a:t>התחייבות המנטי</a:t>
            </a:r>
            <a:endParaRPr b="1" sz="2900">
              <a:solidFill>
                <a:srgbClr val="0A4054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37" name="Google Shape;33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53500" y="1570925"/>
            <a:ext cx="2814163" cy="1814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