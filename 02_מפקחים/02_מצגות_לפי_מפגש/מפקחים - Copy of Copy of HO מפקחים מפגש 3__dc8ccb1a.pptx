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5143500" cx="9144000"/>
  <p:notesSz cx="6858000" cy="9144000"/>
  <p:embeddedFontLst>
    <p:embeddedFont>
      <p:font typeface="Tahoma"/>
      <p:regular r:id="rId23"/>
      <p:bold r:id="rId24"/>
    </p:embeddedFont>
    <p:embeddedFont>
      <p:font typeface="Oi"/>
      <p:regular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Tahoma-bold.fntdata"/><Relationship Id="rId23" Type="http://schemas.openxmlformats.org/officeDocument/2006/relationships/font" Target="fonts/Tahoma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Oi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a06c348c53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a06c348c53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a06c348c53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a06c348c53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a06c348c53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a06c348c53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a06c348c53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a06c348c53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a06c348c53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a06c348c53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6fd81192b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g36fd81192b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6fd81192b7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g36fd81192b7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6fd81192b7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g36fd81192b7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6fd81192b7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6fd81192b7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6fd81192b7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6fd81192b7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6fd81192b7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6fd81192b7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6fd81192b7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g36fd81192b7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a06c348c53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a06c348c53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a06c348c53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a06c348c53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a06c348c53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a06c348c53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a06c348c53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a06c348c53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">
  <p:cSld name="Section Title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76656" y="315468"/>
            <a:ext cx="4398300" cy="27159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/>
          <p:nvPr>
            <p:ph idx="2" type="pic"/>
          </p:nvPr>
        </p:nvSpPr>
        <p:spPr>
          <a:xfrm>
            <a:off x="5719477" y="-6858"/>
            <a:ext cx="3436200" cy="4951800"/>
          </a:xfrm>
          <a:prstGeom prst="rect">
            <a:avLst/>
          </a:prstGeom>
          <a:noFill/>
          <a:ln>
            <a:noFill/>
          </a:ln>
        </p:spPr>
      </p:sp>
      <p:sp>
        <p:nvSpPr>
          <p:cNvPr id="53" name="Google Shape;53;p13"/>
          <p:cNvSpPr/>
          <p:nvPr/>
        </p:nvSpPr>
        <p:spPr>
          <a:xfrm>
            <a:off x="0" y="4937760"/>
            <a:ext cx="5715000" cy="205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roduction">
  <p:cSld name="Introduction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title"/>
          </p:nvPr>
        </p:nvSpPr>
        <p:spPr>
          <a:xfrm>
            <a:off x="669798" y="54389"/>
            <a:ext cx="6223200" cy="9951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21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649223" y="1554480"/>
            <a:ext cx="6243000" cy="26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2385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/>
            </a:lvl1pPr>
            <a:lvl2pPr indent="-323850" lvl="1" marL="914400" algn="l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/>
            </a:lvl2pPr>
            <a:lvl3pPr indent="-323850" lvl="2" marL="137160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/>
            </a:lvl3pPr>
            <a:lvl4pPr indent="-323850" lvl="3" marL="182880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/>
            </a:lvl4pPr>
            <a:lvl5pPr indent="-323850" lvl="4" marL="228600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/>
            </a:lvl5pPr>
            <a:lvl6pPr indent="-3175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683514" y="4684967"/>
            <a:ext cx="20025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algn="l">
              <a:spcBef>
                <a:spcPts val="0"/>
              </a:spcBef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spcBef>
                <a:spcPts val="0"/>
              </a:spcBef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spcBef>
                <a:spcPts val="0"/>
              </a:spcBef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spcBef>
                <a:spcPts val="0"/>
              </a:spcBef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spcBef>
                <a:spcPts val="0"/>
              </a:spcBef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spcBef>
                <a:spcPts val="0"/>
              </a:spcBef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spcBef>
                <a:spcPts val="0"/>
              </a:spcBef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spcBef>
                <a:spcPts val="0"/>
              </a:spcBef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spcBef>
                <a:spcPts val="0"/>
              </a:spcBef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8" name="Google Shape;58;p14"/>
          <p:cNvSpPr txBox="1"/>
          <p:nvPr>
            <p:ph idx="11" type="ftr"/>
          </p:nvPr>
        </p:nvSpPr>
        <p:spPr>
          <a:xfrm>
            <a:off x="2854646" y="4684967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pic>
        <p:nvPicPr>
          <p:cNvPr id="59" name="Google Shape;59;p14"/>
          <p:cNvPicPr preferRelativeResize="0"/>
          <p:nvPr/>
        </p:nvPicPr>
        <p:blipFill rotWithShape="1">
          <a:blip r:embed="rId2">
            <a:alphaModFix/>
          </a:blip>
          <a:srcRect b="3865" l="1588" r="26225" t="0"/>
          <a:stretch/>
        </p:blipFill>
        <p:spPr>
          <a:xfrm>
            <a:off x="7061597" y="198522"/>
            <a:ext cx="2082404" cy="49449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title"/>
          </p:nvPr>
        </p:nvSpPr>
        <p:spPr>
          <a:xfrm>
            <a:off x="457200" y="685800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>
                <a:solidFill>
                  <a:srgbClr val="660066"/>
                </a:solidFill>
              </a:defRPr>
            </a:lvl1pPr>
            <a:lvl2pPr lvl="1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" type="body"/>
          </p:nvPr>
        </p:nvSpPr>
        <p:spPr>
          <a:xfrm>
            <a:off x="457200" y="1600200"/>
            <a:ext cx="8229600" cy="29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rtl="1" algn="r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  <a:defRPr/>
            </a:lvl1pPr>
            <a:lvl2pPr indent="-406400" lvl="1" marL="914400" rtl="1" algn="r">
              <a:lnSpc>
                <a:spcPct val="115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  <a:defRPr/>
            </a:lvl2pPr>
            <a:lvl3pPr indent="-381000" lvl="2" marL="1371600" rtl="1" algn="r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■"/>
              <a:defRPr/>
            </a:lvl3pPr>
            <a:lvl4pPr indent="-355600" lvl="3" marL="1828800" rtl="1" algn="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  <a:defRPr/>
            </a:lvl4pPr>
            <a:lvl5pPr indent="-355600" lvl="4" marL="2286000" rtl="1" algn="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63" name="Google Shape;63;p15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4" name="Google Shape;64;p15"/>
          <p:cNvSpPr txBox="1"/>
          <p:nvPr>
            <p:ph idx="12" type="sldNum"/>
          </p:nvPr>
        </p:nvSpPr>
        <p:spPr>
          <a:xfrm>
            <a:off x="7094538" y="0"/>
            <a:ext cx="2057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5.png"/><Relationship Id="rId5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Relationship Id="rId4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Relationship Id="rId4" Type="http://schemas.openxmlformats.org/officeDocument/2006/relationships/hyperlink" Target="https://youtu.be/pZwvrxVavnQhttps://youtu.be/pZwvrxVavnQ" TargetMode="External"/><Relationship Id="rId5" Type="http://schemas.openxmlformats.org/officeDocument/2006/relationships/image" Target="../media/image1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" name="Google Shape;7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לוז</a:t>
            </a:r>
            <a:endParaRPr/>
          </a:p>
        </p:txBody>
      </p:sp>
      <p:pic>
        <p:nvPicPr>
          <p:cNvPr id="77" name="Google Shape;77;p17"/>
          <p:cNvPicPr preferRelativeResize="0"/>
          <p:nvPr/>
        </p:nvPicPr>
        <p:blipFill rotWithShape="1">
          <a:blip r:embed="rId3">
            <a:alphaModFix/>
          </a:blip>
          <a:srcRect b="0" l="77602" r="0" t="0"/>
          <a:stretch/>
        </p:blipFill>
        <p:spPr>
          <a:xfrm>
            <a:off x="7095875" y="0"/>
            <a:ext cx="2048124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7"/>
          <p:cNvSpPr txBox="1"/>
          <p:nvPr/>
        </p:nvSpPr>
        <p:spPr>
          <a:xfrm>
            <a:off x="7405575" y="761900"/>
            <a:ext cx="16395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rgbClr val="F3F3F3"/>
                </a:solidFill>
                <a:latin typeface="Gisha"/>
                <a:ea typeface="Gisha"/>
                <a:cs typeface="Gisha"/>
                <a:sym typeface="Gisha"/>
              </a:rPr>
              <a:t>קוד אתי</a:t>
            </a:r>
            <a:endParaRPr>
              <a:solidFill>
                <a:srgbClr val="F3F3F3"/>
              </a:solidFill>
            </a:endParaRPr>
          </a:p>
        </p:txBody>
      </p:sp>
      <p:pic>
        <p:nvPicPr>
          <p:cNvPr id="79" name="Google Shape;79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59025" y="1017725"/>
            <a:ext cx="3505025" cy="296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לוז</a:t>
            </a:r>
            <a:endParaRPr/>
          </a:p>
        </p:txBody>
      </p:sp>
      <p:pic>
        <p:nvPicPr>
          <p:cNvPr id="85" name="Google Shape;85;p18"/>
          <p:cNvPicPr preferRelativeResize="0"/>
          <p:nvPr/>
        </p:nvPicPr>
        <p:blipFill rotWithShape="1">
          <a:blip r:embed="rId3">
            <a:alphaModFix/>
          </a:blip>
          <a:srcRect b="0" l="77602" r="0" t="0"/>
          <a:stretch/>
        </p:blipFill>
        <p:spPr>
          <a:xfrm>
            <a:off x="7095875" y="0"/>
            <a:ext cx="2048124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8"/>
          <p:cNvSpPr txBox="1"/>
          <p:nvPr/>
        </p:nvSpPr>
        <p:spPr>
          <a:xfrm>
            <a:off x="7405575" y="761900"/>
            <a:ext cx="16395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rgbClr val="F3F3F3"/>
                </a:solidFill>
                <a:latin typeface="Gisha"/>
                <a:ea typeface="Gisha"/>
                <a:cs typeface="Gisha"/>
                <a:sym typeface="Gisha"/>
              </a:rPr>
              <a:t>קוד אתי</a:t>
            </a:r>
            <a:endParaRPr>
              <a:solidFill>
                <a:srgbClr val="F3F3F3"/>
              </a:solidFill>
            </a:endParaRPr>
          </a:p>
        </p:txBody>
      </p:sp>
      <p:sp>
        <p:nvSpPr>
          <p:cNvPr id="87" name="Google Shape;87;p18"/>
          <p:cNvSpPr txBox="1"/>
          <p:nvPr/>
        </p:nvSpPr>
        <p:spPr>
          <a:xfrm>
            <a:off x="606875" y="817050"/>
            <a:ext cx="5900700" cy="35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00529E"/>
                </a:solidFill>
                <a:latin typeface="Tahoma"/>
                <a:ea typeface="Tahoma"/>
                <a:cs typeface="Tahoma"/>
                <a:sym typeface="Tahoma"/>
              </a:rPr>
              <a:t>קוד אתי - מטרה</a:t>
            </a:r>
            <a:br>
              <a:rPr lang="en" sz="3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br>
              <a:rPr lang="en" sz="3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en" sz="3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קוד אתי במנטורינג נועד להבטיח מערכת יחסים מקצועית, בטוחה ואמינה בין המנטור למנטי. </a:t>
            </a:r>
            <a:br>
              <a:rPr lang="en" sz="3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en" sz="3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מטרתו לסמן כיוון, </a:t>
            </a:r>
            <a:br>
              <a:rPr lang="en" sz="3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en" sz="3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להגדיר גבולות, אחריות</a:t>
            </a:r>
            <a:br>
              <a:rPr lang="en" sz="3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en" sz="3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ונורמות התנהגות</a:t>
            </a:r>
            <a:endParaRPr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88" name="Google Shape;88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85713" y="2196200"/>
            <a:ext cx="1868450" cy="15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לוז</a:t>
            </a:r>
            <a:endParaRPr/>
          </a:p>
        </p:txBody>
      </p:sp>
      <p:pic>
        <p:nvPicPr>
          <p:cNvPr id="94" name="Google Shape;94;p19"/>
          <p:cNvPicPr preferRelativeResize="0"/>
          <p:nvPr/>
        </p:nvPicPr>
        <p:blipFill rotWithShape="1">
          <a:blip r:embed="rId3">
            <a:alphaModFix/>
          </a:blip>
          <a:srcRect b="0" l="77602" r="0" t="0"/>
          <a:stretch/>
        </p:blipFill>
        <p:spPr>
          <a:xfrm>
            <a:off x="7095875" y="0"/>
            <a:ext cx="2048124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9"/>
          <p:cNvSpPr txBox="1"/>
          <p:nvPr/>
        </p:nvSpPr>
        <p:spPr>
          <a:xfrm>
            <a:off x="7405575" y="761900"/>
            <a:ext cx="16395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rgbClr val="F3F3F3"/>
                </a:solidFill>
                <a:latin typeface="Gisha"/>
                <a:ea typeface="Gisha"/>
                <a:cs typeface="Gisha"/>
                <a:sym typeface="Gisha"/>
              </a:rPr>
              <a:t>קוד אתי</a:t>
            </a:r>
            <a:endParaRPr>
              <a:solidFill>
                <a:srgbClr val="F3F3F3"/>
              </a:solidFill>
            </a:endParaRPr>
          </a:p>
        </p:txBody>
      </p:sp>
      <p:sp>
        <p:nvSpPr>
          <p:cNvPr id="96" name="Google Shape;96;p19"/>
          <p:cNvSpPr txBox="1"/>
          <p:nvPr/>
        </p:nvSpPr>
        <p:spPr>
          <a:xfrm>
            <a:off x="311700" y="761900"/>
            <a:ext cx="6653100" cy="3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74650" lvl="0" marL="45720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ahoma"/>
              <a:buChar char="●"/>
            </a:pPr>
            <a:r>
              <a:rPr lang="en" sz="23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במכון אבני ראשה רואים במנהל (המנטי) אדם יצירתי, בעל תושייה ושלם מטבעו, אין בו דבר שיש לתקן. </a:t>
            </a:r>
            <a:endParaRPr sz="23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74650" lvl="0" marL="45720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ahoma"/>
              <a:buChar char="●"/>
            </a:pPr>
            <a:r>
              <a:rPr lang="en" sz="23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המנטי הוא בעל האחריות המלאה לתהליך, לסדר היום ולתוצאות. </a:t>
            </a:r>
            <a:endParaRPr sz="23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74650" lvl="0" marL="45720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ahoma"/>
              <a:buChar char="●"/>
            </a:pPr>
            <a:r>
              <a:rPr lang="en" sz="23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המנטור תומך בו באמצעות שאלות מעוררות חשיבה, הקשבה פעילה וליווי גמיש המכוון להשגת יעדיו האישיים והמקצועיים. </a:t>
            </a:r>
            <a:endParaRPr sz="23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74650" lvl="0" marL="45720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ahoma"/>
              <a:buChar char="●"/>
            </a:pPr>
            <a:r>
              <a:rPr lang="en" sz="23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הקשר המנטורי מתנהל כשותפות לומדת – דיאלוגית, שוויונית, ומבוססת אמון.</a:t>
            </a:r>
            <a:endParaRPr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97" name="Google Shape;97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85713" y="2196200"/>
            <a:ext cx="1868450" cy="15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לוז</a:t>
            </a:r>
            <a:endParaRPr/>
          </a:p>
        </p:txBody>
      </p:sp>
      <p:pic>
        <p:nvPicPr>
          <p:cNvPr id="103" name="Google Shape;103;p20"/>
          <p:cNvPicPr preferRelativeResize="0"/>
          <p:nvPr/>
        </p:nvPicPr>
        <p:blipFill rotWithShape="1">
          <a:blip r:embed="rId3">
            <a:alphaModFix/>
          </a:blip>
          <a:srcRect b="0" l="77602" r="0" t="0"/>
          <a:stretch/>
        </p:blipFill>
        <p:spPr>
          <a:xfrm>
            <a:off x="7095875" y="0"/>
            <a:ext cx="2048124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20"/>
          <p:cNvSpPr txBox="1"/>
          <p:nvPr/>
        </p:nvSpPr>
        <p:spPr>
          <a:xfrm>
            <a:off x="7405575" y="761900"/>
            <a:ext cx="16395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rgbClr val="F3F3F3"/>
                </a:solidFill>
                <a:latin typeface="Gisha"/>
                <a:ea typeface="Gisha"/>
                <a:cs typeface="Gisha"/>
                <a:sym typeface="Gisha"/>
              </a:rPr>
              <a:t>קוד אתי</a:t>
            </a:r>
            <a:endParaRPr>
              <a:solidFill>
                <a:srgbClr val="F3F3F3"/>
              </a:solidFill>
            </a:endParaRPr>
          </a:p>
        </p:txBody>
      </p:sp>
      <p:sp>
        <p:nvSpPr>
          <p:cNvPr id="105" name="Google Shape;105;p20"/>
          <p:cNvSpPr txBox="1"/>
          <p:nvPr/>
        </p:nvSpPr>
        <p:spPr>
          <a:xfrm>
            <a:off x="191500" y="445025"/>
            <a:ext cx="6598500" cy="44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AutoNum type="arabicPeriod"/>
            </a:pPr>
            <a:r>
              <a:rPr lang="en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1. </a:t>
            </a:r>
            <a:r>
              <a:rPr b="1" lang="en" sz="2400">
                <a:solidFill>
                  <a:srgbClr val="00529E"/>
                </a:solidFill>
                <a:latin typeface="Tahoma"/>
                <a:ea typeface="Tahoma"/>
                <a:cs typeface="Tahoma"/>
                <a:sym typeface="Tahoma"/>
              </a:rPr>
              <a:t>שמירה על סודיות</a:t>
            </a:r>
            <a:br>
              <a:rPr lang="en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en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כל מידע שהמנטי משתף בתהליך נשמר חסוי, ואינו נמסר לאחרים אלא בהסכמתו המפורשת.</a:t>
            </a:r>
            <a:br>
              <a:rPr lang="en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br>
              <a:rPr lang="en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en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2.</a:t>
            </a:r>
            <a:r>
              <a:rPr b="1" lang="en" sz="2400">
                <a:solidFill>
                  <a:srgbClr val="3C78D8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1" lang="en" sz="2400">
                <a:solidFill>
                  <a:srgbClr val="00529E"/>
                </a:solidFill>
                <a:latin typeface="Tahoma"/>
                <a:ea typeface="Tahoma"/>
                <a:cs typeface="Tahoma"/>
                <a:sym typeface="Tahoma"/>
              </a:rPr>
              <a:t>כבוד הדדי</a:t>
            </a:r>
            <a:br>
              <a:rPr lang="en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en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הקשר המנטורי מבוסס על הקשבה, שוויון, מתן מקום לדעות שונות ויחס אנושי מכבד.</a:t>
            </a:r>
            <a:br>
              <a:rPr lang="en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br>
              <a:rPr lang="en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en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3</a:t>
            </a:r>
            <a:r>
              <a:rPr lang="en" sz="1800">
                <a:solidFill>
                  <a:schemeClr val="dk1"/>
                </a:solidFill>
                <a:highlight>
                  <a:schemeClr val="lt1"/>
                </a:highlight>
                <a:latin typeface="Tahoma"/>
                <a:ea typeface="Tahoma"/>
                <a:cs typeface="Tahoma"/>
                <a:sym typeface="Tahoma"/>
              </a:rPr>
              <a:t>. </a:t>
            </a:r>
            <a:r>
              <a:rPr b="1" lang="en" sz="2400">
                <a:solidFill>
                  <a:srgbClr val="00529E"/>
                </a:solidFill>
                <a:highlight>
                  <a:schemeClr val="lt1"/>
                </a:highlight>
                <a:latin typeface="Tahoma"/>
                <a:ea typeface="Tahoma"/>
                <a:cs typeface="Tahoma"/>
                <a:sym typeface="Tahoma"/>
              </a:rPr>
              <a:t>גבולות </a:t>
            </a:r>
            <a:r>
              <a:rPr b="1" lang="en" sz="2400">
                <a:solidFill>
                  <a:srgbClr val="00529E"/>
                </a:solidFill>
                <a:latin typeface="Tahoma"/>
                <a:ea typeface="Tahoma"/>
                <a:cs typeface="Tahoma"/>
                <a:sym typeface="Tahoma"/>
              </a:rPr>
              <a:t>תפקיד</a:t>
            </a:r>
            <a:br>
              <a:rPr lang="en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en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המנטור איננו מטפל, פסיכולוג או יועץ משפטי. עליו לזהות מצבים המחייבים הפניה לגורם מקצועי מתאים.</a:t>
            </a:r>
            <a:br>
              <a:rPr lang="en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br>
              <a:rPr lang="en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en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4</a:t>
            </a:r>
            <a:r>
              <a:rPr lang="en" sz="1800">
                <a:solidFill>
                  <a:schemeClr val="dk1"/>
                </a:solidFill>
                <a:highlight>
                  <a:schemeClr val="lt1"/>
                </a:highlight>
                <a:latin typeface="Tahoma"/>
                <a:ea typeface="Tahoma"/>
                <a:cs typeface="Tahoma"/>
                <a:sym typeface="Tahoma"/>
              </a:rPr>
              <a:t>. </a:t>
            </a:r>
            <a:r>
              <a:rPr b="1" lang="en" sz="2400">
                <a:solidFill>
                  <a:srgbClr val="00529E"/>
                </a:solidFill>
                <a:highlight>
                  <a:schemeClr val="lt1"/>
                </a:highlight>
                <a:latin typeface="Tahoma"/>
                <a:ea typeface="Tahoma"/>
                <a:cs typeface="Tahoma"/>
                <a:sym typeface="Tahoma"/>
              </a:rPr>
              <a:t>אחריות מקצועית</a:t>
            </a:r>
            <a:br>
              <a:rPr lang="en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en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המנטור פועל ביושרה, מקפיד על סטנדרטים מקצועיים, וממשיך להתפתח ולשפר את כישוריו באופן מתמיד.</a:t>
            </a:r>
            <a:br>
              <a:rPr lang="en" sz="1800">
                <a:solidFill>
                  <a:schemeClr val="dk1"/>
                </a:solidFill>
                <a:latin typeface="David"/>
                <a:ea typeface="David"/>
                <a:cs typeface="David"/>
                <a:sym typeface="David"/>
              </a:rPr>
            </a:br>
            <a:endParaRPr/>
          </a:p>
        </p:txBody>
      </p:sp>
      <p:pic>
        <p:nvPicPr>
          <p:cNvPr id="106" name="Google Shape;106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85713" y="2196200"/>
            <a:ext cx="1868450" cy="15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לוז</a:t>
            </a:r>
            <a:endParaRPr/>
          </a:p>
        </p:txBody>
      </p:sp>
      <p:pic>
        <p:nvPicPr>
          <p:cNvPr id="112" name="Google Shape;112;p21"/>
          <p:cNvPicPr preferRelativeResize="0"/>
          <p:nvPr/>
        </p:nvPicPr>
        <p:blipFill rotWithShape="1">
          <a:blip r:embed="rId3">
            <a:alphaModFix/>
          </a:blip>
          <a:srcRect b="0" l="77602" r="0" t="0"/>
          <a:stretch/>
        </p:blipFill>
        <p:spPr>
          <a:xfrm>
            <a:off x="7201263" y="0"/>
            <a:ext cx="2048124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1"/>
          <p:cNvSpPr txBox="1"/>
          <p:nvPr/>
        </p:nvSpPr>
        <p:spPr>
          <a:xfrm>
            <a:off x="7405575" y="761900"/>
            <a:ext cx="16395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rgbClr val="F3F3F3"/>
                </a:solidFill>
                <a:latin typeface="Gisha"/>
                <a:ea typeface="Gisha"/>
                <a:cs typeface="Gisha"/>
                <a:sym typeface="Gisha"/>
              </a:rPr>
              <a:t>קוד אתי</a:t>
            </a:r>
            <a:endParaRPr>
              <a:solidFill>
                <a:srgbClr val="F3F3F3"/>
              </a:solidFill>
            </a:endParaRPr>
          </a:p>
        </p:txBody>
      </p:sp>
      <p:sp>
        <p:nvSpPr>
          <p:cNvPr id="114" name="Google Shape;114;p21"/>
          <p:cNvSpPr txBox="1"/>
          <p:nvPr/>
        </p:nvSpPr>
        <p:spPr>
          <a:xfrm>
            <a:off x="311700" y="259925"/>
            <a:ext cx="6557400" cy="40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5</a:t>
            </a:r>
            <a:r>
              <a:rPr b="1" lang="en" sz="2200">
                <a:solidFill>
                  <a:srgbClr val="00529E"/>
                </a:solidFill>
                <a:latin typeface="Tahoma"/>
                <a:ea typeface="Tahoma"/>
                <a:cs typeface="Tahoma"/>
                <a:sym typeface="Tahoma"/>
              </a:rPr>
              <a:t>. הימנעות מניגוד עניינים</a:t>
            </a:r>
            <a:br>
              <a:rPr lang="en"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en"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יש להימנע מיצירת תלות, קשרים עסקיים או אינטרסים אישיים שאינם חלק ממטרות התהליך.</a:t>
            </a:r>
            <a:br>
              <a:rPr lang="en"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br>
              <a:rPr lang="en"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en"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6. </a:t>
            </a:r>
            <a:r>
              <a:rPr b="1" lang="en" sz="2200">
                <a:solidFill>
                  <a:srgbClr val="00529E"/>
                </a:solidFill>
                <a:latin typeface="Tahoma"/>
                <a:ea typeface="Tahoma"/>
                <a:cs typeface="Tahoma"/>
                <a:sym typeface="Tahoma"/>
              </a:rPr>
              <a:t>העצמת עצמאות המנטי</a:t>
            </a:r>
            <a:br>
              <a:rPr lang="en" sz="1600">
                <a:solidFill>
                  <a:schemeClr val="dk1"/>
                </a:solidFill>
                <a:highlight>
                  <a:srgbClr val="00529E"/>
                </a:highlight>
                <a:latin typeface="Tahoma"/>
                <a:ea typeface="Tahoma"/>
                <a:cs typeface="Tahoma"/>
                <a:sym typeface="Tahoma"/>
              </a:rPr>
            </a:br>
            <a:r>
              <a:rPr lang="en"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המנטור מסייע למנטי לגבש את החלטותיו, אך אינו מחליט בשמו. האחריות לפעולה נשארת בידי המנטי.</a:t>
            </a:r>
            <a:br>
              <a:rPr lang="en"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br>
              <a:rPr lang="en"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en"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7. </a:t>
            </a:r>
            <a:r>
              <a:rPr b="1" lang="en" sz="2200">
                <a:solidFill>
                  <a:srgbClr val="00529E"/>
                </a:solidFill>
                <a:latin typeface="Tahoma"/>
                <a:ea typeface="Tahoma"/>
                <a:cs typeface="Tahoma"/>
                <a:sym typeface="Tahoma"/>
              </a:rPr>
              <a:t>שקיפות והסכמה</a:t>
            </a:r>
            <a:br>
              <a:rPr lang="en"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en"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בתחילת התהליך יש להבהיר במשותף את מטרות הליווי, משכו, תדירות המפגשים, וכללי הסודיות וההתנהלות.</a:t>
            </a:r>
            <a:br>
              <a:rPr lang="en"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br>
              <a:rPr lang="en"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en"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8. </a:t>
            </a:r>
            <a:r>
              <a:rPr b="1" lang="en" sz="2200">
                <a:solidFill>
                  <a:srgbClr val="00529E"/>
                </a:solidFill>
                <a:latin typeface="Tahoma"/>
                <a:ea typeface="Tahoma"/>
                <a:cs typeface="Tahoma"/>
                <a:sym typeface="Tahoma"/>
              </a:rPr>
              <a:t>רגישות וגמישות תרבותית</a:t>
            </a:r>
            <a:br>
              <a:rPr lang="en"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en"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המנטור נדרש לגישה פתוחה ולא שיפוטית, תוך הימנעות מהשלכת ערכיו האישיים על התהליך ומתוך כבוד לרקע התרבותי של המנטי.</a:t>
            </a:r>
            <a:br>
              <a:rPr lang="en" sz="1600">
                <a:solidFill>
                  <a:schemeClr val="dk1"/>
                </a:solidFill>
                <a:latin typeface="David"/>
                <a:ea typeface="David"/>
                <a:cs typeface="David"/>
                <a:sym typeface="David"/>
              </a:rPr>
            </a:br>
            <a:endParaRPr sz="1200"/>
          </a:p>
        </p:txBody>
      </p:sp>
      <p:pic>
        <p:nvPicPr>
          <p:cNvPr id="115" name="Google Shape;115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91100" y="2114125"/>
            <a:ext cx="1868450" cy="15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אם ובת מבצעות יוגה" id="120" name="Google Shape;12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4387" y="0"/>
            <a:ext cx="8055226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22"/>
          <p:cNvSpPr txBox="1"/>
          <p:nvPr>
            <p:ph type="title"/>
          </p:nvPr>
        </p:nvSpPr>
        <p:spPr>
          <a:xfrm>
            <a:off x="2686050" y="0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>
                <a:solidFill>
                  <a:schemeClr val="lt1"/>
                </a:solidFill>
                <a:latin typeface="Oi"/>
                <a:ea typeface="Oi"/>
                <a:cs typeface="Oi"/>
                <a:sym typeface="Oi"/>
              </a:rPr>
              <a:t>הקשבה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3"/>
          <p:cNvSpPr txBox="1"/>
          <p:nvPr/>
        </p:nvSpPr>
        <p:spPr>
          <a:xfrm>
            <a:off x="6144000" y="2131725"/>
            <a:ext cx="3000000" cy="14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r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1" lang="en" sz="25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אם יכולתי לבחור את הקריירה שלי מחדש מה הייתי בוחר/ת?</a:t>
            </a:r>
            <a:endParaRPr b="1" sz="250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</p:txBody>
      </p:sp>
      <p:pic>
        <p:nvPicPr>
          <p:cNvPr id="127" name="Google Shape;12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3425" y="406748"/>
            <a:ext cx="5970575" cy="4188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2800"/>
              <a:t>תרגול הקשבה 1</a:t>
            </a:r>
            <a:endParaRPr/>
          </a:p>
        </p:txBody>
      </p:sp>
      <p:sp>
        <p:nvSpPr>
          <p:cNvPr id="133" name="Google Shape;133;p24"/>
          <p:cNvSpPr txBox="1"/>
          <p:nvPr/>
        </p:nvSpPr>
        <p:spPr>
          <a:xfrm>
            <a:off x="311700" y="1208225"/>
            <a:ext cx="4069800" cy="32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על מה חשבתי כשהצד השני דיבר?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4" name="Google Shape;134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89650" y="2370724"/>
            <a:ext cx="3478000" cy="2439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2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42" name="Google Shape;142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5"/>
          <p:cNvPicPr preferRelativeResize="0"/>
          <p:nvPr/>
        </p:nvPicPr>
        <p:blipFill rotWithShape="1">
          <a:blip r:embed="rId4">
            <a:alphaModFix/>
          </a:blip>
          <a:srcRect b="39650" l="22059" r="27931" t="2610"/>
          <a:stretch/>
        </p:blipFill>
        <p:spPr>
          <a:xfrm>
            <a:off x="0" y="3285400"/>
            <a:ext cx="2962227" cy="3420027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25"/>
          <p:cNvSpPr/>
          <p:nvPr/>
        </p:nvSpPr>
        <p:spPr>
          <a:xfrm>
            <a:off x="1279325" y="2625598"/>
            <a:ext cx="936600" cy="465600"/>
          </a:xfrm>
          <a:prstGeom prst="wedgeEllipseCallout">
            <a:avLst>
              <a:gd fmla="val 17548" name="adj1"/>
              <a:gd fmla="val 273894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25"/>
          <p:cNvSpPr/>
          <p:nvPr/>
        </p:nvSpPr>
        <p:spPr>
          <a:xfrm>
            <a:off x="0" y="508997"/>
            <a:ext cx="1696500" cy="1250100"/>
          </a:xfrm>
          <a:prstGeom prst="cloudCallout">
            <a:avLst>
              <a:gd fmla="val -1976" name="adj1"/>
              <a:gd fmla="val 208714" name="adj2"/>
            </a:avLst>
          </a:prstGeom>
          <a:noFill/>
          <a:ln cap="rnd" cmpd="sng" w="28575">
            <a:solidFill>
              <a:schemeClr val="accent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מה זה אומר לגבי?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6" name="Google Shape;146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58850" y="2504450"/>
            <a:ext cx="1762300" cy="1323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2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54" name="Google Shape;154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26"/>
          <p:cNvPicPr preferRelativeResize="0"/>
          <p:nvPr/>
        </p:nvPicPr>
        <p:blipFill rotWithShape="1">
          <a:blip r:embed="rId4">
            <a:alphaModFix/>
          </a:blip>
          <a:srcRect b="40377" l="16808" r="16441" t="2293"/>
          <a:stretch/>
        </p:blipFill>
        <p:spPr>
          <a:xfrm>
            <a:off x="0" y="3015333"/>
            <a:ext cx="3120801" cy="2680217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26"/>
          <p:cNvSpPr/>
          <p:nvPr/>
        </p:nvSpPr>
        <p:spPr>
          <a:xfrm>
            <a:off x="1430175" y="2727760"/>
            <a:ext cx="936600" cy="432300"/>
          </a:xfrm>
          <a:prstGeom prst="wedgeEllipseCallout">
            <a:avLst>
              <a:gd fmla="val 27320" name="adj1"/>
              <a:gd fmla="val 163085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26"/>
          <p:cNvSpPr/>
          <p:nvPr/>
        </p:nvSpPr>
        <p:spPr>
          <a:xfrm>
            <a:off x="119925" y="1"/>
            <a:ext cx="1751700" cy="1602300"/>
          </a:xfrm>
          <a:prstGeom prst="cloudCallout">
            <a:avLst>
              <a:gd fmla="val -6883" name="adj1"/>
              <a:gd fmla="val 133193" name="adj2"/>
            </a:avLst>
          </a:prstGeom>
          <a:noFill/>
          <a:ln cap="rnd" cmpd="sng" w="28575">
            <a:solidFill>
              <a:schemeClr val="accent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אני רוצה לשמוע מה שה</a:t>
            </a:r>
            <a:r>
              <a:rPr lang="en" sz="2100">
                <a:solidFill>
                  <a:schemeClr val="dk1"/>
                </a:solidFill>
              </a:rPr>
              <a:t>י</a:t>
            </a:r>
            <a:r>
              <a:rPr lang="en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א אומרת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2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65" name="Google Shape;165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8"/>
          <p:cNvSpPr txBox="1"/>
          <p:nvPr/>
        </p:nvSpPr>
        <p:spPr>
          <a:xfrm>
            <a:off x="6144000" y="584200"/>
            <a:ext cx="2811600" cy="24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r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i="1" lang="en" sz="34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על מה אני רוצה לשים לב יותר כמנטור השנה?”</a:t>
            </a:r>
            <a:endParaRPr i="1" sz="3600"/>
          </a:p>
        </p:txBody>
      </p:sp>
      <p:pic>
        <p:nvPicPr>
          <p:cNvPr id="171" name="Google Shape;171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3425" y="406748"/>
            <a:ext cx="5970575" cy="4188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Google Shape;176;p29"/>
          <p:cNvPicPr preferRelativeResize="0"/>
          <p:nvPr/>
        </p:nvPicPr>
        <p:blipFill rotWithShape="1">
          <a:blip r:embed="rId3">
            <a:alphaModFix/>
          </a:blip>
          <a:srcRect b="0" l="77602" r="0" t="0"/>
          <a:stretch/>
        </p:blipFill>
        <p:spPr>
          <a:xfrm>
            <a:off x="7095875" y="0"/>
            <a:ext cx="2048124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9"/>
          <p:cNvSpPr txBox="1"/>
          <p:nvPr/>
        </p:nvSpPr>
        <p:spPr>
          <a:xfrm>
            <a:off x="217725" y="1748525"/>
            <a:ext cx="65859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r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t/>
            </a:r>
            <a:endParaRPr b="1" sz="23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78" name="Google Shape;178;p29"/>
          <p:cNvSpPr txBox="1"/>
          <p:nvPr>
            <p:ph idx="4294967295" type="ctrTitle"/>
          </p:nvPr>
        </p:nvSpPr>
        <p:spPr>
          <a:xfrm>
            <a:off x="1925900" y="223100"/>
            <a:ext cx="3988500" cy="53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7931"/>
              <a:buFont typeface="Arial"/>
              <a:buNone/>
            </a:pPr>
            <a:r>
              <a:rPr lang="en"/>
              <a:t>עקרונות לבחירת מנטי</a:t>
            </a:r>
            <a:endParaRPr sz="29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79" name="Google Shape;179;p29"/>
          <p:cNvSpPr txBox="1"/>
          <p:nvPr>
            <p:ph idx="4294967295" type="subTitle"/>
          </p:nvPr>
        </p:nvSpPr>
        <p:spPr>
          <a:xfrm>
            <a:off x="217725" y="937650"/>
            <a:ext cx="6049500" cy="39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1" algn="r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ahoma"/>
              <a:buAutoNum type="arabicPeriod"/>
            </a:pPr>
            <a:r>
              <a:rPr lang="en" sz="13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קשר של אמון בסיסי קיים – יש אפשרות לשיח פתוח (לא חובה קרבה רגשית).</a:t>
            </a:r>
            <a:endParaRPr sz="13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1150" lvl="0" marL="457200" rtl="1" algn="r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ahoma"/>
              <a:buAutoNum type="arabicPeriod"/>
            </a:pPr>
            <a:r>
              <a:rPr lang="en" sz="13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רצון וצורך בלמידה – המנטי פתוח לשיח, לא מישהו ש"צריך תיקון".</a:t>
            </a:r>
            <a:endParaRPr sz="13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1150" lvl="0" marL="457200" rtl="1" algn="r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ahoma"/>
              <a:buAutoNum type="arabicPeriod"/>
            </a:pPr>
            <a:r>
              <a:rPr lang="en" sz="13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פוטנציאל הדדיות – גם המנטור לומד, לא רק נותן.</a:t>
            </a:r>
            <a:endParaRPr sz="13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1150" lvl="0" marL="457200" rtl="1" algn="r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ahoma"/>
              <a:buAutoNum type="arabicPeriod"/>
            </a:pPr>
            <a:r>
              <a:rPr lang="en" sz="13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מרחק מקצועי מתאים – לא קרוב מדי (יחסי חברות) ולא רחוק מדי (לא יוצר השפעה).</a:t>
            </a:r>
            <a:endParaRPr sz="13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1150" lvl="0" marL="457200" rtl="1" algn="r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ahoma"/>
              <a:buAutoNum type="arabicPeriod"/>
            </a:pPr>
            <a:r>
              <a:rPr lang="en" sz="13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עניין אמיתי / סקרנות – תחושה שיש סיפור, דרך, או אתגר שמסקרן אותך.</a:t>
            </a:r>
            <a:endParaRPr sz="13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1150" lvl="0" marL="457200" rtl="1" algn="r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ahoma"/>
              <a:buAutoNum type="arabicPeriod"/>
            </a:pPr>
            <a:r>
              <a:rPr lang="en" sz="13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התאמה ערכית – יש בסיס משותף של תפיסת חינוך או ראייה מערכתית.</a:t>
            </a:r>
            <a:endParaRPr sz="13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36550" lvl="0" marL="457200" rtl="1" algn="r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rabicPeriod"/>
            </a:pPr>
            <a:r>
              <a:rPr lang="en" sz="1700">
                <a:solidFill>
                  <a:schemeClr val="dk1"/>
                </a:solidFill>
              </a:rPr>
              <a:t>אתגר במידה הנכונה – לא קל מדי, אבל גם לא מבהיל או מתיש.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1" algn="r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rabicPeriod"/>
            </a:pPr>
            <a:r>
              <a:rPr lang="en" sz="1700">
                <a:solidFill>
                  <a:schemeClr val="dk1"/>
                </a:solidFill>
              </a:rPr>
              <a:t>אין לי אג'נדה לגביו (אין לי את התשובות).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1" algn="r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rabicPeriod"/>
            </a:pPr>
            <a:r>
              <a:rPr lang="en" sz="1700">
                <a:solidFill>
                  <a:schemeClr val="dk1"/>
                </a:solidFill>
              </a:rPr>
              <a:t>המנהל יהיה מסוגל להגיד לי לא אם לא מתאים לו.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1" algn="r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rabicPeriod"/>
            </a:pPr>
            <a:r>
              <a:rPr lang="en" sz="1700">
                <a:solidFill>
                  <a:schemeClr val="dk1"/>
                </a:solidFill>
              </a:rPr>
              <a:t>אם הסירוב של אותו מנהל לא ישפיע על יחסיו איתו?</a:t>
            </a:r>
            <a:endParaRPr sz="1700">
              <a:solidFill>
                <a:schemeClr val="dk1"/>
              </a:solidFill>
            </a:endParaRPr>
          </a:p>
          <a:p>
            <a:pPr indent="0" lvl="0" marL="0" rtl="1" algn="r">
              <a:spcBef>
                <a:spcPts val="800"/>
              </a:spcBef>
              <a:spcAft>
                <a:spcPts val="1200"/>
              </a:spcAft>
              <a:buNone/>
            </a:pPr>
            <a:r>
              <a:t/>
            </a:r>
            <a:endParaRPr sz="2500"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180" name="Google Shape;180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7125" y="734750"/>
            <a:ext cx="2933700" cy="1552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85;p30"/>
          <p:cNvPicPr preferRelativeResize="0"/>
          <p:nvPr/>
        </p:nvPicPr>
        <p:blipFill rotWithShape="1">
          <a:blip r:embed="rId3">
            <a:alphaModFix/>
          </a:blip>
          <a:srcRect b="0" l="77602" r="0" t="0"/>
          <a:stretch/>
        </p:blipFill>
        <p:spPr>
          <a:xfrm>
            <a:off x="7095875" y="0"/>
            <a:ext cx="2048124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30"/>
          <p:cNvSpPr txBox="1"/>
          <p:nvPr/>
        </p:nvSpPr>
        <p:spPr>
          <a:xfrm>
            <a:off x="217725" y="1748525"/>
            <a:ext cx="65859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r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t/>
            </a:r>
            <a:endParaRPr b="1" sz="23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87" name="Google Shape;187;p30"/>
          <p:cNvSpPr txBox="1"/>
          <p:nvPr>
            <p:ph idx="4294967295" type="ctrTitle"/>
          </p:nvPr>
        </p:nvSpPr>
        <p:spPr>
          <a:xfrm>
            <a:off x="565825" y="991625"/>
            <a:ext cx="6237900" cy="86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1" algn="r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en" sz="2380"/>
              <a:t>הסכמה לליווי מתוך התאמה ורצון הדדי:</a:t>
            </a:r>
            <a:endParaRPr sz="2900"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188" name="Google Shape;188;p30">
            <a:hlinkClick r:id="rId4"/>
          </p:cNvPr>
          <p:cNvPicPr preferRelativeResize="0"/>
          <p:nvPr/>
        </p:nvPicPr>
        <p:blipFill rotWithShape="1">
          <a:blip r:embed="rId5">
            <a:alphaModFix/>
          </a:blip>
          <a:srcRect b="0" l="9671" r="17064" t="0"/>
          <a:stretch/>
        </p:blipFill>
        <p:spPr>
          <a:xfrm flipH="1" rot="-13">
            <a:off x="1858675" y="2193379"/>
            <a:ext cx="1959425" cy="17829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31"/>
          <p:cNvPicPr preferRelativeResize="0"/>
          <p:nvPr/>
        </p:nvPicPr>
        <p:blipFill rotWithShape="1">
          <a:blip r:embed="rId3">
            <a:alphaModFix/>
          </a:blip>
          <a:srcRect b="0" l="77602" r="0" t="0"/>
          <a:stretch/>
        </p:blipFill>
        <p:spPr>
          <a:xfrm>
            <a:off x="7095875" y="0"/>
            <a:ext cx="2048124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31"/>
          <p:cNvSpPr txBox="1"/>
          <p:nvPr/>
        </p:nvSpPr>
        <p:spPr>
          <a:xfrm>
            <a:off x="7405575" y="761900"/>
            <a:ext cx="1639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3F3F3"/>
              </a:solidFill>
            </a:endParaRPr>
          </a:p>
        </p:txBody>
      </p:sp>
      <p:sp>
        <p:nvSpPr>
          <p:cNvPr id="195" name="Google Shape;195;p31"/>
          <p:cNvSpPr txBox="1"/>
          <p:nvPr/>
        </p:nvSpPr>
        <p:spPr>
          <a:xfrm>
            <a:off x="217725" y="1748525"/>
            <a:ext cx="65859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r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t/>
            </a:r>
            <a:endParaRPr b="1" sz="23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96" name="Google Shape;196;p31"/>
          <p:cNvSpPr txBox="1"/>
          <p:nvPr>
            <p:ph idx="4294967295" type="ctrTitle"/>
          </p:nvPr>
        </p:nvSpPr>
        <p:spPr>
          <a:xfrm>
            <a:off x="1745125" y="141500"/>
            <a:ext cx="3988500" cy="62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100"/>
              <a:t>הצגה עצמית</a:t>
            </a:r>
            <a:endParaRPr b="1" sz="32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97" name="Google Shape;197;p31"/>
          <p:cNvSpPr txBox="1"/>
          <p:nvPr>
            <p:ph idx="4294967295" type="subTitle"/>
          </p:nvPr>
        </p:nvSpPr>
        <p:spPr>
          <a:xfrm>
            <a:off x="475875" y="801300"/>
            <a:ext cx="5835300" cy="434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חשבו ספציפית על מישהו שהייתם רוצים שיהיה המנטי שלכם, </a:t>
            </a:r>
            <a:endParaRPr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1" algn="r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מהם שלושת הדברים שאתם חושבים שהוא צריך לדעת עליכם כדי להכנס לתהליך? </a:t>
            </a:r>
            <a:endParaRPr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1" algn="r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מה הייתם רוצים שהמנטי ידע עליכם בתור מנטור (ולא בתור מפקח)?</a:t>
            </a:r>
            <a:endParaRPr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1" algn="r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נסחו את ההצגה העצמית שלכם והצעת הערך עבור (למה כדאי להם) אותו מנטי.</a:t>
            </a:r>
            <a:endParaRPr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1" algn="r">
              <a:spcBef>
                <a:spcPts val="800"/>
              </a:spcBef>
              <a:spcAft>
                <a:spcPts val="1200"/>
              </a:spcAft>
              <a:buNone/>
            </a:pPr>
            <a:r>
              <a:t/>
            </a:r>
            <a:endParaRPr sz="2500"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198" name="Google Shape;198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03625" y="0"/>
            <a:ext cx="2340375" cy="1238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32"/>
          <p:cNvPicPr preferRelativeResize="0"/>
          <p:nvPr/>
        </p:nvPicPr>
        <p:blipFill rotWithShape="1">
          <a:blip r:embed="rId3">
            <a:alphaModFix/>
          </a:blip>
          <a:srcRect b="0" l="77602" r="0" t="0"/>
          <a:stretch/>
        </p:blipFill>
        <p:spPr>
          <a:xfrm>
            <a:off x="7095875" y="0"/>
            <a:ext cx="2048124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32"/>
          <p:cNvSpPr txBox="1"/>
          <p:nvPr/>
        </p:nvSpPr>
        <p:spPr>
          <a:xfrm>
            <a:off x="217725" y="1748525"/>
            <a:ext cx="6878100" cy="30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-342900" lvl="0" marL="457200" rtl="1" algn="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בהירות:</a:t>
            </a:r>
            <a:r>
              <a:rPr lang="en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לכתוב בשפה פשוטה, בלי מונחים טכניים.</a:t>
            </a:r>
            <a:br>
              <a:rPr lang="en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endParaRPr sz="1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45720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תועלת מוחשית:</a:t>
            </a:r>
            <a:r>
              <a:rPr lang="en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להדגיש מה הלקוח מרוויח (לא מה אתה עושה).</a:t>
            </a:r>
            <a:br>
              <a:rPr lang="en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endParaRPr sz="1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45720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ייחודיות:</a:t>
            </a:r>
            <a:r>
              <a:rPr lang="en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להראות מה מבדל אותך מהמתחרים.</a:t>
            </a:r>
            <a:br>
              <a:rPr lang="en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endParaRPr sz="1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45720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אמינות:</a:t>
            </a:r>
            <a:r>
              <a:rPr lang="en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רק הבטחות שאתה באמת עומד מאחוריהן</a:t>
            </a:r>
            <a:endParaRPr b="1" sz="30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05" name="Google Shape;205;p32"/>
          <p:cNvSpPr txBox="1"/>
          <p:nvPr>
            <p:ph idx="4294967295" type="ctrTitle"/>
          </p:nvPr>
        </p:nvSpPr>
        <p:spPr>
          <a:xfrm>
            <a:off x="565825" y="991625"/>
            <a:ext cx="4541700" cy="86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1" algn="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/>
              <a:t>עקרונות טובים להצעת ערך</a:t>
            </a:r>
            <a:endParaRPr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