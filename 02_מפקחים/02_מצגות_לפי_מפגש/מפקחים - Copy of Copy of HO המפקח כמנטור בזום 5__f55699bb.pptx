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Open Sans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penSansLight-bold.fntdata"/><Relationship Id="rId10" Type="http://schemas.openxmlformats.org/officeDocument/2006/relationships/slide" Target="slides/slide5.xml"/><Relationship Id="rId21" Type="http://schemas.openxmlformats.org/officeDocument/2006/relationships/font" Target="fonts/OpenSansLight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bf2f3c7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bbf2f3c7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abbf2f3c7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f33b8179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f33b8179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33b8179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33b8179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fde36ba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efde36ba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aefde36ba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f33b8179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f33b8179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287d2e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e287d2e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c9fae4c8e_0_52:notes"/>
          <p:cNvSpPr/>
          <p:nvPr>
            <p:ph idx="2" type="sldImg"/>
          </p:nvPr>
        </p:nvSpPr>
        <p:spPr>
          <a:xfrm>
            <a:off x="244676" y="685800"/>
            <a:ext cx="63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3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g3ac9fae4c8e_0_52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ac9fae4c8e_0_52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33b817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f33b817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fde36b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fde36b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f0b54ec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f0b54ec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f88e736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f88e736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e287d2e4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e287d2e4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c9fae4c8e_0_70:notes"/>
          <p:cNvSpPr/>
          <p:nvPr>
            <p:ph idx="2" type="sldImg"/>
          </p:nvPr>
        </p:nvSpPr>
        <p:spPr>
          <a:xfrm>
            <a:off x="244676" y="685800"/>
            <a:ext cx="63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3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g3ac9fae4c8e_0_70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ac9fae4c8e_0_70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f88e736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f88e736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13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3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Play"/>
              <a:buNone/>
              <a:defRPr sz="33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/>
          <p:nvPr>
            <p:ph idx="2" type="pic"/>
          </p:nvPr>
        </p:nvSpPr>
        <p:spPr>
          <a:xfrm>
            <a:off x="4218580" y="-5035"/>
            <a:ext cx="4934100" cy="517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 flipH="1">
            <a:off x="8183848" y="0"/>
            <a:ext cx="685200" cy="5143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title"/>
          </p:nvPr>
        </p:nvSpPr>
        <p:spPr>
          <a:xfrm>
            <a:off x="2977588" y="138896"/>
            <a:ext cx="51981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-14091" y="-17145"/>
            <a:ext cx="2469000" cy="5177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977587" y="1516796"/>
            <a:ext cx="52062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400"/>
            </a:lvl1pPr>
            <a:lvl2pPr indent="-2984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2pPr>
            <a:lvl3pPr indent="-29845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3pPr>
            <a:lvl4pPr indent="-29845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4pPr>
            <a:lvl5pPr indent="-29845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>
            <p:ph type="ctrTitle"/>
          </p:nvPr>
        </p:nvSpPr>
        <p:spPr>
          <a:xfrm>
            <a:off x="911304" y="396240"/>
            <a:ext cx="37716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911304" y="3020994"/>
            <a:ext cx="37716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b="1" sz="14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442995" y="-8682"/>
            <a:ext cx="3709500" cy="517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6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6"/>
          <p:cNvSpPr txBox="1"/>
          <p:nvPr>
            <p:ph type="title"/>
          </p:nvPr>
        </p:nvSpPr>
        <p:spPr>
          <a:xfrm>
            <a:off x="628649" y="273844"/>
            <a:ext cx="4984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28651" y="1541860"/>
            <a:ext cx="4335900" cy="30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200"/>
            </a:lvl2pPr>
            <a:lvl3pPr indent="-2794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Char char="•"/>
              <a:defRPr sz="1100"/>
            </a:lvl3pPr>
            <a:lvl4pPr indent="-2730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 sz="900"/>
            </a:lvl4pPr>
            <a:lvl5pPr indent="-2730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5675243" y="-17145"/>
            <a:ext cx="3468900" cy="51777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030A0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jpg"/><Relationship Id="rId5" Type="http://schemas.openxmlformats.org/officeDocument/2006/relationships/image" Target="../media/image12.gif"/><Relationship Id="rId6" Type="http://schemas.openxmlformats.org/officeDocument/2006/relationships/image" Target="../media/image1.gif"/><Relationship Id="rId7" Type="http://schemas.openxmlformats.org/officeDocument/2006/relationships/image" Target="../media/image14.gif"/><Relationship Id="rId8" Type="http://schemas.openxmlformats.org/officeDocument/2006/relationships/image" Target="../media/image2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dvHsOK3tw2wWW5-lMXxX9BJMtDYk3w2y/view" TargetMode="External"/><Relationship Id="rId4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Play"/>
              <a:buNone/>
            </a:pPr>
            <a:r>
              <a:rPr lang="en"/>
              <a:t>OUTCOME</a:t>
            </a:r>
            <a:br>
              <a:rPr lang="en"/>
            </a:br>
            <a:r>
              <a:rPr lang="en"/>
              <a:t>תוצאה</a:t>
            </a:r>
            <a:br>
              <a:rPr lang="en"/>
            </a:b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" y="4031316"/>
            <a:ext cx="1355805" cy="105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5974" y="-533925"/>
            <a:ext cx="9295949" cy="619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746175" y="1100200"/>
            <a:ext cx="7194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2E5CF"/>
                </a:solidFill>
              </a:rPr>
              <a:t>Outcome </a:t>
            </a:r>
            <a:r>
              <a:rPr lang="en" sz="4400">
                <a:solidFill>
                  <a:srgbClr val="F2E5CF"/>
                </a:solidFill>
              </a:rPr>
              <a:t>תוצ</a:t>
            </a:r>
            <a:r>
              <a:rPr lang="en" sz="4400">
                <a:solidFill>
                  <a:srgbClr val="F2E5CF"/>
                </a:solidFill>
              </a:rPr>
              <a:t>אה</a:t>
            </a:r>
            <a:endParaRPr sz="4400">
              <a:solidFill>
                <a:srgbClr val="F2E5C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34779" l="0" r="9543" t="16498"/>
          <a:stretch/>
        </p:blipFill>
        <p:spPr>
          <a:xfrm>
            <a:off x="792475" y="364600"/>
            <a:ext cx="8019274" cy="26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902200" y="3771905"/>
            <a:ext cx="7909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רק </a:t>
            </a:r>
            <a:r>
              <a:rPr b="1" lang="en" sz="2800">
                <a:solidFill>
                  <a:schemeClr val="dk1"/>
                </a:solidFill>
              </a:rPr>
              <a:t>8%</a:t>
            </a:r>
            <a:r>
              <a:rPr lang="en" sz="2800">
                <a:solidFill>
                  <a:schemeClr val="dk1"/>
                </a:solidFill>
              </a:rPr>
              <a:t> מהאנשים מצליחים להשיג את היעדים שקבעו לעצמם בראש השנה האזרחית.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48" y="833800"/>
            <a:ext cx="5809850" cy="349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-376500" y="39325"/>
            <a:ext cx="952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השפעת התחייבויות שונות על השגת המטרה </a:t>
            </a:r>
            <a:r>
              <a:rPr lang="en" sz="2800">
                <a:solidFill>
                  <a:schemeClr val="dk1"/>
                </a:solidFill>
              </a:rPr>
              <a:t>Gail Matthews </a:t>
            </a:r>
            <a:endParaRPr sz="2800"/>
          </a:p>
        </p:txBody>
      </p:sp>
      <p:sp>
        <p:nvSpPr>
          <p:cNvPr id="112" name="Google Shape;112;p21"/>
          <p:cNvSpPr/>
          <p:nvPr/>
        </p:nvSpPr>
        <p:spPr>
          <a:xfrm>
            <a:off x="7078850" y="1147475"/>
            <a:ext cx="2522100" cy="615600"/>
          </a:xfrm>
          <a:prstGeom prst="rect">
            <a:avLst/>
          </a:prstGeom>
          <a:solidFill>
            <a:srgbClr val="F09B6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חשבו על מטרה</a:t>
            </a:r>
            <a:endParaRPr sz="2200"/>
          </a:p>
        </p:txBody>
      </p:sp>
      <p:sp>
        <p:nvSpPr>
          <p:cNvPr id="113" name="Google Shape;113;p21"/>
          <p:cNvSpPr/>
          <p:nvPr/>
        </p:nvSpPr>
        <p:spPr>
          <a:xfrm>
            <a:off x="7078850" y="1788175"/>
            <a:ext cx="2522100" cy="615600"/>
          </a:xfrm>
          <a:prstGeom prst="rect">
            <a:avLst/>
          </a:prstGeom>
          <a:solidFill>
            <a:srgbClr val="5E976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כתבו אותה</a:t>
            </a:r>
            <a:endParaRPr sz="2200"/>
          </a:p>
        </p:txBody>
      </p:sp>
      <p:sp>
        <p:nvSpPr>
          <p:cNvPr id="114" name="Google Shape;114;p21"/>
          <p:cNvSpPr/>
          <p:nvPr/>
        </p:nvSpPr>
        <p:spPr>
          <a:xfrm>
            <a:off x="7078850" y="2428875"/>
            <a:ext cx="2522100" cy="615600"/>
          </a:xfrm>
          <a:prstGeom prst="rect">
            <a:avLst/>
          </a:prstGeom>
          <a:solidFill>
            <a:srgbClr val="57BBE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התחייבו לפעולה</a:t>
            </a:r>
            <a:endParaRPr sz="2200"/>
          </a:p>
        </p:txBody>
      </p:sp>
      <p:sp>
        <p:nvSpPr>
          <p:cNvPr id="115" name="Google Shape;115;p21"/>
          <p:cNvSpPr/>
          <p:nvPr/>
        </p:nvSpPr>
        <p:spPr>
          <a:xfrm>
            <a:off x="7078850" y="3069575"/>
            <a:ext cx="2522100" cy="615600"/>
          </a:xfrm>
          <a:prstGeom prst="rect">
            <a:avLst/>
          </a:prstGeom>
          <a:solidFill>
            <a:srgbClr val="BC6AB3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ספרו למשהו</a:t>
            </a:r>
            <a:endParaRPr sz="2200"/>
          </a:p>
        </p:txBody>
      </p:sp>
      <p:sp>
        <p:nvSpPr>
          <p:cNvPr id="116" name="Google Shape;116;p21"/>
          <p:cNvSpPr/>
          <p:nvPr/>
        </p:nvSpPr>
        <p:spPr>
          <a:xfrm>
            <a:off x="7078850" y="3710275"/>
            <a:ext cx="2522100" cy="615600"/>
          </a:xfrm>
          <a:prstGeom prst="rect">
            <a:avLst/>
          </a:prstGeom>
          <a:solidFill>
            <a:srgbClr val="83C16C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יצרו אחריותיות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95999" y="471050"/>
            <a:ext cx="46191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David"/>
              <a:buNone/>
            </a:pPr>
            <a:r>
              <a:rPr b="1" lang="en" sz="4700">
                <a:solidFill>
                  <a:srgbClr val="2F78BC"/>
                </a:solidFill>
              </a:rPr>
              <a:t>כוחו של הדמיון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-12" y="3336213"/>
            <a:ext cx="461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Lotze, M., Scheler, G., Tan, H. R. M., Braun, C., &amp; Birbaumer, N. (2003).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96000" y="1304325"/>
            <a:ext cx="4619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מוזיקאים:</a:t>
            </a:r>
            <a:endParaRPr b="1" sz="24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“ב-fMRI נמצא שכאשר מוזיקאים מנגנים בפועל וכאשר הם רק ‘מנגנים בראש’, מופעלים כמעט אותם אזורים במוח. </a:t>
            </a:r>
            <a:endParaRPr sz="2400"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50" y="-90066"/>
            <a:ext cx="4146550" cy="62311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96000" y="4051400"/>
            <a:ext cx="4619100" cy="23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ספורטאים: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מחקרי MRI </a:t>
            </a:r>
            <a:r>
              <a:rPr lang="en" sz="2400"/>
              <a:t>מראים שדמיון של תנועה מפעיל את אותם אזורים בקורטקס המוטורי כפי ש</a:t>
            </a:r>
            <a:r>
              <a:rPr lang="en" sz="2400">
                <a:solidFill>
                  <a:schemeClr val="dk1"/>
                </a:solidFill>
              </a:rPr>
              <a:t>קורה בעת ביצועה בפועל</a:t>
            </a:r>
            <a:r>
              <a:rPr lang="en" sz="33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ctrTitle"/>
          </p:nvPr>
        </p:nvSpPr>
        <p:spPr>
          <a:xfrm>
            <a:off x="800404" y="2058790"/>
            <a:ext cx="3771600" cy="2516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“לפני שאני מתחרה, אני תמיד מדמיין את המרוץ המושלם. אני רואה כל חתירה. כל פנייה. כל נשימה. וכשהמרוץ באמת קורה, זה מרגיש כאילו כבר עשיתי אותו אלף פעמים.”</a:t>
            </a:r>
            <a:endParaRPr sz="4700"/>
          </a:p>
        </p:txBody>
      </p:sp>
      <p:sp>
        <p:nvSpPr>
          <p:cNvPr id="132" name="Google Shape;132;p23"/>
          <p:cNvSpPr/>
          <p:nvPr>
            <p:ph idx="2" type="pic"/>
          </p:nvPr>
        </p:nvSpPr>
        <p:spPr>
          <a:xfrm>
            <a:off x="9162595" y="-17107"/>
            <a:ext cx="3709500" cy="5177700"/>
          </a:xfrm>
          <a:prstGeom prst="rect">
            <a:avLst/>
          </a:prstGeom>
        </p:spPr>
      </p:sp>
      <p:sp>
        <p:nvSpPr>
          <p:cNvPr id="133" name="Google Shape;133;p23"/>
          <p:cNvSpPr txBox="1"/>
          <p:nvPr/>
        </p:nvSpPr>
        <p:spPr>
          <a:xfrm>
            <a:off x="381200" y="357550"/>
            <a:ext cx="592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Michael Phelps</a:t>
            </a:r>
            <a:endParaRPr sz="3200">
              <a:solidFill>
                <a:schemeClr val="dk2"/>
              </a:solidFill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100" y="-84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457200" y="461775"/>
            <a:ext cx="6525900" cy="73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rgbClr val="2F78BC"/>
                </a:solidFill>
              </a:rPr>
              <a:t>תמונת עתיד</a:t>
            </a:r>
            <a:endParaRPr sz="4700">
              <a:solidFill>
                <a:srgbClr val="2F78B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0" y="1657350"/>
            <a:ext cx="69831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5100"/>
              <a:t>תספר/י לי על עצמך, אחרי שהשגת את המטרה: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רואה? איך את/ה נראה/ת?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שומע/ת?איך את/ה נשמע/ת?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אומר/ת לעצמך בדיבור הפנימי?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איך את/ה מרגיש/ה?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איפה את/ה?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עם מי את/ה?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" sz="4000"/>
              <a:t>מתי זה קורה?</a:t>
            </a:r>
            <a:endParaRPr b="1" sz="4000"/>
          </a:p>
          <a:p>
            <a:pPr indent="-342900" lvl="0" marL="342900" rtl="1" algn="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100">
                <a:solidFill>
                  <a:schemeClr val="dk2"/>
                </a:solidFill>
              </a:rPr>
              <a:t> תמו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49475" y="1600200"/>
            <a:ext cx="67248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406400" lvl="0" marL="45720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גוף שלישי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חיובי - רק מה שכן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תלוי בי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ברור ומדויק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0" y="0"/>
            <a:ext cx="7211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2F78BC"/>
                </a:solidFill>
              </a:rPr>
              <a:t>תמונת עתיד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0" y="660450"/>
            <a:ext cx="7211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2F78BC"/>
                </a:solidFill>
              </a:rPr>
              <a:t>כללים:</a:t>
            </a:r>
            <a:endParaRPr sz="800"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" y="1170450"/>
            <a:ext cx="3246624" cy="216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">
            <a:off x="457200" y="3465930"/>
            <a:ext cx="3246625" cy="216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7200" y="685800"/>
            <a:ext cx="64977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rgbClr val="2F78BC"/>
                </a:solidFill>
              </a:rPr>
              <a:t>תמונת עתיד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966939"/>
            <a:ext cx="64977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1" algn="r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להיות בהקשבה ברמה 2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ראפור </a:t>
            </a:r>
            <a:endParaRPr sz="2800"/>
          </a:p>
          <a:p>
            <a:pPr indent="-406400" lvl="3" marL="1828800" rtl="1" algn="r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" sz="2800"/>
              <a:t>להשתמש במילים שלהם</a:t>
            </a:r>
            <a:endParaRPr sz="2800"/>
          </a:p>
          <a:p>
            <a:pPr indent="-406400" lvl="3" marL="1828800" rtl="1" algn="r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" sz="2800"/>
              <a:t>קליברציה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להקריא כל כמה זמן ואם יש דיוקים לדייק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לוודא ששומרים על הכללים</a:t>
            </a:r>
            <a:endParaRPr sz="2800"/>
          </a:p>
          <a:p>
            <a:pPr indent="0" lvl="0" marL="457200" rtl="1" algn="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457200" y="14250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טיפים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685800"/>
            <a:ext cx="65337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SMART</a:t>
            </a:r>
            <a:endParaRPr sz="4700">
              <a:solidFill>
                <a:srgbClr val="2F78BC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457200" y="1633975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S</a:t>
            </a:r>
            <a:r>
              <a:rPr lang="en" sz="2700"/>
              <a:t>pecific</a:t>
            </a:r>
            <a:endParaRPr sz="2700"/>
          </a:p>
        </p:txBody>
      </p:sp>
      <p:sp>
        <p:nvSpPr>
          <p:cNvPr id="173" name="Google Shape;173;p27"/>
          <p:cNvSpPr/>
          <p:nvPr/>
        </p:nvSpPr>
        <p:spPr>
          <a:xfrm>
            <a:off x="457200" y="2347356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M</a:t>
            </a:r>
            <a:r>
              <a:rPr lang="en" sz="2700">
                <a:solidFill>
                  <a:schemeClr val="dk1"/>
                </a:solidFill>
              </a:rPr>
              <a:t>easurable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57200" y="3060738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A</a:t>
            </a:r>
            <a:r>
              <a:rPr lang="en" sz="2700">
                <a:solidFill>
                  <a:schemeClr val="dk1"/>
                </a:solidFill>
              </a:rPr>
              <a:t>chievable</a:t>
            </a:r>
            <a:endParaRPr sz="2700"/>
          </a:p>
        </p:txBody>
      </p:sp>
      <p:sp>
        <p:nvSpPr>
          <p:cNvPr id="175" name="Google Shape;175;p27"/>
          <p:cNvSpPr/>
          <p:nvPr/>
        </p:nvSpPr>
        <p:spPr>
          <a:xfrm>
            <a:off x="457200" y="3774119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R</a:t>
            </a:r>
            <a:r>
              <a:rPr lang="en" sz="2700">
                <a:solidFill>
                  <a:schemeClr val="dk1"/>
                </a:solidFill>
              </a:rPr>
              <a:t>elavent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457200" y="4487500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T</a:t>
            </a:r>
            <a:r>
              <a:rPr lang="en" sz="2700">
                <a:solidFill>
                  <a:schemeClr val="dk1"/>
                </a:solidFill>
              </a:rPr>
              <a:t>ime based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 flipH="1">
            <a:off x="4765975" y="1633988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ספציפי</a:t>
            </a:r>
            <a:endParaRPr sz="2700"/>
          </a:p>
        </p:txBody>
      </p:sp>
      <p:sp>
        <p:nvSpPr>
          <p:cNvPr id="178" name="Google Shape;178;p27"/>
          <p:cNvSpPr/>
          <p:nvPr/>
        </p:nvSpPr>
        <p:spPr>
          <a:xfrm flipH="1">
            <a:off x="4765975" y="2347369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מדיד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79" name="Google Shape;179;p27"/>
          <p:cNvSpPr/>
          <p:nvPr/>
        </p:nvSpPr>
        <p:spPr>
          <a:xfrm flipH="1">
            <a:off x="4765975" y="3060750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בר השגה</a:t>
            </a:r>
            <a:endParaRPr sz="2700"/>
          </a:p>
        </p:txBody>
      </p:sp>
      <p:sp>
        <p:nvSpPr>
          <p:cNvPr id="180" name="Google Shape;180;p27"/>
          <p:cNvSpPr/>
          <p:nvPr/>
        </p:nvSpPr>
        <p:spPr>
          <a:xfrm flipH="1">
            <a:off x="4765975" y="3774131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רלוונטי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 flipH="1">
            <a:off x="4765975" y="4487513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תחום בזמן</a:t>
            </a:r>
            <a:endParaRPr/>
          </a:p>
        </p:txBody>
      </p:sp>
      <p:pic>
        <p:nvPicPr>
          <p:cNvPr descr="Arrow hitting bull's-eye on target (Provided by Getty Images)"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7068" y="1515125"/>
            <a:ext cx="783570" cy="780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ooden ruler with black numbers on it (Provided by Tenor)"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637" y="2363726"/>
            <a:ext cx="568433" cy="568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old medal with the number 1 on it and red ribbons (Provided by Tenor)" id="184" name="Google Shape;18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7065" y="2759553"/>
            <a:ext cx="783576" cy="832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exclamation point with two red circles around it on a white background (Provided by Tenor)" id="185" name="Google Shape;18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7065" y="3707829"/>
            <a:ext cx="783576" cy="78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hourglass with a black base and a black lid (Provided by Tenor)" id="186" name="Google Shape;186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0478" y="4607655"/>
            <a:ext cx="476750" cy="56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8" title="WhatsApp Video 2025-11-20 at 14.57.42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278" y="269750"/>
            <a:ext cx="8221443" cy="46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457200" y="663175"/>
            <a:ext cx="6365700" cy="87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קריטריונים אובייקטיבים</a:t>
            </a:r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947925" y="1810525"/>
            <a:ext cx="499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לפחות 3</a:t>
            </a:r>
            <a:r>
              <a:rPr lang="en" sz="2800">
                <a:solidFill>
                  <a:schemeClr val="dk2"/>
                </a:solidFill>
              </a:rPr>
              <a:t> יעדים אופרטיבים שיעידו על השגת ה OUTCOME 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457200" y="685800"/>
            <a:ext cx="67545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אקולוגיה</a:t>
            </a:r>
            <a:endParaRPr/>
          </a:p>
        </p:txBody>
      </p:sp>
      <p:sp>
        <p:nvSpPr>
          <p:cNvPr id="207" name="Google Shape;207;p30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457200" y="1600200"/>
            <a:ext cx="65292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על מה תצטרכו לוותר כדי להשיג את outcome?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האם אני יכולה לוותר על זה? 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האם אני מוכנה לוותר על זה?</a:t>
            </a:r>
            <a:endParaRPr sz="3600"/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אם אוותר על זה, האם אשיג את outcome?</a:t>
            </a:r>
            <a:endParaRPr sz="31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"אני מתחייב/ת לוותר על ________ עד ________ כדי לאפשר את ה־Outcome שלי</a:t>
            </a:r>
            <a:endParaRPr sz="3100"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600"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533400" y="20002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שימושים ב Outcome?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4003675" y="2000250"/>
            <a:ext cx="51402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00"/>
              <a:buFont typeface="Arial"/>
              <a:buNone/>
            </a:pPr>
            <a:r>
              <a:rPr b="0" i="0" lang="en" sz="239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גדול</a:t>
            </a:r>
            <a:endParaRPr b="0" i="0" sz="239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2209800" y="3657600"/>
            <a:ext cx="5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קטן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5257800" y="1400175"/>
            <a:ext cx="296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ארוך טווח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2133600" y="1400175"/>
            <a:ext cx="146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קצר טווח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5257800" y="2857500"/>
            <a:ext cx="242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אישי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3048000" y="2857500"/>
            <a:ext cx="167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עיסקי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23403" l="10350" r="14162" t="14323"/>
          <a:stretch/>
        </p:blipFill>
        <p:spPr>
          <a:xfrm rot="5400000">
            <a:off x="2054650" y="-1497325"/>
            <a:ext cx="5034701" cy="81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1702300" y="856800"/>
            <a:ext cx="58065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36609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A0A0A"/>
                </a:solidFill>
                <a:highlight>
                  <a:srgbClr val="FFFFFF"/>
                </a:highlight>
              </a:rPr>
              <a:t>"אתה נמצא במקום בו נמצאות מחשבותיך, ודא שמחשבותיך נמצאות במקום בו אתה רוצה להיות" </a:t>
            </a:r>
            <a:endParaRPr sz="3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1" algn="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0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549300" y="3430900"/>
            <a:ext cx="423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הרבי נחמן מברסלב.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