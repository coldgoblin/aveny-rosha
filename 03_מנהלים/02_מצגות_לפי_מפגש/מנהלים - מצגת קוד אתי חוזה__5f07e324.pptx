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335" r:id="rId5"/>
    <p:sldId id="336" r:id="rId6"/>
    <p:sldId id="337" r:id="rId7"/>
    <p:sldId id="348" r:id="rId8"/>
    <p:sldId id="349" r:id="rId9"/>
    <p:sldId id="350" r:id="rId10"/>
    <p:sldId id="351" r:id="rId11"/>
    <p:sldId id="352" r:id="rId12"/>
    <p:sldId id="353" r:id="rId13"/>
    <p:sldId id="339" r:id="rId14"/>
    <p:sldId id="354" r:id="rId15"/>
    <p:sldId id="355" r:id="rId16"/>
    <p:sldId id="340" r:id="rId17"/>
    <p:sldId id="34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66B2B0"/>
    <a:srgbClr val="468C8A"/>
    <a:srgbClr val="F9AA19"/>
    <a:srgbClr val="BFD6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94" autoAdjust="0"/>
  </p:normalViewPr>
  <p:slideViewPr>
    <p:cSldViewPr snapToGrid="0">
      <p:cViewPr varScale="1">
        <p:scale>
          <a:sx n="70" d="100"/>
          <a:sy n="70" d="100"/>
        </p:scale>
        <p:origin x="536" y="52"/>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10/20/2025</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10/20/2025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8B990660-4B7D-4C11-96DB-B19FFA8CA93C}" type="slidenum">
              <a:rPr lang="en-US" smtClean="0"/>
              <a:t>3</a:t>
            </a:fld>
            <a:endParaRPr lang="en-US" dirty="0"/>
          </a:p>
        </p:txBody>
      </p:sp>
    </p:spTree>
    <p:extLst>
      <p:ext uri="{BB962C8B-B14F-4D97-AF65-F5344CB8AC3E}">
        <p14:creationId xmlns:p14="http://schemas.microsoft.com/office/powerpoint/2010/main" val="1969073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43FE2-E97F-1801-71A5-B4D812E5A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67766-D066-F932-28B9-F0B30801C0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CEB1B-18ED-34DB-3FB7-0CDC00DA3F47}"/>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CE40F85C-93D2-0B0A-3B2F-C42E533CC30E}"/>
              </a:ext>
            </a:extLst>
          </p:cNvPr>
          <p:cNvSpPr>
            <a:spLocks noGrp="1"/>
          </p:cNvSpPr>
          <p:nvPr>
            <p:ph type="sldNum" sz="quarter" idx="5"/>
          </p:nvPr>
        </p:nvSpPr>
        <p:spPr/>
        <p:txBody>
          <a:bodyPr/>
          <a:lstStyle/>
          <a:p>
            <a:fld id="{8B990660-4B7D-4C11-96DB-B19FFA8CA93C}" type="slidenum">
              <a:rPr lang="en-US" smtClean="0"/>
              <a:t>4</a:t>
            </a:fld>
            <a:endParaRPr lang="en-US" dirty="0"/>
          </a:p>
        </p:txBody>
      </p:sp>
    </p:spTree>
    <p:extLst>
      <p:ext uri="{BB962C8B-B14F-4D97-AF65-F5344CB8AC3E}">
        <p14:creationId xmlns:p14="http://schemas.microsoft.com/office/powerpoint/2010/main" val="221291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65CD-5483-E757-67D0-C0C123845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45EF0-3198-5AD7-6673-42DF906E1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2583F-5C52-87FB-D732-2462E0515620}"/>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565CF161-29F2-6BB5-AA23-CADD5B6DB592}"/>
              </a:ext>
            </a:extLst>
          </p:cNvPr>
          <p:cNvSpPr>
            <a:spLocks noGrp="1"/>
          </p:cNvSpPr>
          <p:nvPr>
            <p:ph type="sldNum" sz="quarter" idx="5"/>
          </p:nvPr>
        </p:nvSpPr>
        <p:spPr/>
        <p:txBody>
          <a:bodyPr/>
          <a:lstStyle/>
          <a:p>
            <a:fld id="{8B990660-4B7D-4C11-96DB-B19FFA8CA93C}" type="slidenum">
              <a:rPr lang="en-US" smtClean="0"/>
              <a:t>5</a:t>
            </a:fld>
            <a:endParaRPr lang="en-US" dirty="0"/>
          </a:p>
        </p:txBody>
      </p:sp>
    </p:spTree>
    <p:extLst>
      <p:ext uri="{BB962C8B-B14F-4D97-AF65-F5344CB8AC3E}">
        <p14:creationId xmlns:p14="http://schemas.microsoft.com/office/powerpoint/2010/main" val="2799917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181AF-0F34-8DC2-FDD6-E3A15EAE2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B45CA-348B-037B-7374-D0CF9341C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AE0B7D-C9C5-6493-84C6-3FC8867896B5}"/>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09278EEB-AAB6-8192-025F-3975FE326461}"/>
              </a:ext>
            </a:extLst>
          </p:cNvPr>
          <p:cNvSpPr>
            <a:spLocks noGrp="1"/>
          </p:cNvSpPr>
          <p:nvPr>
            <p:ph type="sldNum" sz="quarter" idx="5"/>
          </p:nvPr>
        </p:nvSpPr>
        <p:spPr/>
        <p:txBody>
          <a:bodyPr/>
          <a:lstStyle/>
          <a:p>
            <a:fld id="{8B990660-4B7D-4C11-96DB-B19FFA8CA93C}" type="slidenum">
              <a:rPr lang="en-US" smtClean="0"/>
              <a:t>6</a:t>
            </a:fld>
            <a:endParaRPr lang="en-US" dirty="0"/>
          </a:p>
        </p:txBody>
      </p:sp>
    </p:spTree>
    <p:extLst>
      <p:ext uri="{BB962C8B-B14F-4D97-AF65-F5344CB8AC3E}">
        <p14:creationId xmlns:p14="http://schemas.microsoft.com/office/powerpoint/2010/main" val="1480455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85E6C-88EC-741B-A916-B86B65AF1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8904A1-5A61-9EFC-630C-2933DAEE9B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EA4E5-040F-2E0E-1EE9-0DFE099BA38C}"/>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EC128991-922E-ACBF-A05E-BD572D8C9FB0}"/>
              </a:ext>
            </a:extLst>
          </p:cNvPr>
          <p:cNvSpPr>
            <a:spLocks noGrp="1"/>
          </p:cNvSpPr>
          <p:nvPr>
            <p:ph type="sldNum" sz="quarter" idx="5"/>
          </p:nvPr>
        </p:nvSpPr>
        <p:spPr/>
        <p:txBody>
          <a:bodyPr/>
          <a:lstStyle/>
          <a:p>
            <a:fld id="{8B990660-4B7D-4C11-96DB-B19FFA8CA93C}" type="slidenum">
              <a:rPr lang="en-US" smtClean="0"/>
              <a:t>7</a:t>
            </a:fld>
            <a:endParaRPr lang="en-US" dirty="0"/>
          </a:p>
        </p:txBody>
      </p:sp>
    </p:spTree>
    <p:extLst>
      <p:ext uri="{BB962C8B-B14F-4D97-AF65-F5344CB8AC3E}">
        <p14:creationId xmlns:p14="http://schemas.microsoft.com/office/powerpoint/2010/main" val="1809673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A05B6-DB78-B3AB-C3B6-B07E31405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2237A-72F0-779A-E6C1-033C78F513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294DE-F8E2-4B47-1862-F306EBA3BD84}"/>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8EDF2B0C-5520-40DC-A925-6E7AB72E9B6C}"/>
              </a:ext>
            </a:extLst>
          </p:cNvPr>
          <p:cNvSpPr>
            <a:spLocks noGrp="1"/>
          </p:cNvSpPr>
          <p:nvPr>
            <p:ph type="sldNum" sz="quarter" idx="5"/>
          </p:nvPr>
        </p:nvSpPr>
        <p:spPr/>
        <p:txBody>
          <a:bodyPr/>
          <a:lstStyle/>
          <a:p>
            <a:fld id="{8B990660-4B7D-4C11-96DB-B19FFA8CA93C}" type="slidenum">
              <a:rPr lang="en-US" smtClean="0"/>
              <a:t>8</a:t>
            </a:fld>
            <a:endParaRPr lang="en-US" dirty="0"/>
          </a:p>
        </p:txBody>
      </p:sp>
    </p:spTree>
    <p:extLst>
      <p:ext uri="{BB962C8B-B14F-4D97-AF65-F5344CB8AC3E}">
        <p14:creationId xmlns:p14="http://schemas.microsoft.com/office/powerpoint/2010/main" val="1477020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5705856" y="694944"/>
            <a:ext cx="5221224" cy="1511007"/>
          </a:xfrm>
        </p:spPr>
        <p:txBody>
          <a:bodyPr/>
          <a:lstStyle/>
          <a:p>
            <a:pPr algn="r" rtl="1"/>
            <a:r>
              <a:rPr lang="he-IL" dirty="0" err="1">
                <a:latin typeface="David" panose="020E0502060401010101" pitchFamily="34" charset="-79"/>
                <a:cs typeface="David" panose="020E0502060401010101" pitchFamily="34" charset="-79"/>
              </a:rPr>
              <a:t>מנטורים</a:t>
            </a:r>
            <a:r>
              <a:rPr lang="he-IL" dirty="0">
                <a:latin typeface="David" panose="020E0502060401010101" pitchFamily="34" charset="-79"/>
                <a:cs typeface="David" panose="020E0502060401010101" pitchFamily="34" charset="-79"/>
              </a:rPr>
              <a:t> אבני ראשה</a:t>
            </a:r>
            <a:br>
              <a:rPr lang="he-IL"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מפגש מספר 3</a:t>
            </a:r>
            <a:endParaRPr lang="en-US"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893064" y="72518"/>
            <a:ext cx="8297380" cy="805306"/>
          </a:xfrm>
        </p:spPr>
        <p:txBody>
          <a:bodyPr/>
          <a:lstStyle/>
          <a:p>
            <a:pPr algn="r"/>
            <a:r>
              <a:rPr lang="he-IL" dirty="0">
                <a:latin typeface="David" panose="020E0502060401010101" pitchFamily="34" charset="-79"/>
                <a:cs typeface="David" panose="020E0502060401010101" pitchFamily="34" charset="-79"/>
              </a:rPr>
              <a:t>סדר יום </a:t>
            </a:r>
            <a:r>
              <a:rPr lang="en-US" dirty="0">
                <a:latin typeface="David" panose="020E0502060401010101" pitchFamily="34" charset="-79"/>
                <a:cs typeface="David" panose="020E0502060401010101" pitchFamily="34" charset="-79"/>
              </a:rPr>
              <a:t> </a:t>
            </a:r>
          </a:p>
        </p:txBody>
      </p:sp>
      <p:sp>
        <p:nvSpPr>
          <p:cNvPr id="7" name="Text Placeholder 6">
            <a:extLst>
              <a:ext uri="{FF2B5EF4-FFF2-40B4-BE49-F238E27FC236}">
                <a16:creationId xmlns:a16="http://schemas.microsoft.com/office/drawing/2014/main" id="{70B4EC43-20C2-1DA5-646B-B8D26CF7D003}"/>
              </a:ext>
            </a:extLst>
          </p:cNvPr>
          <p:cNvSpPr>
            <a:spLocks noGrp="1"/>
          </p:cNvSpPr>
          <p:nvPr>
            <p:ph type="body" sz="quarter" idx="13"/>
          </p:nvPr>
        </p:nvSpPr>
        <p:spPr>
          <a:xfrm>
            <a:off x="2542031" y="1024128"/>
            <a:ext cx="6858001" cy="5669280"/>
          </a:xfrm>
        </p:spPr>
        <p:txBody>
          <a:bodyPr/>
          <a:lstStyle/>
          <a:p>
            <a:pPr marL="0" indent="0" algn="r" rtl="1">
              <a:spcAft>
                <a:spcPts val="0"/>
              </a:spcAft>
              <a:buNone/>
            </a:pPr>
            <a:r>
              <a:rPr lang="he-IL" dirty="0">
                <a:latin typeface="David" panose="020E0502060401010101" pitchFamily="34" charset="-79"/>
                <a:cs typeface="David" panose="020E0502060401010101" pitchFamily="34" charset="-79"/>
              </a:rPr>
              <a:t>9:30 פתיחה </a:t>
            </a:r>
          </a:p>
          <a:p>
            <a:pPr marL="0" indent="0" algn="r" rtl="1">
              <a:spcAft>
                <a:spcPts val="0"/>
              </a:spcAft>
              <a:buNone/>
            </a:pPr>
            <a:r>
              <a:rPr lang="he-IL" dirty="0">
                <a:latin typeface="David" panose="020E0502060401010101" pitchFamily="34" charset="-79"/>
                <a:cs typeface="David" panose="020E0502060401010101" pitchFamily="34" charset="-79"/>
              </a:rPr>
              <a:t>שאלון </a:t>
            </a:r>
            <a:r>
              <a:rPr lang="en-US" dirty="0">
                <a:latin typeface="David" panose="020E0502060401010101" pitchFamily="34" charset="-79"/>
                <a:cs typeface="David" panose="020E0502060401010101" pitchFamily="34" charset="-79"/>
              </a:rPr>
              <a:t>T0</a:t>
            </a:r>
            <a:endParaRPr lang="he-IL" dirty="0">
              <a:latin typeface="David" panose="020E0502060401010101" pitchFamily="34" charset="-79"/>
              <a:cs typeface="David" panose="020E0502060401010101" pitchFamily="34" charset="-79"/>
            </a:endParaRPr>
          </a:p>
          <a:p>
            <a:pPr marL="0" indent="0" algn="r" rtl="1">
              <a:spcAft>
                <a:spcPts val="0"/>
              </a:spcAft>
              <a:buNone/>
            </a:pPr>
            <a:r>
              <a:rPr lang="he-IL" dirty="0">
                <a:latin typeface="David" panose="020E0502060401010101" pitchFamily="34" charset="-79"/>
                <a:cs typeface="David" panose="020E0502060401010101" pitchFamily="34" charset="-79"/>
              </a:rPr>
              <a:t>קוד אתי , חוזה אישי מנטור-</a:t>
            </a:r>
            <a:r>
              <a:rPr lang="he-IL" dirty="0" err="1">
                <a:latin typeface="David" panose="020E0502060401010101" pitchFamily="34" charset="-79"/>
                <a:cs typeface="David" panose="020E0502060401010101" pitchFamily="34" charset="-79"/>
              </a:rPr>
              <a:t>מנטי</a:t>
            </a:r>
            <a:endParaRPr lang="he-IL" dirty="0">
              <a:latin typeface="David" panose="020E0502060401010101" pitchFamily="34" charset="-79"/>
              <a:cs typeface="David" panose="020E0502060401010101" pitchFamily="34" charset="-79"/>
            </a:endParaRPr>
          </a:p>
          <a:p>
            <a:pPr marL="0" indent="0" algn="r" rtl="1">
              <a:spcAft>
                <a:spcPts val="0"/>
              </a:spcAft>
              <a:buNone/>
            </a:pPr>
            <a:endParaRPr lang="he-IL" dirty="0">
              <a:latin typeface="David" panose="020E0502060401010101" pitchFamily="34" charset="-79"/>
              <a:cs typeface="David" panose="020E0502060401010101" pitchFamily="34" charset="-79"/>
            </a:endParaRPr>
          </a:p>
          <a:p>
            <a:pPr marL="0" indent="0" algn="r" rtl="1">
              <a:spcAft>
                <a:spcPts val="0"/>
              </a:spcAft>
              <a:buNone/>
            </a:pPr>
            <a:r>
              <a:rPr lang="he-IL" dirty="0">
                <a:latin typeface="David" panose="020E0502060401010101" pitchFamily="34" charset="-79"/>
                <a:cs typeface="David" panose="020E0502060401010101" pitchFamily="34" charset="-79"/>
              </a:rPr>
              <a:t>12:00 ארוחת </a:t>
            </a:r>
            <a:r>
              <a:rPr lang="he-IL" dirty="0" err="1">
                <a:latin typeface="David" panose="020E0502060401010101" pitchFamily="34" charset="-79"/>
                <a:cs typeface="David" panose="020E0502060401010101" pitchFamily="34" charset="-79"/>
              </a:rPr>
              <a:t>צהריים</a:t>
            </a:r>
            <a:r>
              <a:rPr lang="he-IL" dirty="0">
                <a:latin typeface="David" panose="020E0502060401010101" pitchFamily="34" charset="-79"/>
                <a:cs typeface="David" panose="020E0502060401010101" pitchFamily="34" charset="-79"/>
              </a:rPr>
              <a:t> </a:t>
            </a:r>
          </a:p>
          <a:p>
            <a:pPr marL="0" indent="0" algn="r" rtl="1">
              <a:spcAft>
                <a:spcPts val="0"/>
              </a:spcAft>
              <a:buNone/>
            </a:pPr>
            <a:endParaRPr lang="he-IL" dirty="0">
              <a:latin typeface="David" panose="020E0502060401010101" pitchFamily="34" charset="-79"/>
              <a:cs typeface="David" panose="020E0502060401010101" pitchFamily="34" charset="-79"/>
            </a:endParaRPr>
          </a:p>
          <a:p>
            <a:pPr marL="0" indent="0" algn="r" rtl="1">
              <a:spcAft>
                <a:spcPts val="0"/>
              </a:spcAft>
              <a:buNone/>
            </a:pPr>
            <a:r>
              <a:rPr lang="he-IL" dirty="0">
                <a:latin typeface="David" panose="020E0502060401010101" pitchFamily="34" charset="-79"/>
                <a:cs typeface="David" panose="020E0502060401010101" pitchFamily="34" charset="-79"/>
              </a:rPr>
              <a:t>12:30 ד"ר יעקב נחום מנכ"ל אבני ראשה</a:t>
            </a:r>
          </a:p>
          <a:p>
            <a:pPr marL="0" indent="0" algn="r" rtl="1">
              <a:spcAft>
                <a:spcPts val="0"/>
              </a:spcAft>
              <a:buNone/>
            </a:pPr>
            <a:r>
              <a:rPr lang="he-IL" dirty="0">
                <a:latin typeface="David" panose="020E0502060401010101" pitchFamily="34" charset="-79"/>
                <a:cs typeface="David" panose="020E0502060401010101" pitchFamily="34" charset="-79"/>
              </a:rPr>
              <a:t>            מנוטרים למנהלים אבני ראשה – מבט מערכתי</a:t>
            </a:r>
          </a:p>
          <a:p>
            <a:pPr marL="0" indent="0" algn="r" rtl="1">
              <a:spcAft>
                <a:spcPts val="0"/>
              </a:spcAft>
              <a:buNone/>
            </a:pPr>
            <a:endParaRPr lang="he-IL" dirty="0">
              <a:latin typeface="David" panose="020E0502060401010101" pitchFamily="34" charset="-79"/>
              <a:cs typeface="David" panose="020E0502060401010101" pitchFamily="34" charset="-79"/>
            </a:endParaRPr>
          </a:p>
          <a:p>
            <a:pPr marL="0" indent="0" algn="r" rtl="1">
              <a:spcAft>
                <a:spcPts val="0"/>
              </a:spcAft>
              <a:buNone/>
            </a:pPr>
            <a:r>
              <a:rPr lang="he-IL" dirty="0">
                <a:latin typeface="David" panose="020E0502060401010101" pitchFamily="34" charset="-79"/>
                <a:cs typeface="David" panose="020E0502060401010101" pitchFamily="34" charset="-79"/>
              </a:rPr>
              <a:t>14:00  עבודה בקבוצות לבחירה : </a:t>
            </a:r>
          </a:p>
          <a:p>
            <a:pPr lvl="2" algn="r" rtl="1"/>
            <a:r>
              <a:rPr lang="he-IL" dirty="0">
                <a:latin typeface="David" panose="020E0502060401010101" pitchFamily="34" charset="-79"/>
                <a:cs typeface="David" panose="020E0502060401010101" pitchFamily="34" charset="-79"/>
              </a:rPr>
              <a:t>תכנון תהליך </a:t>
            </a:r>
            <a:r>
              <a:rPr lang="he-IL" dirty="0" err="1">
                <a:latin typeface="David" panose="020E0502060401010101" pitchFamily="34" charset="-79"/>
                <a:cs typeface="David" panose="020E0502060401010101" pitchFamily="34" charset="-79"/>
              </a:rPr>
              <a:t>מנטורינג</a:t>
            </a:r>
            <a:r>
              <a:rPr lang="he-IL" dirty="0">
                <a:latin typeface="David" panose="020E0502060401010101" pitchFamily="34" charset="-79"/>
                <a:cs typeface="David" panose="020E0502060401010101" pitchFamily="34" charset="-79"/>
              </a:rPr>
              <a:t> ופגישה ראשונה</a:t>
            </a:r>
          </a:p>
          <a:p>
            <a:pPr lvl="2" algn="r" rtl="1"/>
            <a:r>
              <a:rPr lang="he-IL" dirty="0" err="1">
                <a:latin typeface="David" panose="020E0502060401010101" pitchFamily="34" charset="-79"/>
                <a:cs typeface="David" panose="020E0502060401010101" pitchFamily="34" charset="-79"/>
              </a:rPr>
              <a:t>מנטורים</a:t>
            </a:r>
            <a:r>
              <a:rPr lang="he-IL" dirty="0">
                <a:latin typeface="David" panose="020E0502060401010101" pitchFamily="34" charset="-79"/>
                <a:cs typeface="David" panose="020E0502060401010101" pitchFamily="34" charset="-79"/>
              </a:rPr>
              <a:t> תיאוריה מחשבות ופיתוח</a:t>
            </a:r>
          </a:p>
          <a:p>
            <a:pPr lvl="2" algn="r" rtl="1"/>
            <a:endParaRPr lang="he-IL" dirty="0">
              <a:latin typeface="David" panose="020E0502060401010101" pitchFamily="34" charset="-79"/>
              <a:cs typeface="David" panose="020E0502060401010101" pitchFamily="34" charset="-79"/>
            </a:endParaRPr>
          </a:p>
          <a:p>
            <a:pPr marL="0" indent="0" algn="r" rtl="1">
              <a:spcAft>
                <a:spcPts val="0"/>
              </a:spcAft>
              <a:buNone/>
            </a:pPr>
            <a:r>
              <a:rPr lang="he-IL" dirty="0">
                <a:latin typeface="David" panose="020E0502060401010101" pitchFamily="34" charset="-79"/>
                <a:cs typeface="David" panose="020E0502060401010101" pitchFamily="34" charset="-79"/>
              </a:rPr>
              <a:t>16:15 </a:t>
            </a:r>
            <a:r>
              <a:rPr lang="he-IL" dirty="0" err="1">
                <a:latin typeface="David" panose="020E0502060401010101" pitchFamily="34" charset="-79"/>
                <a:cs typeface="David" panose="020E0502060401010101" pitchFamily="34" charset="-79"/>
              </a:rPr>
              <a:t>סופרוויזן</a:t>
            </a:r>
            <a:r>
              <a:rPr lang="he-IL" dirty="0">
                <a:latin typeface="David" panose="020E0502060401010101" pitchFamily="34" charset="-79"/>
                <a:cs typeface="David" panose="020E0502060401010101" pitchFamily="34" charset="-79"/>
              </a:rPr>
              <a:t> וסיכום קבוצתי</a:t>
            </a:r>
            <a:br>
              <a:rPr lang="en-US"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17:00 סיום </a:t>
            </a:r>
            <a:endParaRPr lang="en-US" dirty="0">
              <a:latin typeface="David" panose="020E0502060401010101" pitchFamily="34" charset="-79"/>
              <a:cs typeface="David" panose="020E0502060401010101" pitchFamily="34" charset="-79"/>
            </a:endParaRPr>
          </a:p>
        </p:txBody>
      </p:sp>
      <p:sp>
        <p:nvSpPr>
          <p:cNvPr id="3" name="Slide Number Placeholder 2">
            <a:extLst>
              <a:ext uri="{FF2B5EF4-FFF2-40B4-BE49-F238E27FC236}">
                <a16:creationId xmlns:a16="http://schemas.microsoft.com/office/drawing/2014/main" id="{089920E1-1F47-D3FB-B5CD-7110B379552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58274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A0C7-4B10-03D7-2211-750D1F9E5A8A}"/>
              </a:ext>
            </a:extLst>
          </p:cNvPr>
          <p:cNvSpPr>
            <a:spLocks noGrp="1"/>
          </p:cNvSpPr>
          <p:nvPr>
            <p:ph type="title"/>
          </p:nvPr>
        </p:nvSpPr>
        <p:spPr>
          <a:xfrm>
            <a:off x="902208" y="420624"/>
            <a:ext cx="5864352" cy="3621024"/>
          </a:xfrm>
        </p:spPr>
        <p:txBody>
          <a:bodyPr/>
          <a:lstStyle/>
          <a:p>
            <a:r>
              <a:rPr lang="he-IL" dirty="0"/>
              <a:t>קוד אתי </a:t>
            </a:r>
            <a:endParaRPr lang="en-US" dirty="0"/>
          </a:p>
        </p:txBody>
      </p:sp>
      <p:pic>
        <p:nvPicPr>
          <p:cNvPr id="1028" name="Picture 4" descr="סדנת מצפן פרויקט יישומית - PMzone">
            <a:extLst>
              <a:ext uri="{FF2B5EF4-FFF2-40B4-BE49-F238E27FC236}">
                <a16:creationId xmlns:a16="http://schemas.microsoft.com/office/drawing/2014/main" id="{DC339BAF-DC69-4B9D-879F-5254305E5CE3}"/>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l="15718" r="15718"/>
          <a:stretch>
            <a:fillRect/>
          </a:stretch>
        </p:blipFill>
        <p:spPr bwMode="auto">
          <a:xfrm>
            <a:off x="6330453" y="1023257"/>
            <a:ext cx="5517323" cy="4162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907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9B579-6A26-227B-C55D-3D1650FE5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B85D5-BD7B-C7CA-5D3F-C3A2E5AA7D07}"/>
              </a:ext>
            </a:extLst>
          </p:cNvPr>
          <p:cNvSpPr>
            <a:spLocks noGrp="1"/>
          </p:cNvSpPr>
          <p:nvPr>
            <p:ph type="title"/>
          </p:nvPr>
        </p:nvSpPr>
        <p:spPr>
          <a:xfrm>
            <a:off x="140208" y="1179575"/>
            <a:ext cx="5864352" cy="4005943"/>
          </a:xfrm>
        </p:spPr>
        <p:txBody>
          <a:bodyPr>
            <a:normAutofit fontScale="90000"/>
          </a:bodyPr>
          <a:lstStyle/>
          <a:p>
            <a:pPr algn="r" rtl="1"/>
            <a:br>
              <a:rPr lang="he-IL" dirty="0">
                <a:latin typeface="David" panose="020E0502060401010101" pitchFamily="34" charset="-79"/>
                <a:cs typeface="David" panose="020E0502060401010101" pitchFamily="34" charset="-79"/>
              </a:rPr>
            </a:br>
            <a:br>
              <a:rPr lang="he-IL"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קוד אתי </a:t>
            </a:r>
            <a:br>
              <a:rPr lang="he-IL" dirty="0">
                <a:latin typeface="David" panose="020E0502060401010101" pitchFamily="34" charset="-79"/>
                <a:cs typeface="David" panose="020E0502060401010101" pitchFamily="34" charset="-79"/>
              </a:rPr>
            </a:br>
            <a:br>
              <a:rPr lang="he-IL" dirty="0">
                <a:latin typeface="David" panose="020E0502060401010101" pitchFamily="34" charset="-79"/>
                <a:cs typeface="David" panose="020E0502060401010101" pitchFamily="34" charset="-79"/>
              </a:rPr>
            </a:br>
            <a:r>
              <a:rPr lang="he-IL" b="0" dirty="0">
                <a:latin typeface="David" panose="020E0502060401010101" pitchFamily="34" charset="-79"/>
                <a:cs typeface="David" panose="020E0502060401010101" pitchFamily="34" charset="-79"/>
              </a:rPr>
              <a:t>קוד אתי </a:t>
            </a:r>
            <a:r>
              <a:rPr lang="he-IL" b="0" dirty="0" err="1">
                <a:latin typeface="David" panose="020E0502060401010101" pitchFamily="34" charset="-79"/>
                <a:cs typeface="David" panose="020E0502060401010101" pitchFamily="34" charset="-79"/>
              </a:rPr>
              <a:t>במנטורינג</a:t>
            </a:r>
            <a:r>
              <a:rPr lang="he-IL" b="0" dirty="0">
                <a:latin typeface="David" panose="020E0502060401010101" pitchFamily="34" charset="-79"/>
                <a:cs typeface="David" panose="020E0502060401010101" pitchFamily="34" charset="-79"/>
              </a:rPr>
              <a:t> נועד להבטיח מערכת יחסים מקצועית, בטוחה ואמינה בין </a:t>
            </a:r>
            <a:r>
              <a:rPr lang="he-IL" b="0" dirty="0" err="1">
                <a:latin typeface="David" panose="020E0502060401010101" pitchFamily="34" charset="-79"/>
                <a:cs typeface="David" panose="020E0502060401010101" pitchFamily="34" charset="-79"/>
              </a:rPr>
              <a:t>המנטור</a:t>
            </a:r>
            <a:r>
              <a:rPr lang="he-IL" b="0" dirty="0">
                <a:latin typeface="David" panose="020E0502060401010101" pitchFamily="34" charset="-79"/>
                <a:cs typeface="David" panose="020E0502060401010101" pitchFamily="34" charset="-79"/>
              </a:rPr>
              <a:t> </a:t>
            </a:r>
            <a:r>
              <a:rPr lang="he-IL" b="0" dirty="0" err="1">
                <a:latin typeface="David" panose="020E0502060401010101" pitchFamily="34" charset="-79"/>
                <a:cs typeface="David" panose="020E0502060401010101" pitchFamily="34" charset="-79"/>
              </a:rPr>
              <a:t>למנטי</a:t>
            </a:r>
            <a:r>
              <a:rPr lang="he-IL" b="0" dirty="0">
                <a:latin typeface="David" panose="020E0502060401010101" pitchFamily="34" charset="-79"/>
                <a:cs typeface="David" panose="020E0502060401010101" pitchFamily="34" charset="-79"/>
              </a:rPr>
              <a:t>. </a:t>
            </a:r>
            <a:br>
              <a:rPr lang="he-IL" b="0" dirty="0">
                <a:latin typeface="David" panose="020E0502060401010101" pitchFamily="34" charset="-79"/>
                <a:cs typeface="David" panose="020E0502060401010101" pitchFamily="34" charset="-79"/>
              </a:rPr>
            </a:br>
            <a:r>
              <a:rPr lang="he-IL" b="0" dirty="0">
                <a:latin typeface="David" panose="020E0502060401010101" pitchFamily="34" charset="-79"/>
                <a:cs typeface="David" panose="020E0502060401010101" pitchFamily="34" charset="-79"/>
              </a:rPr>
              <a:t>מטרתו לסמן כיוון, </a:t>
            </a:r>
            <a:br>
              <a:rPr lang="he-IL" b="0" dirty="0">
                <a:latin typeface="David" panose="020E0502060401010101" pitchFamily="34" charset="-79"/>
                <a:cs typeface="David" panose="020E0502060401010101" pitchFamily="34" charset="-79"/>
              </a:rPr>
            </a:br>
            <a:r>
              <a:rPr lang="he-IL" b="0" dirty="0">
                <a:latin typeface="David" panose="020E0502060401010101" pitchFamily="34" charset="-79"/>
                <a:cs typeface="David" panose="020E0502060401010101" pitchFamily="34" charset="-79"/>
              </a:rPr>
              <a:t>להגדיר גבולות, אחריות</a:t>
            </a:r>
            <a:br>
              <a:rPr lang="he-IL" b="0" dirty="0">
                <a:latin typeface="David" panose="020E0502060401010101" pitchFamily="34" charset="-79"/>
                <a:cs typeface="David" panose="020E0502060401010101" pitchFamily="34" charset="-79"/>
              </a:rPr>
            </a:br>
            <a:r>
              <a:rPr lang="he-IL" b="0" dirty="0">
                <a:latin typeface="David" panose="020E0502060401010101" pitchFamily="34" charset="-79"/>
                <a:cs typeface="David" panose="020E0502060401010101" pitchFamily="34" charset="-79"/>
              </a:rPr>
              <a:t> ונורמות התנהגות</a:t>
            </a:r>
            <a:endParaRPr lang="en-US" dirty="0">
              <a:latin typeface="David" panose="020E0502060401010101" pitchFamily="34" charset="-79"/>
              <a:cs typeface="David" panose="020E0502060401010101" pitchFamily="34" charset="-79"/>
            </a:endParaRPr>
          </a:p>
        </p:txBody>
      </p:sp>
      <p:pic>
        <p:nvPicPr>
          <p:cNvPr id="1028" name="Picture 4" descr="סדנת מצפן פרויקט יישומית - PMzone">
            <a:extLst>
              <a:ext uri="{FF2B5EF4-FFF2-40B4-BE49-F238E27FC236}">
                <a16:creationId xmlns:a16="http://schemas.microsoft.com/office/drawing/2014/main" id="{3E25969F-029E-0649-9654-2DED63168D23}"/>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l="15718" r="15718"/>
          <a:stretch>
            <a:fillRect/>
          </a:stretch>
        </p:blipFill>
        <p:spPr bwMode="auto">
          <a:xfrm>
            <a:off x="6330453" y="1023257"/>
            <a:ext cx="5517323" cy="4162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226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08D5E-B022-B481-B373-DD0F2211C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631DA-0DD7-3956-0EF6-2776753209CE}"/>
              </a:ext>
            </a:extLst>
          </p:cNvPr>
          <p:cNvSpPr>
            <a:spLocks noGrp="1"/>
          </p:cNvSpPr>
          <p:nvPr>
            <p:ph type="title"/>
          </p:nvPr>
        </p:nvSpPr>
        <p:spPr>
          <a:xfrm>
            <a:off x="140208" y="1353313"/>
            <a:ext cx="5955792" cy="4325982"/>
          </a:xfrm>
        </p:spPr>
        <p:txBody>
          <a:bodyPr>
            <a:normAutofit fontScale="90000"/>
          </a:bodyPr>
          <a:lstStyle/>
          <a:p>
            <a:pPr algn="r" rtl="1"/>
            <a:br>
              <a:rPr lang="he-IL" dirty="0">
                <a:latin typeface="David" panose="020E0502060401010101" pitchFamily="34" charset="-79"/>
                <a:cs typeface="David" panose="020E0502060401010101" pitchFamily="34" charset="-79"/>
              </a:rPr>
            </a:br>
            <a:br>
              <a:rPr lang="he-IL"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קוד אתי </a:t>
            </a:r>
            <a:br>
              <a:rPr lang="he-IL" dirty="0">
                <a:latin typeface="David" panose="020E0502060401010101" pitchFamily="34" charset="-79"/>
                <a:cs typeface="David" panose="020E0502060401010101" pitchFamily="34" charset="-79"/>
              </a:rPr>
            </a:br>
            <a:br>
              <a:rPr lang="he-IL" dirty="0">
                <a:latin typeface="David" panose="020E0502060401010101" pitchFamily="34" charset="-79"/>
                <a:cs typeface="David" panose="020E0502060401010101" pitchFamily="34" charset="-79"/>
              </a:rPr>
            </a:br>
            <a:r>
              <a:rPr lang="he-IL" sz="3100" b="0" dirty="0">
                <a:latin typeface="David" panose="020E0502060401010101" pitchFamily="34" charset="-79"/>
                <a:cs typeface="David" panose="020E0502060401010101" pitchFamily="34" charset="-79"/>
              </a:rPr>
              <a:t>במכון אבני ראשה רואים במנהל (</a:t>
            </a:r>
            <a:r>
              <a:rPr lang="he-IL" sz="3100" dirty="0" err="1">
                <a:latin typeface="David" panose="020E0502060401010101" pitchFamily="34" charset="-79"/>
                <a:cs typeface="David" panose="020E0502060401010101" pitchFamily="34" charset="-79"/>
              </a:rPr>
              <a:t>המנטי</a:t>
            </a:r>
            <a:r>
              <a:rPr lang="he-IL" sz="3100" b="0" dirty="0">
                <a:latin typeface="David" panose="020E0502060401010101" pitchFamily="34" charset="-79"/>
                <a:cs typeface="David" panose="020E0502060401010101" pitchFamily="34" charset="-79"/>
              </a:rPr>
              <a:t>) אדם יצירתי, בעל תושייה ושלם מטבעו, אין בו דבר שיש לתקן. </a:t>
            </a:r>
            <a:br>
              <a:rPr lang="he-IL" sz="3100" b="0" dirty="0">
                <a:latin typeface="David" panose="020E0502060401010101" pitchFamily="34" charset="-79"/>
                <a:cs typeface="David" panose="020E0502060401010101" pitchFamily="34" charset="-79"/>
              </a:rPr>
            </a:br>
            <a:r>
              <a:rPr lang="he-IL" sz="3100" b="0" dirty="0" err="1">
                <a:latin typeface="David" panose="020E0502060401010101" pitchFamily="34" charset="-79"/>
                <a:cs typeface="David" panose="020E0502060401010101" pitchFamily="34" charset="-79"/>
              </a:rPr>
              <a:t>המנטי</a:t>
            </a:r>
            <a:r>
              <a:rPr lang="he-IL" sz="3100" b="0" dirty="0">
                <a:latin typeface="David" panose="020E0502060401010101" pitchFamily="34" charset="-79"/>
                <a:cs typeface="David" panose="020E0502060401010101" pitchFamily="34" charset="-79"/>
              </a:rPr>
              <a:t> הוא בעל האחריות המלאה לתהליך, לסדר היום ולתוצאות. </a:t>
            </a:r>
            <a:br>
              <a:rPr lang="he-IL" sz="3100" b="0" dirty="0">
                <a:latin typeface="David" panose="020E0502060401010101" pitchFamily="34" charset="-79"/>
                <a:cs typeface="David" panose="020E0502060401010101" pitchFamily="34" charset="-79"/>
              </a:rPr>
            </a:br>
            <a:r>
              <a:rPr lang="he-IL" sz="3100" dirty="0" err="1">
                <a:latin typeface="David" panose="020E0502060401010101" pitchFamily="34" charset="-79"/>
                <a:cs typeface="David" panose="020E0502060401010101" pitchFamily="34" charset="-79"/>
              </a:rPr>
              <a:t>המנטור</a:t>
            </a:r>
            <a:r>
              <a:rPr lang="he-IL" sz="3100" b="0" dirty="0">
                <a:latin typeface="David" panose="020E0502060401010101" pitchFamily="34" charset="-79"/>
                <a:cs typeface="David" panose="020E0502060401010101" pitchFamily="34" charset="-79"/>
              </a:rPr>
              <a:t> תומך בו באמצעות שאלות מעוררות חשיבה, הקשבה פעילה וליווי גמיש המכוון להשגת יעדיו האישיים והמקצועיים. </a:t>
            </a:r>
            <a:br>
              <a:rPr lang="he-IL" sz="3100" b="0" dirty="0">
                <a:latin typeface="David" panose="020E0502060401010101" pitchFamily="34" charset="-79"/>
                <a:cs typeface="David" panose="020E0502060401010101" pitchFamily="34" charset="-79"/>
              </a:rPr>
            </a:br>
            <a:r>
              <a:rPr lang="he-IL" sz="3100" dirty="0">
                <a:latin typeface="David" panose="020E0502060401010101" pitchFamily="34" charset="-79"/>
                <a:cs typeface="David" panose="020E0502060401010101" pitchFamily="34" charset="-79"/>
              </a:rPr>
              <a:t>הקשר</a:t>
            </a:r>
            <a:r>
              <a:rPr lang="he-IL" sz="3100" b="0" dirty="0">
                <a:latin typeface="David" panose="020E0502060401010101" pitchFamily="34" charset="-79"/>
                <a:cs typeface="David" panose="020E0502060401010101" pitchFamily="34" charset="-79"/>
              </a:rPr>
              <a:t> </a:t>
            </a:r>
            <a:r>
              <a:rPr lang="he-IL" sz="3100" b="0" dirty="0" err="1">
                <a:latin typeface="David" panose="020E0502060401010101" pitchFamily="34" charset="-79"/>
                <a:cs typeface="David" panose="020E0502060401010101" pitchFamily="34" charset="-79"/>
              </a:rPr>
              <a:t>המנטורי</a:t>
            </a:r>
            <a:r>
              <a:rPr lang="he-IL" sz="3100" b="0" dirty="0">
                <a:latin typeface="David" panose="020E0502060401010101" pitchFamily="34" charset="-79"/>
                <a:cs typeface="David" panose="020E0502060401010101" pitchFamily="34" charset="-79"/>
              </a:rPr>
              <a:t> מתנהל כשותפות לומדת – </a:t>
            </a:r>
            <a:r>
              <a:rPr lang="he-IL" sz="3100" b="0" dirty="0" err="1">
                <a:latin typeface="David" panose="020E0502060401010101" pitchFamily="34" charset="-79"/>
                <a:cs typeface="David" panose="020E0502060401010101" pitchFamily="34" charset="-79"/>
              </a:rPr>
              <a:t>דיאלוגית</a:t>
            </a:r>
            <a:r>
              <a:rPr lang="he-IL" sz="3100" b="0" dirty="0">
                <a:latin typeface="David" panose="020E0502060401010101" pitchFamily="34" charset="-79"/>
                <a:cs typeface="David" panose="020E0502060401010101" pitchFamily="34" charset="-79"/>
              </a:rPr>
              <a:t>, שוויונית, ומבוססת אמון</a:t>
            </a:r>
            <a:r>
              <a:rPr lang="en-US" sz="3100" b="0" dirty="0">
                <a:latin typeface="David" panose="020E0502060401010101" pitchFamily="34" charset="-79"/>
                <a:cs typeface="David" panose="020E0502060401010101" pitchFamily="34" charset="-79"/>
              </a:rPr>
              <a:t>.</a:t>
            </a:r>
            <a:br>
              <a:rPr lang="en-IL" sz="3100" b="0" dirty="0">
                <a:latin typeface="David" panose="020E0502060401010101" pitchFamily="34" charset="-79"/>
                <a:cs typeface="David" panose="020E0502060401010101" pitchFamily="34" charset="-79"/>
              </a:rPr>
            </a:br>
            <a:endParaRPr lang="en-US" sz="3100" b="0" dirty="0">
              <a:latin typeface="David" panose="020E0502060401010101" pitchFamily="34" charset="-79"/>
              <a:cs typeface="David" panose="020E0502060401010101" pitchFamily="34" charset="-79"/>
            </a:endParaRPr>
          </a:p>
        </p:txBody>
      </p:sp>
      <p:pic>
        <p:nvPicPr>
          <p:cNvPr id="1028" name="Picture 4" descr="סדנת מצפן פרויקט יישומית - PMzone">
            <a:extLst>
              <a:ext uri="{FF2B5EF4-FFF2-40B4-BE49-F238E27FC236}">
                <a16:creationId xmlns:a16="http://schemas.microsoft.com/office/drawing/2014/main" id="{26CA2583-9F0B-1648-ECC3-5F793942B0D1}"/>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l="15718" r="15718"/>
          <a:stretch>
            <a:fillRect/>
          </a:stretch>
        </p:blipFill>
        <p:spPr bwMode="auto">
          <a:xfrm>
            <a:off x="6330453" y="1023257"/>
            <a:ext cx="5517323" cy="4162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676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AA860-0DF3-0E7E-A88C-3656920A9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C7E47-04CE-33E6-3F83-BB6E5D051140}"/>
              </a:ext>
            </a:extLst>
          </p:cNvPr>
          <p:cNvSpPr>
            <a:spLocks noGrp="1"/>
          </p:cNvSpPr>
          <p:nvPr>
            <p:ph type="title"/>
          </p:nvPr>
        </p:nvSpPr>
        <p:spPr>
          <a:xfrm>
            <a:off x="100584" y="210313"/>
            <a:ext cx="11942064" cy="5082947"/>
          </a:xfrm>
        </p:spPr>
        <p:txBody>
          <a:bodyPr>
            <a:noAutofit/>
          </a:bodyPr>
          <a:lstStyle/>
          <a:p>
            <a:pPr algn="r" rtl="1"/>
            <a:br>
              <a:rPr lang="he-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1. </a:t>
            </a:r>
            <a:r>
              <a:rPr lang="he-IL" sz="3200" dirty="0">
                <a:solidFill>
                  <a:srgbClr val="F9AA19"/>
                </a:solidFill>
                <a:latin typeface="David" panose="020E0502060401010101" pitchFamily="34" charset="-79"/>
                <a:cs typeface="David" panose="020E0502060401010101" pitchFamily="34" charset="-79"/>
              </a:rPr>
              <a:t>שמירה על סודיות</a:t>
            </a:r>
            <a:br>
              <a:rPr lang="he-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 כל מידע </a:t>
            </a:r>
            <a:r>
              <a:rPr lang="he-IL" sz="2400" b="0" dirty="0" err="1">
                <a:latin typeface="David" panose="020E0502060401010101" pitchFamily="34" charset="-79"/>
                <a:cs typeface="David" panose="020E0502060401010101" pitchFamily="34" charset="-79"/>
              </a:rPr>
              <a:t>שהמנטי</a:t>
            </a:r>
            <a:r>
              <a:rPr lang="he-IL" sz="2400" b="0" dirty="0">
                <a:latin typeface="David" panose="020E0502060401010101" pitchFamily="34" charset="-79"/>
                <a:cs typeface="David" panose="020E0502060401010101" pitchFamily="34" charset="-79"/>
              </a:rPr>
              <a:t> משתף בתהליך נשמר חסוי, ואינו נמסר לאחרים אלא בהסכמתו המפורשת.</a:t>
            </a:r>
            <a:br>
              <a:rPr lang="he-IL" sz="2400" b="0" dirty="0">
                <a:latin typeface="David" panose="020E0502060401010101" pitchFamily="34" charset="-79"/>
                <a:cs typeface="David" panose="020E0502060401010101" pitchFamily="34" charset="-79"/>
              </a:rPr>
            </a:br>
            <a:br>
              <a:rPr lang="en-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2. </a:t>
            </a:r>
            <a:r>
              <a:rPr lang="he-IL" sz="3200" dirty="0">
                <a:solidFill>
                  <a:srgbClr val="F9AA19"/>
                </a:solidFill>
                <a:latin typeface="David" panose="020E0502060401010101" pitchFamily="34" charset="-79"/>
                <a:cs typeface="David" panose="020E0502060401010101" pitchFamily="34" charset="-79"/>
              </a:rPr>
              <a:t>כבוד הדדי</a:t>
            </a:r>
            <a:br>
              <a:rPr lang="he-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 הקשר </a:t>
            </a:r>
            <a:r>
              <a:rPr lang="he-IL" sz="2400" b="0" dirty="0" err="1">
                <a:latin typeface="David" panose="020E0502060401010101" pitchFamily="34" charset="-79"/>
                <a:cs typeface="David" panose="020E0502060401010101" pitchFamily="34" charset="-79"/>
              </a:rPr>
              <a:t>המנטורי</a:t>
            </a:r>
            <a:r>
              <a:rPr lang="he-IL" sz="2400" b="0" dirty="0">
                <a:latin typeface="David" panose="020E0502060401010101" pitchFamily="34" charset="-79"/>
                <a:cs typeface="David" panose="020E0502060401010101" pitchFamily="34" charset="-79"/>
              </a:rPr>
              <a:t> מבוסס על הקשבה, שוויון, מתן מקום לדעות שונות ויחס אנושי מכבד.</a:t>
            </a:r>
            <a:br>
              <a:rPr lang="he-IL" sz="2400" b="0" dirty="0">
                <a:latin typeface="David" panose="020E0502060401010101" pitchFamily="34" charset="-79"/>
                <a:cs typeface="David" panose="020E0502060401010101" pitchFamily="34" charset="-79"/>
              </a:rPr>
            </a:br>
            <a:br>
              <a:rPr lang="en-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3. </a:t>
            </a:r>
            <a:r>
              <a:rPr lang="he-IL" sz="3200" dirty="0">
                <a:solidFill>
                  <a:srgbClr val="F9AA19"/>
                </a:solidFill>
                <a:latin typeface="David" panose="020E0502060401010101" pitchFamily="34" charset="-79"/>
                <a:cs typeface="David" panose="020E0502060401010101" pitchFamily="34" charset="-79"/>
              </a:rPr>
              <a:t>גבולות תפקיד</a:t>
            </a:r>
            <a:br>
              <a:rPr lang="he-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 </a:t>
            </a:r>
            <a:r>
              <a:rPr lang="he-IL" sz="2400" b="0" dirty="0" err="1">
                <a:latin typeface="David" panose="020E0502060401010101" pitchFamily="34" charset="-79"/>
                <a:cs typeface="David" panose="020E0502060401010101" pitchFamily="34" charset="-79"/>
              </a:rPr>
              <a:t>המנטור</a:t>
            </a:r>
            <a:r>
              <a:rPr lang="he-IL" sz="2400" b="0" dirty="0">
                <a:latin typeface="David" panose="020E0502060401010101" pitchFamily="34" charset="-79"/>
                <a:cs typeface="David" panose="020E0502060401010101" pitchFamily="34" charset="-79"/>
              </a:rPr>
              <a:t> איננו מטפל, פסיכולוג או יועץ משפטי. עליו לזהות מצבים המחייבים הפניה לגורם מקצועי מתאים.</a:t>
            </a:r>
            <a:br>
              <a:rPr lang="he-IL" sz="2400" b="0" dirty="0">
                <a:latin typeface="David" panose="020E0502060401010101" pitchFamily="34" charset="-79"/>
                <a:cs typeface="David" panose="020E0502060401010101" pitchFamily="34" charset="-79"/>
              </a:rPr>
            </a:br>
            <a:br>
              <a:rPr lang="en-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4. </a:t>
            </a:r>
            <a:r>
              <a:rPr lang="he-IL" sz="3200" dirty="0">
                <a:solidFill>
                  <a:srgbClr val="F9AA19"/>
                </a:solidFill>
                <a:latin typeface="David" panose="020E0502060401010101" pitchFamily="34" charset="-79"/>
                <a:cs typeface="David" panose="020E0502060401010101" pitchFamily="34" charset="-79"/>
              </a:rPr>
              <a:t>אחריות מקצועית</a:t>
            </a:r>
            <a:br>
              <a:rPr lang="he-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 </a:t>
            </a:r>
            <a:r>
              <a:rPr lang="he-IL" sz="2400" b="0" dirty="0" err="1">
                <a:latin typeface="David" panose="020E0502060401010101" pitchFamily="34" charset="-79"/>
                <a:cs typeface="David" panose="020E0502060401010101" pitchFamily="34" charset="-79"/>
              </a:rPr>
              <a:t>המנטור</a:t>
            </a:r>
            <a:r>
              <a:rPr lang="he-IL" sz="2400" b="0" dirty="0">
                <a:latin typeface="David" panose="020E0502060401010101" pitchFamily="34" charset="-79"/>
                <a:cs typeface="David" panose="020E0502060401010101" pitchFamily="34" charset="-79"/>
              </a:rPr>
              <a:t> פועל ביושרה, מקפיד על סטנדרטים מקצועיים, וממשיך להתפתח ולשפר את כישוריו באופן מתמיד.</a:t>
            </a:r>
            <a:br>
              <a:rPr lang="en-IL" sz="2400" b="0" dirty="0">
                <a:latin typeface="David" panose="020E0502060401010101" pitchFamily="34" charset="-79"/>
                <a:cs typeface="David" panose="020E0502060401010101" pitchFamily="34" charset="-79"/>
              </a:rPr>
            </a:br>
            <a:endParaRPr lang="en-US" sz="2400" b="0" dirty="0">
              <a:latin typeface="David" panose="020E0502060401010101" pitchFamily="34" charset="-79"/>
              <a:cs typeface="David" panose="020E0502060401010101" pitchFamily="34" charset="-79"/>
            </a:endParaRPr>
          </a:p>
        </p:txBody>
      </p:sp>
      <p:pic>
        <p:nvPicPr>
          <p:cNvPr id="1028" name="Picture 4" descr="סדנת מצפן פרויקט יישומית - PMzone">
            <a:extLst>
              <a:ext uri="{FF2B5EF4-FFF2-40B4-BE49-F238E27FC236}">
                <a16:creationId xmlns:a16="http://schemas.microsoft.com/office/drawing/2014/main" id="{6CEC65C2-2B89-2628-B789-538EC9D60713}"/>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l="15718" r="15718"/>
          <a:stretch>
            <a:fillRect/>
          </a:stretch>
        </p:blipFill>
        <p:spPr bwMode="auto">
          <a:xfrm>
            <a:off x="10030968" y="5293260"/>
            <a:ext cx="2011680" cy="1517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9534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4A8BD-3139-108D-661E-E8968E66E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0AC3D-C667-C99D-B56A-11C5B44F851E}"/>
              </a:ext>
            </a:extLst>
          </p:cNvPr>
          <p:cNvSpPr>
            <a:spLocks noGrp="1"/>
          </p:cNvSpPr>
          <p:nvPr>
            <p:ph type="title"/>
          </p:nvPr>
        </p:nvSpPr>
        <p:spPr>
          <a:xfrm>
            <a:off x="100584" y="420625"/>
            <a:ext cx="11942064" cy="5082947"/>
          </a:xfrm>
        </p:spPr>
        <p:txBody>
          <a:bodyPr>
            <a:noAutofit/>
          </a:bodyPr>
          <a:lstStyle/>
          <a:p>
            <a:pPr algn="r" rtl="1"/>
            <a:r>
              <a:rPr lang="he-IL" sz="2400" b="0" dirty="0">
                <a:latin typeface="David" panose="020E0502060401010101" pitchFamily="34" charset="-79"/>
                <a:cs typeface="David" panose="020E0502060401010101" pitchFamily="34" charset="-79"/>
              </a:rPr>
              <a:t> 5. </a:t>
            </a:r>
            <a:r>
              <a:rPr lang="he-IL" sz="3200" dirty="0">
                <a:solidFill>
                  <a:srgbClr val="F9AA19"/>
                </a:solidFill>
                <a:latin typeface="David" panose="020E0502060401010101" pitchFamily="34" charset="-79"/>
                <a:cs typeface="David" panose="020E0502060401010101" pitchFamily="34" charset="-79"/>
              </a:rPr>
              <a:t>הימנעות מניגוד עניינים</a:t>
            </a:r>
            <a:br>
              <a:rPr lang="he-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 יש להימנע מיצירת תלות, קשרים עסקיים או אינטרסים אישיים שאינם חלק ממטרות התהליך.</a:t>
            </a:r>
            <a:br>
              <a:rPr lang="he-IL" sz="2400" b="0" dirty="0">
                <a:latin typeface="David" panose="020E0502060401010101" pitchFamily="34" charset="-79"/>
                <a:cs typeface="David" panose="020E0502060401010101" pitchFamily="34" charset="-79"/>
              </a:rPr>
            </a:br>
            <a:br>
              <a:rPr lang="en-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6. </a:t>
            </a:r>
            <a:r>
              <a:rPr lang="he-IL" sz="3200" dirty="0">
                <a:solidFill>
                  <a:srgbClr val="F9AA19"/>
                </a:solidFill>
                <a:latin typeface="David" panose="020E0502060401010101" pitchFamily="34" charset="-79"/>
                <a:cs typeface="David" panose="020E0502060401010101" pitchFamily="34" charset="-79"/>
              </a:rPr>
              <a:t>העצמת עצמאות </a:t>
            </a:r>
            <a:r>
              <a:rPr lang="he-IL" sz="3200" dirty="0" err="1">
                <a:solidFill>
                  <a:srgbClr val="F9AA19"/>
                </a:solidFill>
                <a:latin typeface="David" panose="020E0502060401010101" pitchFamily="34" charset="-79"/>
                <a:cs typeface="David" panose="020E0502060401010101" pitchFamily="34" charset="-79"/>
              </a:rPr>
              <a:t>המנטי</a:t>
            </a:r>
            <a:br>
              <a:rPr lang="he-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 </a:t>
            </a:r>
            <a:r>
              <a:rPr lang="he-IL" sz="2400" b="0" dirty="0" err="1">
                <a:latin typeface="David" panose="020E0502060401010101" pitchFamily="34" charset="-79"/>
                <a:cs typeface="David" panose="020E0502060401010101" pitchFamily="34" charset="-79"/>
              </a:rPr>
              <a:t>המנטור</a:t>
            </a:r>
            <a:r>
              <a:rPr lang="he-IL" sz="2400" b="0" dirty="0">
                <a:latin typeface="David" panose="020E0502060401010101" pitchFamily="34" charset="-79"/>
                <a:cs typeface="David" panose="020E0502060401010101" pitchFamily="34" charset="-79"/>
              </a:rPr>
              <a:t> מסייע </a:t>
            </a:r>
            <a:r>
              <a:rPr lang="he-IL" sz="2400" b="0" dirty="0" err="1">
                <a:latin typeface="David" panose="020E0502060401010101" pitchFamily="34" charset="-79"/>
                <a:cs typeface="David" panose="020E0502060401010101" pitchFamily="34" charset="-79"/>
              </a:rPr>
              <a:t>למנטי</a:t>
            </a:r>
            <a:r>
              <a:rPr lang="he-IL" sz="2400" b="0" dirty="0">
                <a:latin typeface="David" panose="020E0502060401010101" pitchFamily="34" charset="-79"/>
                <a:cs typeface="David" panose="020E0502060401010101" pitchFamily="34" charset="-79"/>
              </a:rPr>
              <a:t> לגבש את החלטותיו, אך אינו מחליט בשמו. האחריות לפעולה נשארת בידי </a:t>
            </a:r>
            <a:r>
              <a:rPr lang="he-IL" sz="2400" b="0" dirty="0" err="1">
                <a:latin typeface="David" panose="020E0502060401010101" pitchFamily="34" charset="-79"/>
                <a:cs typeface="David" panose="020E0502060401010101" pitchFamily="34" charset="-79"/>
              </a:rPr>
              <a:t>המנטי</a:t>
            </a:r>
            <a:r>
              <a:rPr lang="he-IL" sz="2400" b="0" dirty="0">
                <a:latin typeface="David" panose="020E0502060401010101" pitchFamily="34" charset="-79"/>
                <a:cs typeface="David" panose="020E0502060401010101" pitchFamily="34" charset="-79"/>
              </a:rPr>
              <a:t>.</a:t>
            </a:r>
            <a:br>
              <a:rPr lang="he-IL" sz="2400" b="0" dirty="0">
                <a:latin typeface="David" panose="020E0502060401010101" pitchFamily="34" charset="-79"/>
                <a:cs typeface="David" panose="020E0502060401010101" pitchFamily="34" charset="-79"/>
              </a:rPr>
            </a:br>
            <a:br>
              <a:rPr lang="en-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7. </a:t>
            </a:r>
            <a:r>
              <a:rPr lang="he-IL" sz="3200" dirty="0">
                <a:solidFill>
                  <a:srgbClr val="F9AA19"/>
                </a:solidFill>
                <a:latin typeface="David" panose="020E0502060401010101" pitchFamily="34" charset="-79"/>
                <a:cs typeface="David" panose="020E0502060401010101" pitchFamily="34" charset="-79"/>
              </a:rPr>
              <a:t>שקיפות והסכמה</a:t>
            </a:r>
            <a:br>
              <a:rPr lang="he-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 בתחילת התהליך יש להבהיר במשותף את מטרות הליווי, משכו, תדירות המפגשים, וכללי הסודיות וההתנהלות.</a:t>
            </a:r>
            <a:br>
              <a:rPr lang="he-IL" sz="2400" b="0" dirty="0">
                <a:latin typeface="David" panose="020E0502060401010101" pitchFamily="34" charset="-79"/>
                <a:cs typeface="David" panose="020E0502060401010101" pitchFamily="34" charset="-79"/>
              </a:rPr>
            </a:br>
            <a:br>
              <a:rPr lang="en-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8. </a:t>
            </a:r>
            <a:r>
              <a:rPr lang="he-IL" sz="3200" dirty="0">
                <a:solidFill>
                  <a:srgbClr val="F9AA19"/>
                </a:solidFill>
                <a:latin typeface="David" panose="020E0502060401010101" pitchFamily="34" charset="-79"/>
                <a:cs typeface="David" panose="020E0502060401010101" pitchFamily="34" charset="-79"/>
              </a:rPr>
              <a:t>רגישות וגמישות תרבותית</a:t>
            </a:r>
            <a:br>
              <a:rPr lang="he-IL" sz="2400" b="0" dirty="0">
                <a:latin typeface="David" panose="020E0502060401010101" pitchFamily="34" charset="-79"/>
                <a:cs typeface="David" panose="020E0502060401010101" pitchFamily="34" charset="-79"/>
              </a:rPr>
            </a:br>
            <a:r>
              <a:rPr lang="he-IL" sz="2400" b="0" dirty="0">
                <a:latin typeface="David" panose="020E0502060401010101" pitchFamily="34" charset="-79"/>
                <a:cs typeface="David" panose="020E0502060401010101" pitchFamily="34" charset="-79"/>
              </a:rPr>
              <a:t> </a:t>
            </a:r>
            <a:r>
              <a:rPr lang="he-IL" sz="2400" b="0" dirty="0" err="1">
                <a:latin typeface="David" panose="020E0502060401010101" pitchFamily="34" charset="-79"/>
                <a:cs typeface="David" panose="020E0502060401010101" pitchFamily="34" charset="-79"/>
              </a:rPr>
              <a:t>המנטור</a:t>
            </a:r>
            <a:r>
              <a:rPr lang="he-IL" sz="2400" b="0" dirty="0">
                <a:latin typeface="David" panose="020E0502060401010101" pitchFamily="34" charset="-79"/>
                <a:cs typeface="David" panose="020E0502060401010101" pitchFamily="34" charset="-79"/>
              </a:rPr>
              <a:t> נדרש לגישה פתוחה ולא שיפוטית, תוך הימנעות מהשלכת ערכיו האישיים על התהליך ומתוך כבוד לרקע התרבותי של </a:t>
            </a:r>
            <a:r>
              <a:rPr lang="he-IL" sz="2400" b="0" dirty="0" err="1">
                <a:latin typeface="David" panose="020E0502060401010101" pitchFamily="34" charset="-79"/>
                <a:cs typeface="David" panose="020E0502060401010101" pitchFamily="34" charset="-79"/>
              </a:rPr>
              <a:t>המנטי</a:t>
            </a:r>
            <a:r>
              <a:rPr lang="he-IL" sz="2400" b="0" dirty="0">
                <a:latin typeface="David" panose="020E0502060401010101" pitchFamily="34" charset="-79"/>
                <a:cs typeface="David" panose="020E0502060401010101" pitchFamily="34" charset="-79"/>
              </a:rPr>
              <a:t>.</a:t>
            </a:r>
            <a:br>
              <a:rPr lang="en-IL" sz="2400" b="0" dirty="0">
                <a:latin typeface="David" panose="020E0502060401010101" pitchFamily="34" charset="-79"/>
                <a:cs typeface="David" panose="020E0502060401010101" pitchFamily="34" charset="-79"/>
              </a:rPr>
            </a:br>
            <a:endParaRPr lang="en-US" sz="2400" b="0" dirty="0">
              <a:latin typeface="David" panose="020E0502060401010101" pitchFamily="34" charset="-79"/>
              <a:cs typeface="David" panose="020E0502060401010101" pitchFamily="34" charset="-79"/>
            </a:endParaRPr>
          </a:p>
        </p:txBody>
      </p:sp>
      <p:pic>
        <p:nvPicPr>
          <p:cNvPr id="1028" name="Picture 4" descr="סדנת מצפן פרויקט יישומית - PMzone">
            <a:extLst>
              <a:ext uri="{FF2B5EF4-FFF2-40B4-BE49-F238E27FC236}">
                <a16:creationId xmlns:a16="http://schemas.microsoft.com/office/drawing/2014/main" id="{F7C3BCC5-B92B-6F27-3702-14A50D8FE68C}"/>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l="15718" r="15718"/>
          <a:stretch>
            <a:fillRect/>
          </a:stretch>
        </p:blipFill>
        <p:spPr bwMode="auto">
          <a:xfrm>
            <a:off x="10030968" y="5293260"/>
            <a:ext cx="2011680" cy="1517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4772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A9BFC-1A23-F60E-AD5C-CE7D4675A867}"/>
            </a:ext>
          </a:extLst>
        </p:cNvPr>
        <p:cNvGrpSpPr/>
        <p:nvPr/>
      </p:nvGrpSpPr>
      <p:grpSpPr>
        <a:xfrm>
          <a:off x="0" y="0"/>
          <a:ext cx="0" cy="0"/>
          <a:chOff x="0" y="0"/>
          <a:chExt cx="0" cy="0"/>
        </a:xfrm>
      </p:grpSpPr>
      <p:pic>
        <p:nvPicPr>
          <p:cNvPr id="1028" name="Picture 4" descr="סדנת מצפן פרויקט יישומית - PMzone">
            <a:extLst>
              <a:ext uri="{FF2B5EF4-FFF2-40B4-BE49-F238E27FC236}">
                <a16:creationId xmlns:a16="http://schemas.microsoft.com/office/drawing/2014/main" id="{508EFB17-B4B1-565C-68E7-EBF16F8F78A4}"/>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l="15718" r="15718"/>
          <a:stretch>
            <a:fillRect/>
          </a:stretch>
        </p:blipFill>
        <p:spPr bwMode="auto">
          <a:xfrm>
            <a:off x="6330453" y="1023257"/>
            <a:ext cx="5517323" cy="4162262"/>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13DFFD11-6E70-3484-0E5F-74777D468FE1}"/>
              </a:ext>
            </a:extLst>
          </p:cNvPr>
          <p:cNvGrpSpPr/>
          <p:nvPr/>
        </p:nvGrpSpPr>
        <p:grpSpPr>
          <a:xfrm>
            <a:off x="4467025" y="3212590"/>
            <a:ext cx="1449509" cy="1938421"/>
            <a:chOff x="4557849" y="3104388"/>
            <a:chExt cx="1449509" cy="1938421"/>
          </a:xfrm>
        </p:grpSpPr>
        <p:pic>
          <p:nvPicPr>
            <p:cNvPr id="4" name="Graphic 3" descr="Thumbs up sign with solid fill">
              <a:extLst>
                <a:ext uri="{FF2B5EF4-FFF2-40B4-BE49-F238E27FC236}">
                  <a16:creationId xmlns:a16="http://schemas.microsoft.com/office/drawing/2014/main" id="{8D0AFD24-27EF-45C3-7766-BC7B72EC8DA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57849" y="3104388"/>
              <a:ext cx="1239447" cy="1239447"/>
            </a:xfrm>
            <a:prstGeom prst="rect">
              <a:avLst/>
            </a:prstGeom>
          </p:spPr>
        </p:pic>
        <p:sp>
          <p:nvSpPr>
            <p:cNvPr id="7" name="TextBox 6">
              <a:extLst>
                <a:ext uri="{FF2B5EF4-FFF2-40B4-BE49-F238E27FC236}">
                  <a16:creationId xmlns:a16="http://schemas.microsoft.com/office/drawing/2014/main" id="{918BBA55-27C3-CEF1-8A47-97FF4CA50C56}"/>
                </a:ext>
              </a:extLst>
            </p:cNvPr>
            <p:cNvSpPr txBox="1"/>
            <p:nvPr/>
          </p:nvSpPr>
          <p:spPr>
            <a:xfrm>
              <a:off x="4699766" y="4581144"/>
              <a:ext cx="1307592" cy="461665"/>
            </a:xfrm>
            <a:prstGeom prst="rect">
              <a:avLst/>
            </a:prstGeom>
            <a:noFill/>
          </p:spPr>
          <p:txBody>
            <a:bodyPr wrap="square" rtlCol="0">
              <a:spAutoFit/>
            </a:bodyPr>
            <a:lstStyle/>
            <a:p>
              <a:pPr algn="ctr"/>
              <a:r>
                <a:rPr lang="he-IL" sz="2400" b="1" dirty="0"/>
                <a:t>אהבתי</a:t>
              </a:r>
              <a:endParaRPr lang="en-IL" sz="2400" b="1" dirty="0"/>
            </a:p>
          </p:txBody>
        </p:sp>
      </p:grpSp>
      <p:grpSp>
        <p:nvGrpSpPr>
          <p:cNvPr id="17" name="Group 16">
            <a:extLst>
              <a:ext uri="{FF2B5EF4-FFF2-40B4-BE49-F238E27FC236}">
                <a16:creationId xmlns:a16="http://schemas.microsoft.com/office/drawing/2014/main" id="{D95F61B0-7660-DAF0-FECF-88E1C465B5A6}"/>
              </a:ext>
            </a:extLst>
          </p:cNvPr>
          <p:cNvGrpSpPr/>
          <p:nvPr/>
        </p:nvGrpSpPr>
        <p:grpSpPr>
          <a:xfrm>
            <a:off x="2569605" y="3341697"/>
            <a:ext cx="1483501" cy="1886988"/>
            <a:chOff x="2569605" y="3341697"/>
            <a:chExt cx="1483501" cy="1886988"/>
          </a:xfrm>
        </p:grpSpPr>
        <p:pic>
          <p:nvPicPr>
            <p:cNvPr id="6" name="Graphic 5" descr="Thumbs up sign with solid fill">
              <a:extLst>
                <a:ext uri="{FF2B5EF4-FFF2-40B4-BE49-F238E27FC236}">
                  <a16:creationId xmlns:a16="http://schemas.microsoft.com/office/drawing/2014/main" id="{3B73D104-1650-6421-5858-4E3108443D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2628192" y="3341697"/>
              <a:ext cx="1239447" cy="1239447"/>
            </a:xfrm>
            <a:prstGeom prst="rect">
              <a:avLst/>
            </a:prstGeom>
          </p:spPr>
        </p:pic>
        <p:sp>
          <p:nvSpPr>
            <p:cNvPr id="8" name="TextBox 7">
              <a:extLst>
                <a:ext uri="{FF2B5EF4-FFF2-40B4-BE49-F238E27FC236}">
                  <a16:creationId xmlns:a16="http://schemas.microsoft.com/office/drawing/2014/main" id="{9DB51A02-FFDE-B4A5-B740-A2567C668FD6}"/>
                </a:ext>
              </a:extLst>
            </p:cNvPr>
            <p:cNvSpPr txBox="1"/>
            <p:nvPr/>
          </p:nvSpPr>
          <p:spPr>
            <a:xfrm>
              <a:off x="2569605" y="4767020"/>
              <a:ext cx="1483501" cy="461665"/>
            </a:xfrm>
            <a:prstGeom prst="rect">
              <a:avLst/>
            </a:prstGeom>
            <a:noFill/>
          </p:spPr>
          <p:txBody>
            <a:bodyPr wrap="square" rtlCol="0">
              <a:spAutoFit/>
            </a:bodyPr>
            <a:lstStyle/>
            <a:p>
              <a:pPr algn="ctr"/>
              <a:r>
                <a:rPr lang="he-IL" sz="2400" b="1" dirty="0"/>
                <a:t>לא אהבתי</a:t>
              </a:r>
              <a:endParaRPr lang="en-IL" sz="2400" b="1" dirty="0"/>
            </a:p>
          </p:txBody>
        </p:sp>
      </p:grpSp>
      <p:sp>
        <p:nvSpPr>
          <p:cNvPr id="11" name="TextBox 10">
            <a:extLst>
              <a:ext uri="{FF2B5EF4-FFF2-40B4-BE49-F238E27FC236}">
                <a16:creationId xmlns:a16="http://schemas.microsoft.com/office/drawing/2014/main" id="{1649CD0E-C942-ADCA-1235-239F24A4676B}"/>
              </a:ext>
            </a:extLst>
          </p:cNvPr>
          <p:cNvSpPr txBox="1"/>
          <p:nvPr/>
        </p:nvSpPr>
        <p:spPr>
          <a:xfrm>
            <a:off x="2372202" y="1383095"/>
            <a:ext cx="2418395" cy="707886"/>
          </a:xfrm>
          <a:prstGeom prst="rect">
            <a:avLst/>
          </a:prstGeom>
          <a:noFill/>
        </p:spPr>
        <p:txBody>
          <a:bodyPr wrap="square" rtlCol="0">
            <a:spAutoFit/>
          </a:bodyPr>
          <a:lstStyle/>
          <a:p>
            <a:pPr algn="ctr"/>
            <a:r>
              <a:rPr lang="he-IL" sz="4000" b="1" dirty="0"/>
              <a:t>קוד אתי</a:t>
            </a:r>
            <a:endParaRPr lang="en-IL" sz="4000" b="1" dirty="0"/>
          </a:p>
        </p:txBody>
      </p:sp>
      <p:grpSp>
        <p:nvGrpSpPr>
          <p:cNvPr id="16" name="Group 15">
            <a:extLst>
              <a:ext uri="{FF2B5EF4-FFF2-40B4-BE49-F238E27FC236}">
                <a16:creationId xmlns:a16="http://schemas.microsoft.com/office/drawing/2014/main" id="{0D941711-5D92-82A7-895A-DEF28FC39C89}"/>
              </a:ext>
            </a:extLst>
          </p:cNvPr>
          <p:cNvGrpSpPr/>
          <p:nvPr/>
        </p:nvGrpSpPr>
        <p:grpSpPr>
          <a:xfrm>
            <a:off x="960928" y="3259836"/>
            <a:ext cx="1344168" cy="1968849"/>
            <a:chOff x="938918" y="3104388"/>
            <a:chExt cx="1344168" cy="1968849"/>
          </a:xfrm>
        </p:grpSpPr>
        <p:pic>
          <p:nvPicPr>
            <p:cNvPr id="13" name="Graphic 12" descr="Woman Shrugging with solid fill">
              <a:extLst>
                <a:ext uri="{FF2B5EF4-FFF2-40B4-BE49-F238E27FC236}">
                  <a16:creationId xmlns:a16="http://schemas.microsoft.com/office/drawing/2014/main" id="{EFCE0BE5-68C8-CD2D-BE82-E7082E2767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8918" y="3104388"/>
              <a:ext cx="1344168" cy="1344168"/>
            </a:xfrm>
            <a:prstGeom prst="rect">
              <a:avLst/>
            </a:prstGeom>
          </p:spPr>
        </p:pic>
        <p:sp>
          <p:nvSpPr>
            <p:cNvPr id="14" name="TextBox 13">
              <a:extLst>
                <a:ext uri="{FF2B5EF4-FFF2-40B4-BE49-F238E27FC236}">
                  <a16:creationId xmlns:a16="http://schemas.microsoft.com/office/drawing/2014/main" id="{F5B4ED5A-82D6-050A-8EEB-666F3E50EB21}"/>
                </a:ext>
              </a:extLst>
            </p:cNvPr>
            <p:cNvSpPr txBox="1"/>
            <p:nvPr/>
          </p:nvSpPr>
          <p:spPr>
            <a:xfrm>
              <a:off x="938918" y="4611572"/>
              <a:ext cx="1307592" cy="461665"/>
            </a:xfrm>
            <a:prstGeom prst="rect">
              <a:avLst/>
            </a:prstGeom>
            <a:noFill/>
          </p:spPr>
          <p:txBody>
            <a:bodyPr wrap="square" rtlCol="0">
              <a:spAutoFit/>
            </a:bodyPr>
            <a:lstStyle/>
            <a:p>
              <a:pPr algn="ctr"/>
              <a:r>
                <a:rPr lang="he-IL" sz="2400" b="1" dirty="0"/>
                <a:t>שואל</a:t>
              </a:r>
              <a:endParaRPr lang="en-IL" sz="2400" b="1" dirty="0"/>
            </a:p>
          </p:txBody>
        </p:sp>
      </p:grpSp>
    </p:spTree>
    <p:extLst>
      <p:ext uri="{BB962C8B-B14F-4D97-AF65-F5344CB8AC3E}">
        <p14:creationId xmlns:p14="http://schemas.microsoft.com/office/powerpoint/2010/main" val="2937743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499BF-57B3-C4EC-03F3-FD8CF596A7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A4256-4F23-47D3-41E3-7D6A83FCD116}"/>
              </a:ext>
            </a:extLst>
          </p:cNvPr>
          <p:cNvSpPr>
            <a:spLocks noGrp="1"/>
          </p:cNvSpPr>
          <p:nvPr>
            <p:ph type="title"/>
          </p:nvPr>
        </p:nvSpPr>
        <p:spPr>
          <a:xfrm>
            <a:off x="893064" y="72518"/>
            <a:ext cx="8297380" cy="1326514"/>
          </a:xfrm>
        </p:spPr>
        <p:txBody>
          <a:bodyPr/>
          <a:lstStyle/>
          <a:p>
            <a:r>
              <a:rPr lang="he-IL" dirty="0"/>
              <a:t>חוזה אישי</a:t>
            </a:r>
            <a:endParaRPr lang="en-ZA" dirty="0"/>
          </a:p>
        </p:txBody>
      </p:sp>
      <p:sp>
        <p:nvSpPr>
          <p:cNvPr id="4" name="Text Placeholder 3">
            <a:extLst>
              <a:ext uri="{FF2B5EF4-FFF2-40B4-BE49-F238E27FC236}">
                <a16:creationId xmlns:a16="http://schemas.microsoft.com/office/drawing/2014/main" id="{6F5AEA11-EE69-0590-7858-CBAF04941F0F}"/>
              </a:ext>
            </a:extLst>
          </p:cNvPr>
          <p:cNvSpPr>
            <a:spLocks noGrp="1"/>
          </p:cNvSpPr>
          <p:nvPr>
            <p:ph type="body" sz="quarter" idx="13"/>
          </p:nvPr>
        </p:nvSpPr>
        <p:spPr>
          <a:xfrm>
            <a:off x="865631" y="2072640"/>
            <a:ext cx="8324089" cy="3493008"/>
          </a:xfrm>
        </p:spPr>
        <p:txBody>
          <a:bodyPr/>
          <a:lstStyle/>
          <a:p>
            <a:pPr marL="0" indent="0" algn="r" rtl="1">
              <a:buNone/>
            </a:pPr>
            <a:r>
              <a:rPr lang="he-IL" sz="4000" b="1" dirty="0">
                <a:solidFill>
                  <a:srgbClr val="0A4054"/>
                </a:solidFill>
              </a:rPr>
              <a:t>התחייבות </a:t>
            </a:r>
            <a:r>
              <a:rPr lang="he-IL" sz="4000" b="1" dirty="0" err="1">
                <a:solidFill>
                  <a:srgbClr val="0A4054"/>
                </a:solidFill>
              </a:rPr>
              <a:t>המנטור</a:t>
            </a:r>
            <a:endParaRPr lang="he-IL" sz="4000" b="1" dirty="0">
              <a:solidFill>
                <a:srgbClr val="0A4054"/>
              </a:solidFill>
            </a:endParaRPr>
          </a:p>
          <a:p>
            <a:pPr marL="0" indent="0" algn="r" rtl="1">
              <a:buNone/>
            </a:pPr>
            <a:endParaRPr lang="he-IL" dirty="0"/>
          </a:p>
          <a:p>
            <a:pPr marL="0" indent="0" algn="r" rtl="1">
              <a:buNone/>
            </a:pPr>
            <a:endParaRPr lang="he-IL" dirty="0"/>
          </a:p>
          <a:p>
            <a:pPr marL="0" indent="0" algn="r" rtl="1">
              <a:buNone/>
            </a:pPr>
            <a:endParaRPr lang="he-IL" dirty="0"/>
          </a:p>
          <a:p>
            <a:pPr marL="0" indent="0" algn="r" rtl="1">
              <a:buNone/>
            </a:pPr>
            <a:endParaRPr lang="he-IL" dirty="0"/>
          </a:p>
          <a:p>
            <a:pPr marL="0" indent="0" algn="r" rtl="1">
              <a:buNone/>
            </a:pPr>
            <a:r>
              <a:rPr lang="he-IL" sz="4000" b="1" dirty="0">
                <a:solidFill>
                  <a:srgbClr val="0A4054"/>
                </a:solidFill>
              </a:rPr>
              <a:t>התחייבות </a:t>
            </a:r>
            <a:r>
              <a:rPr lang="he-IL" sz="4000" b="1" dirty="0" err="1">
                <a:solidFill>
                  <a:srgbClr val="0A4054"/>
                </a:solidFill>
              </a:rPr>
              <a:t>המנטי</a:t>
            </a:r>
            <a:endParaRPr lang="en-US" sz="4000" b="1" dirty="0">
              <a:solidFill>
                <a:srgbClr val="0A4054"/>
              </a:solidFill>
            </a:endParaRPr>
          </a:p>
        </p:txBody>
      </p:sp>
      <p:sp>
        <p:nvSpPr>
          <p:cNvPr id="3" name="Slide Number Placeholder 2">
            <a:extLst>
              <a:ext uri="{FF2B5EF4-FFF2-40B4-BE49-F238E27FC236}">
                <a16:creationId xmlns:a16="http://schemas.microsoft.com/office/drawing/2014/main" id="{9A13B6CC-864A-6949-3492-C501D315567F}"/>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810013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45BD-5B25-B32E-F712-18F18E7168E7}"/>
              </a:ext>
            </a:extLst>
          </p:cNvPr>
          <p:cNvSpPr>
            <a:spLocks noGrp="1"/>
          </p:cNvSpPr>
          <p:nvPr>
            <p:ph type="title"/>
          </p:nvPr>
        </p:nvSpPr>
        <p:spPr>
          <a:xfrm>
            <a:off x="893064" y="72518"/>
            <a:ext cx="8297380" cy="1326514"/>
          </a:xfrm>
        </p:spPr>
        <p:txBody>
          <a:bodyPr/>
          <a:lstStyle/>
          <a:p>
            <a:r>
              <a:rPr lang="he-IL" dirty="0"/>
              <a:t>חוזה אישי</a:t>
            </a:r>
            <a:endParaRPr lang="en-ZA" dirty="0"/>
          </a:p>
        </p:txBody>
      </p:sp>
      <p:sp>
        <p:nvSpPr>
          <p:cNvPr id="4" name="Text Placeholder 3">
            <a:extLst>
              <a:ext uri="{FF2B5EF4-FFF2-40B4-BE49-F238E27FC236}">
                <a16:creationId xmlns:a16="http://schemas.microsoft.com/office/drawing/2014/main" id="{B931AA74-1B85-8980-9816-4DAB721C1BE4}"/>
              </a:ext>
            </a:extLst>
          </p:cNvPr>
          <p:cNvSpPr>
            <a:spLocks noGrp="1"/>
          </p:cNvSpPr>
          <p:nvPr>
            <p:ph type="body" sz="quarter" idx="13"/>
          </p:nvPr>
        </p:nvSpPr>
        <p:spPr>
          <a:xfrm>
            <a:off x="893064" y="1399032"/>
            <a:ext cx="8708136" cy="4531741"/>
          </a:xfrm>
        </p:spPr>
        <p:txBody>
          <a:bodyPr>
            <a:normAutofit/>
          </a:bodyPr>
          <a:lstStyle/>
          <a:p>
            <a:pPr marL="0" indent="0" algn="r" rtl="1">
              <a:buNone/>
            </a:pPr>
            <a:r>
              <a:rPr lang="he-IL" sz="4000" b="1" dirty="0">
                <a:solidFill>
                  <a:srgbClr val="0A4054"/>
                </a:solidFill>
              </a:rPr>
              <a:t>התחייבות </a:t>
            </a:r>
            <a:r>
              <a:rPr lang="he-IL" sz="4000" b="1" dirty="0" err="1">
                <a:solidFill>
                  <a:srgbClr val="0A4054"/>
                </a:solidFill>
              </a:rPr>
              <a:t>המנטור</a:t>
            </a:r>
            <a:endParaRPr lang="he-IL" sz="4000" b="1" dirty="0">
              <a:solidFill>
                <a:srgbClr val="0A4054"/>
              </a:solidFill>
            </a:endParaRPr>
          </a:p>
          <a:p>
            <a:pPr marL="0" indent="0" algn="r" rtl="1">
              <a:buNone/>
            </a:pPr>
            <a:r>
              <a:rPr lang="he-IL" b="1" dirty="0"/>
              <a:t>התחייבות </a:t>
            </a:r>
            <a:r>
              <a:rPr lang="he-IL" b="1" dirty="0" err="1"/>
              <a:t>המנטור</a:t>
            </a:r>
            <a:br>
              <a:rPr lang="he-IL" b="1" dirty="0"/>
            </a:br>
            <a:r>
              <a:rPr lang="he-IL" dirty="0"/>
              <a:t>• </a:t>
            </a:r>
            <a:r>
              <a:rPr lang="he-IL" b="1" dirty="0"/>
              <a:t>נוכחות</a:t>
            </a:r>
            <a:r>
              <a:rPr lang="he-IL" dirty="0"/>
              <a:t> – להגיע לכל מפגש בזמן, להיות קשוב ומעורב לאורך התהליך.</a:t>
            </a:r>
            <a:br>
              <a:rPr lang="he-IL" dirty="0"/>
            </a:br>
            <a:r>
              <a:rPr lang="he-IL" dirty="0"/>
              <a:t>• </a:t>
            </a:r>
            <a:r>
              <a:rPr lang="he-IL" b="1" dirty="0"/>
              <a:t>הקשבה</a:t>
            </a:r>
            <a:r>
              <a:rPr lang="he-IL" dirty="0"/>
              <a:t> – להעניק מקום אמיתי לסיפור ולחוויות של </a:t>
            </a:r>
            <a:r>
              <a:rPr lang="he-IL" dirty="0" err="1"/>
              <a:t>המנטי</a:t>
            </a:r>
            <a:r>
              <a:rPr lang="he-IL" dirty="0"/>
              <a:t>, מתוך כבוד ואמפתיה.</a:t>
            </a:r>
            <a:br>
              <a:rPr lang="he-IL" dirty="0"/>
            </a:br>
            <a:r>
              <a:rPr lang="he-IL" dirty="0"/>
              <a:t>• </a:t>
            </a:r>
            <a:r>
              <a:rPr lang="he-IL" b="1" dirty="0"/>
              <a:t>סודיות</a:t>
            </a:r>
            <a:r>
              <a:rPr lang="he-IL" dirty="0"/>
              <a:t> – לשמור על פרטיות המידע שנאמר במפגשים, אלא אם ניתנה רשות מפורשת לשתף או קיימת חובה חוקית.</a:t>
            </a:r>
            <a:br>
              <a:rPr lang="he-IL" dirty="0"/>
            </a:br>
            <a:r>
              <a:rPr lang="he-IL" dirty="0"/>
              <a:t>• </a:t>
            </a:r>
            <a:r>
              <a:rPr lang="he-IL" b="1" dirty="0"/>
              <a:t>מסגרת</a:t>
            </a:r>
            <a:r>
              <a:rPr lang="he-IL" dirty="0"/>
              <a:t> – לקיים את המפגשים במועדים ובאופן שנקבעו, ולשמור על גבולות ברורים ובטוחים לשני הצדדים.</a:t>
            </a:r>
            <a:endParaRPr lang="he-IL" sz="4000" b="1" dirty="0">
              <a:solidFill>
                <a:srgbClr val="0A4054"/>
              </a:solidFill>
            </a:endParaRPr>
          </a:p>
          <a:p>
            <a:pPr marL="0" indent="0" algn="r" rtl="1">
              <a:buNone/>
            </a:pPr>
            <a:endParaRPr lang="he-IL" sz="4000" b="1" dirty="0">
              <a:solidFill>
                <a:srgbClr val="0A4054"/>
              </a:solidFill>
            </a:endParaRPr>
          </a:p>
          <a:p>
            <a:pPr marL="0" indent="0" algn="r" rtl="1">
              <a:buNone/>
            </a:pPr>
            <a:r>
              <a:rPr lang="he-IL" sz="4000" b="1" dirty="0">
                <a:solidFill>
                  <a:srgbClr val="0A4054"/>
                </a:solidFill>
              </a:rPr>
              <a:t>התחייבות </a:t>
            </a:r>
            <a:r>
              <a:rPr lang="he-IL" sz="4000" b="1" dirty="0" err="1">
                <a:solidFill>
                  <a:srgbClr val="0A4054"/>
                </a:solidFill>
              </a:rPr>
              <a:t>המנטי</a:t>
            </a:r>
            <a:endParaRPr lang="en-US" sz="4000" b="1" dirty="0">
              <a:solidFill>
                <a:srgbClr val="0A4054"/>
              </a:solidFill>
            </a:endParaRPr>
          </a:p>
        </p:txBody>
      </p:sp>
      <p:sp>
        <p:nvSpPr>
          <p:cNvPr id="3" name="Slide Number Placeholder 2">
            <a:extLst>
              <a:ext uri="{FF2B5EF4-FFF2-40B4-BE49-F238E27FC236}">
                <a16:creationId xmlns:a16="http://schemas.microsoft.com/office/drawing/2014/main" id="{95D7C9F2-EB2A-D57B-0D06-69B87C19A3A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2099008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75AD7-BE7E-6A61-777D-392E4C71F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12E03-6510-D278-F1AA-4D4BECC932DC}"/>
              </a:ext>
            </a:extLst>
          </p:cNvPr>
          <p:cNvSpPr>
            <a:spLocks noGrp="1"/>
          </p:cNvSpPr>
          <p:nvPr>
            <p:ph type="title"/>
          </p:nvPr>
        </p:nvSpPr>
        <p:spPr>
          <a:xfrm>
            <a:off x="893064" y="72518"/>
            <a:ext cx="8297380" cy="1326514"/>
          </a:xfrm>
        </p:spPr>
        <p:txBody>
          <a:bodyPr/>
          <a:lstStyle/>
          <a:p>
            <a:r>
              <a:rPr lang="he-IL" dirty="0"/>
              <a:t>חוזה אישי</a:t>
            </a:r>
            <a:endParaRPr lang="en-ZA" dirty="0"/>
          </a:p>
        </p:txBody>
      </p:sp>
      <p:sp>
        <p:nvSpPr>
          <p:cNvPr id="4" name="Text Placeholder 3">
            <a:extLst>
              <a:ext uri="{FF2B5EF4-FFF2-40B4-BE49-F238E27FC236}">
                <a16:creationId xmlns:a16="http://schemas.microsoft.com/office/drawing/2014/main" id="{C8E25928-DEF0-E6C6-F8EC-78B6B76AE728}"/>
              </a:ext>
            </a:extLst>
          </p:cNvPr>
          <p:cNvSpPr>
            <a:spLocks noGrp="1"/>
          </p:cNvSpPr>
          <p:nvPr>
            <p:ph type="body" sz="quarter" idx="13"/>
          </p:nvPr>
        </p:nvSpPr>
        <p:spPr>
          <a:xfrm>
            <a:off x="612649" y="2072640"/>
            <a:ext cx="8577072" cy="4319016"/>
          </a:xfrm>
        </p:spPr>
        <p:txBody>
          <a:bodyPr>
            <a:normAutofit/>
          </a:bodyPr>
          <a:lstStyle/>
          <a:p>
            <a:pPr marL="0" indent="0" algn="r" rtl="1">
              <a:buNone/>
            </a:pPr>
            <a:r>
              <a:rPr lang="he-IL" sz="4000" b="1" dirty="0">
                <a:solidFill>
                  <a:srgbClr val="0A4054"/>
                </a:solidFill>
              </a:rPr>
              <a:t>התחייבות </a:t>
            </a:r>
            <a:r>
              <a:rPr lang="he-IL" sz="4000" b="1" dirty="0" err="1">
                <a:solidFill>
                  <a:srgbClr val="0A4054"/>
                </a:solidFill>
              </a:rPr>
              <a:t>המנטור</a:t>
            </a:r>
            <a:endParaRPr lang="he-IL" sz="4000" b="1" dirty="0">
              <a:solidFill>
                <a:srgbClr val="0A4054"/>
              </a:solidFill>
            </a:endParaRPr>
          </a:p>
          <a:p>
            <a:pPr marL="0" indent="0" algn="r" rtl="1">
              <a:buNone/>
            </a:pPr>
            <a:endParaRPr lang="he-IL" sz="4000" b="1" dirty="0">
              <a:solidFill>
                <a:srgbClr val="0A4054"/>
              </a:solidFill>
            </a:endParaRPr>
          </a:p>
          <a:p>
            <a:pPr marL="0" indent="0" algn="r" rtl="1">
              <a:buNone/>
            </a:pPr>
            <a:r>
              <a:rPr lang="he-IL" sz="4000" b="1" dirty="0">
                <a:solidFill>
                  <a:srgbClr val="0A4054"/>
                </a:solidFill>
              </a:rPr>
              <a:t>התחייבות </a:t>
            </a:r>
            <a:r>
              <a:rPr lang="he-IL" sz="4000" b="1" dirty="0" err="1">
                <a:solidFill>
                  <a:srgbClr val="0A4054"/>
                </a:solidFill>
              </a:rPr>
              <a:t>המנטי</a:t>
            </a:r>
            <a:endParaRPr lang="he-IL" sz="4000" b="1" dirty="0">
              <a:solidFill>
                <a:srgbClr val="0A4054"/>
              </a:solidFill>
            </a:endParaRPr>
          </a:p>
          <a:p>
            <a:pPr marL="0" indent="0" algn="r" rtl="1">
              <a:buNone/>
            </a:pPr>
            <a:br>
              <a:rPr lang="he-IL" sz="2800" b="1" dirty="0"/>
            </a:br>
            <a:r>
              <a:rPr lang="he-IL" sz="2800" dirty="0"/>
              <a:t>• </a:t>
            </a:r>
            <a:r>
              <a:rPr lang="he-IL" sz="2800" b="1" dirty="0"/>
              <a:t>נוכחות</a:t>
            </a:r>
            <a:r>
              <a:rPr lang="he-IL" sz="2800" dirty="0"/>
              <a:t> – להגיע למפגשים בזמן ולהיות שותף פעיל בתהליך.</a:t>
            </a:r>
          </a:p>
          <a:p>
            <a:pPr marL="0" indent="0" algn="r" rtl="1">
              <a:buNone/>
            </a:pPr>
            <a:br>
              <a:rPr lang="he-IL" sz="2800" dirty="0"/>
            </a:br>
            <a:r>
              <a:rPr lang="he-IL" sz="2800" dirty="0"/>
              <a:t>• </a:t>
            </a:r>
            <a:r>
              <a:rPr lang="he-IL" sz="2800" b="1" dirty="0"/>
              <a:t>שיתוף</a:t>
            </a:r>
            <a:r>
              <a:rPr lang="he-IL" sz="2800" dirty="0"/>
              <a:t> – להביא תכנים, חוויות ומחשבות שיסייעו ללמידה ולהתפתחות.</a:t>
            </a:r>
          </a:p>
          <a:p>
            <a:pPr marL="0" indent="0" algn="r" rtl="1">
              <a:buNone/>
            </a:pPr>
            <a:br>
              <a:rPr lang="he-IL" sz="2800" dirty="0"/>
            </a:br>
            <a:r>
              <a:rPr lang="he-IL" sz="2800" dirty="0"/>
              <a:t>• </a:t>
            </a:r>
            <a:r>
              <a:rPr lang="he-IL" sz="2800" b="1" dirty="0"/>
              <a:t>כנות</a:t>
            </a:r>
            <a:r>
              <a:rPr lang="he-IL" sz="2800" dirty="0"/>
              <a:t> – לשתף מתוך פתיחות ואותנטיות, תוך שמירה על תקשורת מכבדת ובונה.</a:t>
            </a:r>
            <a:endParaRPr lang="en-US" sz="2800" b="1" dirty="0">
              <a:solidFill>
                <a:srgbClr val="0A4054"/>
              </a:solidFill>
            </a:endParaRPr>
          </a:p>
        </p:txBody>
      </p:sp>
      <p:sp>
        <p:nvSpPr>
          <p:cNvPr id="3" name="Slide Number Placeholder 2">
            <a:extLst>
              <a:ext uri="{FF2B5EF4-FFF2-40B4-BE49-F238E27FC236}">
                <a16:creationId xmlns:a16="http://schemas.microsoft.com/office/drawing/2014/main" id="{FAF35111-EC6D-45D5-15DC-5C08F2F175B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11</a:t>
            </a:fld>
            <a:endParaRPr lang="en-US" dirty="0"/>
          </a:p>
        </p:txBody>
      </p:sp>
    </p:spTree>
    <p:extLst>
      <p:ext uri="{BB962C8B-B14F-4D97-AF65-F5344CB8AC3E}">
        <p14:creationId xmlns:p14="http://schemas.microsoft.com/office/powerpoint/2010/main" val="1342278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2EADA-CFC8-68BE-648D-A359857A9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9CEE4-1679-9ACE-7984-5F2A151366B2}"/>
              </a:ext>
            </a:extLst>
          </p:cNvPr>
          <p:cNvSpPr>
            <a:spLocks noGrp="1"/>
          </p:cNvSpPr>
          <p:nvPr>
            <p:ph type="title"/>
          </p:nvPr>
        </p:nvSpPr>
        <p:spPr>
          <a:xfrm>
            <a:off x="329184" y="-417004"/>
            <a:ext cx="2432304" cy="1326514"/>
          </a:xfrm>
        </p:spPr>
        <p:txBody>
          <a:bodyPr/>
          <a:lstStyle/>
          <a:p>
            <a:r>
              <a:rPr lang="he-IL" dirty="0"/>
              <a:t>חוזה אישי</a:t>
            </a:r>
            <a:endParaRPr lang="en-ZA" dirty="0"/>
          </a:p>
        </p:txBody>
      </p:sp>
      <p:sp>
        <p:nvSpPr>
          <p:cNvPr id="3" name="Slide Number Placeholder 2">
            <a:extLst>
              <a:ext uri="{FF2B5EF4-FFF2-40B4-BE49-F238E27FC236}">
                <a16:creationId xmlns:a16="http://schemas.microsoft.com/office/drawing/2014/main" id="{546F75BC-A50C-3232-0B10-267741B09BF1}"/>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12</a:t>
            </a:fld>
            <a:endParaRPr lang="en-US" dirty="0"/>
          </a:p>
        </p:txBody>
      </p:sp>
      <p:pic>
        <p:nvPicPr>
          <p:cNvPr id="8" name="Picture 7">
            <a:extLst>
              <a:ext uri="{FF2B5EF4-FFF2-40B4-BE49-F238E27FC236}">
                <a16:creationId xmlns:a16="http://schemas.microsoft.com/office/drawing/2014/main" id="{72765095-6E89-B11E-58DE-ECB68D4D1403}"/>
              </a:ext>
            </a:extLst>
          </p:cNvPr>
          <p:cNvPicPr>
            <a:picLocks noChangeAspect="1"/>
          </p:cNvPicPr>
          <p:nvPr/>
        </p:nvPicPr>
        <p:blipFill>
          <a:blip r:embed="rId2"/>
          <a:stretch>
            <a:fillRect/>
          </a:stretch>
        </p:blipFill>
        <p:spPr>
          <a:xfrm>
            <a:off x="1746805" y="922805"/>
            <a:ext cx="8220155" cy="5862677"/>
          </a:xfrm>
          <a:prstGeom prst="rect">
            <a:avLst/>
          </a:prstGeom>
        </p:spPr>
      </p:pic>
    </p:spTree>
    <p:extLst>
      <p:ext uri="{BB962C8B-B14F-4D97-AF65-F5344CB8AC3E}">
        <p14:creationId xmlns:p14="http://schemas.microsoft.com/office/powerpoint/2010/main" val="211854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F9F0-B02C-F479-3755-F41439C1E147}"/>
              </a:ext>
            </a:extLst>
          </p:cNvPr>
          <p:cNvSpPr>
            <a:spLocks noGrp="1"/>
          </p:cNvSpPr>
          <p:nvPr>
            <p:ph type="title"/>
          </p:nvPr>
        </p:nvSpPr>
        <p:spPr>
          <a:xfrm>
            <a:off x="6095999" y="441960"/>
            <a:ext cx="5641897" cy="3316893"/>
          </a:xfrm>
        </p:spPr>
        <p:txBody>
          <a:bodyPr/>
          <a:lstStyle/>
          <a:p>
            <a:r>
              <a:rPr lang="he-IL" dirty="0" err="1"/>
              <a:t>סופרוויזין</a:t>
            </a:r>
            <a:endParaRPr lang="en-ZA" dirty="0"/>
          </a:p>
        </p:txBody>
      </p:sp>
      <p:sp>
        <p:nvSpPr>
          <p:cNvPr id="5" name="Text Placeholder 4">
            <a:extLst>
              <a:ext uri="{FF2B5EF4-FFF2-40B4-BE49-F238E27FC236}">
                <a16:creationId xmlns:a16="http://schemas.microsoft.com/office/drawing/2014/main" id="{CE3C8A46-D49C-FB70-9062-B672F2F7FB49}"/>
              </a:ext>
            </a:extLst>
          </p:cNvPr>
          <p:cNvSpPr>
            <a:spLocks noGrp="1"/>
          </p:cNvSpPr>
          <p:nvPr>
            <p:ph type="body" sz="quarter" idx="13"/>
          </p:nvPr>
        </p:nvSpPr>
        <p:spPr>
          <a:xfrm>
            <a:off x="6109694" y="4068392"/>
            <a:ext cx="5580586" cy="2197590"/>
          </a:xfrm>
        </p:spPr>
        <p:txBody>
          <a:bodyPr/>
          <a:lstStyle/>
          <a:p>
            <a:pPr algn="r"/>
            <a:r>
              <a:rPr lang="he-IL" dirty="0"/>
              <a:t>20 שעות </a:t>
            </a:r>
          </a:p>
          <a:p>
            <a:pPr algn="r"/>
            <a:r>
              <a:rPr lang="he-IL" dirty="0"/>
              <a:t>15 קבוצתית (4-5 מפגשים)</a:t>
            </a:r>
          </a:p>
          <a:p>
            <a:pPr algn="r"/>
            <a:r>
              <a:rPr lang="he-IL" dirty="0"/>
              <a:t>5 שעות פרטניות </a:t>
            </a:r>
          </a:p>
          <a:p>
            <a:pPr algn="r"/>
            <a:r>
              <a:rPr lang="he-IL" dirty="0"/>
              <a:t>קבוצה של 5 מנהלים</a:t>
            </a:r>
          </a:p>
          <a:p>
            <a:pPr algn="r"/>
            <a:r>
              <a:rPr lang="he-IL" dirty="0"/>
              <a:t>בחירה</a:t>
            </a:r>
          </a:p>
          <a:p>
            <a:pPr algn="r"/>
            <a:endParaRPr lang="en-US" dirty="0"/>
          </a:p>
        </p:txBody>
      </p:sp>
    </p:spTree>
    <p:extLst>
      <p:ext uri="{BB962C8B-B14F-4D97-AF65-F5344CB8AC3E}">
        <p14:creationId xmlns:p14="http://schemas.microsoft.com/office/powerpoint/2010/main" val="4043390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8D25-D403-2E2B-50DA-B21A0500AB0E}"/>
              </a:ext>
            </a:extLst>
          </p:cNvPr>
          <p:cNvSpPr>
            <a:spLocks noGrp="1"/>
          </p:cNvSpPr>
          <p:nvPr>
            <p:ph type="title"/>
          </p:nvPr>
        </p:nvSpPr>
        <p:spPr>
          <a:xfrm>
            <a:off x="911352" y="505016"/>
            <a:ext cx="5775656" cy="3284932"/>
          </a:xfrm>
        </p:spPr>
        <p:txBody>
          <a:bodyPr/>
          <a:lstStyle/>
          <a:p>
            <a:r>
              <a:rPr lang="he-IL" dirty="0"/>
              <a:t>תודה ולהתראות </a:t>
            </a:r>
            <a:endParaRPr lang="en-US" dirty="0"/>
          </a:p>
        </p:txBody>
      </p:sp>
    </p:spTree>
    <p:extLst>
      <p:ext uri="{BB962C8B-B14F-4D97-AF65-F5344CB8AC3E}">
        <p14:creationId xmlns:p14="http://schemas.microsoft.com/office/powerpoint/2010/main" val="3493061142"/>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2.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{E3A6612F-5E1D-4A05-8296-24E96EC1F0FE}TFb05bf529-a1dc-42d5-b9d6-8a1e9569dd9caf6e7d0f_win32-c3c9796a48f5</Template>
  <TotalTime>372</TotalTime>
  <Words>546</Words>
  <Application>Microsoft Office PowerPoint</Application>
  <PresentationFormat>Widescreen</PresentationFormat>
  <Paragraphs>63</Paragraphs>
  <Slides>14</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Avenir Next LT Pro Light</vt:lpstr>
      <vt:lpstr>Calibri</vt:lpstr>
      <vt:lpstr>David</vt:lpstr>
      <vt:lpstr>Posterama</vt:lpstr>
      <vt:lpstr>Custom</vt:lpstr>
      <vt:lpstr>מנטורים אבני ראשה מפגש מספר 3</vt:lpstr>
      <vt:lpstr>סדר יום  </vt:lpstr>
      <vt:lpstr>קוד אתי </vt:lpstr>
      <vt:lpstr>  קוד אתי   קוד אתי במנטורינג נועד להבטיח מערכת יחסים מקצועית, בטוחה ואמינה בין המנטור למנטי.  מטרתו לסמן כיוון,  להגדיר גבולות, אחריות  ונורמות התנהגות</vt:lpstr>
      <vt:lpstr>  קוד אתי   במכון אבני ראשה רואים במנהל (המנטי) אדם יצירתי, בעל תושייה ושלם מטבעו, אין בו דבר שיש לתקן.  המנטי הוא בעל האחריות המלאה לתהליך, לסדר היום ולתוצאות.  המנטור תומך בו באמצעות שאלות מעוררות חשיבה, הקשבה פעילה וליווי גמיש המכוון להשגת יעדיו האישיים והמקצועיים.  הקשר המנטורי מתנהל כשותפות לומדת – דיאלוגית, שוויונית, ומבוססת אמון. </vt:lpstr>
      <vt:lpstr> 1. שמירה על סודיות  כל מידע שהמנטי משתף בתהליך נשמר חסוי, ואינו נמסר לאחרים אלא בהסכמתו המפורשת.  2. כבוד הדדי  הקשר המנטורי מבוסס על הקשבה, שוויון, מתן מקום לדעות שונות ויחס אנושי מכבד.  3. גבולות תפקיד  המנטור איננו מטפל, פסיכולוג או יועץ משפטי. עליו לזהות מצבים המחייבים הפניה לגורם מקצועי מתאים.  4. אחריות מקצועית  המנטור פועל ביושרה, מקפיד על סטנדרטים מקצועיים, וממשיך להתפתח ולשפר את כישוריו באופן מתמיד. </vt:lpstr>
      <vt:lpstr> 5. הימנעות מניגוד עניינים  יש להימנע מיצירת תלות, קשרים עסקיים או אינטרסים אישיים שאינם חלק ממטרות התהליך.  6. העצמת עצמאות המנטי  המנטור מסייע למנטי לגבש את החלטותיו, אך אינו מחליט בשמו. האחריות לפעולה נשארת בידי המנטי.  7. שקיפות והסכמה  בתחילת התהליך יש להבהיר במשותף את מטרות הליווי, משכו, תדירות המפגשים, וכללי הסודיות וההתנהלות.  8. רגישות וגמישות תרבותית  המנטור נדרש לגישה פתוחה ולא שיפוטית, תוך הימנעות מהשלכת ערכיו האישיים על התהליך ומתוך כבוד לרקע התרבותי של המנטי. </vt:lpstr>
      <vt:lpstr>PowerPoint Presentation</vt:lpstr>
      <vt:lpstr>חוזה אישי</vt:lpstr>
      <vt:lpstr>חוזה אישי</vt:lpstr>
      <vt:lpstr>חוזה אישי</vt:lpstr>
      <vt:lpstr>חוזה אישי</vt:lpstr>
      <vt:lpstr>סופרוויזין</vt:lpstr>
      <vt:lpstr>תודה ולהתראות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Shlomit Kislev</dc:creator>
  <cp:lastModifiedBy>Shlomit Kislev</cp:lastModifiedBy>
  <cp:revision>3</cp:revision>
  <dcterms:created xsi:type="dcterms:W3CDTF">2025-10-20T06:25:11Z</dcterms:created>
  <dcterms:modified xsi:type="dcterms:W3CDTF">2025-10-20T15:28:10Z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b5194bbc-032f-47bb-9abc-b93ce9e451bf_Enabled">
    <vt:lpwstr>true</vt:lpwstr>
  </property>
  <property fmtid="{D5CDD505-2E9C-101B-9397-08002B2CF9AE}" pid="4" name="MSIP_Label_b5194bbc-032f-47bb-9abc-b93ce9e451bf_SetDate">
    <vt:lpwstr>2025-10-20T09:16:04Z</vt:lpwstr>
  </property>
  <property fmtid="{D5CDD505-2E9C-101B-9397-08002B2CF9AE}" pid="5" name="MSIP_Label_b5194bbc-032f-47bb-9abc-b93ce9e451bf_Method">
    <vt:lpwstr>Standard</vt:lpwstr>
  </property>
  <property fmtid="{D5CDD505-2E9C-101B-9397-08002B2CF9AE}" pid="6" name="MSIP_Label_b5194bbc-032f-47bb-9abc-b93ce9e451bf_Name">
    <vt:lpwstr>defa4170-0d19-0005-0004-bc88714345d2</vt:lpwstr>
  </property>
  <property fmtid="{D5CDD505-2E9C-101B-9397-08002B2CF9AE}" pid="7" name="MSIP_Label_b5194bbc-032f-47bb-9abc-b93ce9e451bf_SiteId">
    <vt:lpwstr>89549929-c3f4-4716-8ef4-0b2d475c2d50</vt:lpwstr>
  </property>
  <property fmtid="{D5CDD505-2E9C-101B-9397-08002B2CF9AE}" pid="8" name="MSIP_Label_b5194bbc-032f-47bb-9abc-b93ce9e451bf_ActionId">
    <vt:lpwstr>572f8a2f-9109-4269-a8d2-4769c93f3494</vt:lpwstr>
  </property>
  <property fmtid="{D5CDD505-2E9C-101B-9397-08002B2CF9AE}" pid="9" name="MSIP_Label_b5194bbc-032f-47bb-9abc-b93ce9e451bf_ContentBits">
    <vt:lpwstr>0</vt:lpwstr>
  </property>
  <property fmtid="{D5CDD505-2E9C-101B-9397-08002B2CF9AE}" pid="10" name="MSIP_Label_b5194bbc-032f-47bb-9abc-b93ce9e451bf_Tag">
    <vt:lpwstr>10, 3, 0, 1</vt:lpwstr>
  </property>
</Properties>
</file>