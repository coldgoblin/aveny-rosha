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Play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w-I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yqtiqlcuBgJDDVHGa0TPCkwzyK7x8DDzaMgJ9LAbqEA/edit?tab=t.0#heading=h.pbtlu9pvt4r0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yqtiqlcuBgJDDVHGa0TPCkwzyK7x8DDzaMgJ9LAbqEA/edit?tab=t.0#heading=h.pbtlu9pvt4r0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yqtiqlcuBgJDDVHGa0TPCkwzyK7x8DDzaMgJ9LAbqEA/edit?tab=t.0#heading=h.pbtlu9pvt4r0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yqtiqlcuBgJDDVHGa0TPCkwzyK7x8DDzaMgJ9LAbqEA/edit?tab=t.0#heading=h.pbtlu9pvt4r0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צ'קאין. לעבור מהנהר הגועש של הניהול לשקט וההקשבה של המנטרים. להאט. ביחרו שיר של מתי כספי או שיר אחר. הקשור למנטרור שבך.</a:t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צ'קאין. לעבור מהנהר הגועש של הניהול לשקט וההקשבה של המנטרים. להאט. ביחרו שיר של מתי כספי או שיר אחר. הקשור למנטרור שבך.</a:t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6de7b2217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c6de7b2217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74c2da1e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מפת ההתמצאות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 u="sng">
                <a:solidFill>
                  <a:schemeClr val="hlink"/>
                </a:solidFill>
                <a:hlinkClick r:id="rId2"/>
              </a:rPr>
              <a:t>https://docs.google.com/document/d/1yqtiqlcuBgJDDVHGa0TPCkwzyK7x8DDzaMgJ9LAbqEA/edit?tab=t.0#heading=h.pbtlu9pvt4r0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c74c2da1e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מפת ההתמצאות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 u="sng">
                <a:solidFill>
                  <a:schemeClr val="hlink"/>
                </a:solidFill>
                <a:hlinkClick r:id="rId2"/>
              </a:rPr>
              <a:t>https://docs.google.com/document/d/1yqtiqlcuBgJDDVHGa0TPCkwzyK7x8DDzaMgJ9LAbqEA/edit?tab=t.0#heading=h.pbtlu9pvt4r0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93ad0b067d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מפת ההתמצאות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 u="sng">
                <a:solidFill>
                  <a:schemeClr val="hlink"/>
                </a:solidFill>
                <a:hlinkClick r:id="rId2"/>
              </a:rPr>
              <a:t>https://docs.google.com/document/d/1yqtiqlcuBgJDDVHGa0TPCkwzyK7x8DDzaMgJ9LAbqEA/edit?tab=t.0#heading=h.pbtlu9pvt4r0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93ad0b067d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3ad0b067d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מפת ההתמצאות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w-IL" u="sng">
                <a:solidFill>
                  <a:schemeClr val="hlink"/>
                </a:solidFill>
                <a:hlinkClick r:id="rId2"/>
              </a:rPr>
              <a:t>https://docs.google.com/document/d/1yqtiqlcuBgJDDVHGa0TPCkwzyK7x8DDzaMgJ9LAbqEA/edit?tab=t.0#heading=h.pbtlu9pvt4r0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93ad0b067d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3ad0b067d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93ad0b067d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6de7b221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6de7b221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c6de7b2217_0_0:notes"/>
          <p:cNvSpPr txBox="1"/>
          <p:nvPr>
            <p:ph idx="12" type="sldNum"/>
          </p:nvPr>
        </p:nvSpPr>
        <p:spPr>
          <a:xfrm>
            <a:off x="1588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1" algn="l">
              <a:spcBef>
                <a:spcPts val="0"/>
              </a:spcBef>
              <a:buNone/>
              <a:defRPr/>
            </a:lvl1pPr>
            <a:lvl2pPr indent="0" lvl="1" marL="0" rtl="1" algn="l">
              <a:spcBef>
                <a:spcPts val="0"/>
              </a:spcBef>
              <a:buNone/>
              <a:defRPr/>
            </a:lvl2pPr>
            <a:lvl3pPr indent="0" lvl="2" marL="0" rtl="1" algn="l">
              <a:spcBef>
                <a:spcPts val="0"/>
              </a:spcBef>
              <a:buNone/>
              <a:defRPr/>
            </a:lvl3pPr>
            <a:lvl4pPr indent="0" lvl="3" marL="0" rtl="1" algn="l">
              <a:spcBef>
                <a:spcPts val="0"/>
              </a:spcBef>
              <a:buNone/>
              <a:defRPr/>
            </a:lvl4pPr>
            <a:lvl5pPr indent="0" lvl="4" marL="0" rtl="1" algn="l">
              <a:spcBef>
                <a:spcPts val="0"/>
              </a:spcBef>
              <a:buNone/>
              <a:defRPr/>
            </a:lvl5pPr>
            <a:lvl6pPr indent="0" lvl="5" marL="0" rtl="1" algn="l">
              <a:spcBef>
                <a:spcPts val="0"/>
              </a:spcBef>
              <a:buNone/>
              <a:defRPr/>
            </a:lvl6pPr>
            <a:lvl7pPr indent="0" lvl="6" marL="0" rtl="1" algn="l">
              <a:spcBef>
                <a:spcPts val="0"/>
              </a:spcBef>
              <a:buNone/>
              <a:defRPr/>
            </a:lvl7pPr>
            <a:lvl8pPr indent="0" lvl="7" marL="0" rtl="1" algn="l">
              <a:spcBef>
                <a:spcPts val="0"/>
              </a:spcBef>
              <a:buNone/>
              <a:defRPr/>
            </a:lvl8pPr>
            <a:lvl9pPr indent="0" lvl="8" marL="0" rtl="1" algn="l">
              <a:spcBef>
                <a:spcPts val="0"/>
              </a:spcBef>
              <a:buNone/>
              <a:defRPr/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padlet.com/yairamitay10/padlet-j0g6a5pktd3dyxfl?lang=he" TargetMode="External"/><Relationship Id="rId4" Type="http://schemas.openxmlformats.org/officeDocument/2006/relationships/image" Target="../media/image11.jp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hyperlink" Target="https://padlet.com/yairamitay10/padlet-j0g6a5pktd3dyxfl?lang=h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document/d/1yqtiqlcuBgJDDVHGa0TPCkwzyK7x8DDzaMgJ9LAbqEA/edit?tab=t.0#heading=h.pbtlu9pvt4r0" TargetMode="External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document/d/1yqtiqlcuBgJDDVHGa0TPCkwzyK7x8DDzaMgJ9LAbqEA/edit?tab=t.0#heading=h.pbtlu9pvt4r0" TargetMode="External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google.com/document/d/1yqtiqlcuBgJDDVHGa0TPCkwzyK7x8DDzaMgJ9LAbqEA/edit?tab=t.0#heading=h.pbtlu9pvt4r0" TargetMode="External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document/d/1yqtiqlcuBgJDDVHGa0TPCkwzyK7x8DDzaMgJ9LAbqEA/edit?tab=t.0#heading=h.pbtlu9pvt4r0" TargetMode="External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חוץ, ענן, עץ, צמח&#10;&#10;תוכן בינה מלאכותית גנרטיבית עשוי להיות שגוי."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0514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צילום מסך, לוגו&#10;&#10;תוכן בינה מלאכותית גנרטיבית עשוי להיות שגוי." id="89" name="Google Shape;89;p13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59170" y="401966"/>
            <a:ext cx="3032830" cy="23606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1775" y="5943600"/>
            <a:ext cx="118566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74664" y="5943600"/>
            <a:ext cx="49448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8935434" y="2773501"/>
            <a:ext cx="3480301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גרמלינים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לאט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באזר תרגולים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295645" y="376882"/>
            <a:ext cx="4978718" cy="6104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קבוצות 1,2</a:t>
            </a:r>
            <a:endParaRPr/>
          </a:p>
          <a:p>
            <a:pPr indent="0" lvl="0" marL="0" marR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9:30   צ'קאין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10:30 גרמלינים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11:45 תרגול גרמלין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12:45 ארוחת צהריים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13:30 באזר תרגולים</a:t>
            </a:r>
            <a:endParaRPr/>
          </a:p>
          <a:p>
            <a:pPr indent="0" lvl="0" marL="0" marR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15:30 צ'קאוט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16:00 סיום</a:t>
            </a:r>
            <a:endParaRPr/>
          </a:p>
        </p:txBody>
      </p:sp>
      <p:pic>
        <p:nvPicPr>
          <p:cNvPr descr="תמונה שמכילה טקסט, גופן, עיגול, צילום מסך&#10;&#10;תוכן בינה מלאכותית גנרטיבית עשוי להיות שגוי.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775" y="5943600"/>
            <a:ext cx="118566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4664" y="5943600"/>
            <a:ext cx="49448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ציור, סרט מצויר, אומנות ילדים&#10;&#10;תוכן בינה מלאכותית גנרטיבית עשוי להיות שגוי.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5317" y="866753"/>
            <a:ext cx="757767" cy="5614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4828" y="1313357"/>
            <a:ext cx="4497173" cy="3813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/>
        </p:nvSpPr>
        <p:spPr>
          <a:xfrm>
            <a:off x="295645" y="376882"/>
            <a:ext cx="4978718" cy="6104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w-IL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קבוצות 3</a:t>
            </a:r>
            <a:endParaRPr/>
          </a:p>
          <a:p>
            <a:pPr indent="0" lvl="0" marL="0" marR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9:30   צ'קאין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10:30 באזר תרגולים</a:t>
            </a:r>
            <a:endParaRPr/>
          </a:p>
          <a:p>
            <a:pPr indent="0" lvl="0" marL="0" marR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11:45 גרמלינים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12:45 ארוחת צהריים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13:30 תרגול גרמלין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15:30 צ'קאוט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iw-IL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16:00 סיום</a:t>
            </a:r>
            <a:endParaRPr/>
          </a:p>
        </p:txBody>
      </p:sp>
      <p:pic>
        <p:nvPicPr>
          <p:cNvPr descr="תמונה שמכילה טקסט, גופן, עיגול, צילום מסך&#10;&#10;תוכן בינה מלאכותית גנרטיבית עשוי להיות שגוי.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775" y="5943600"/>
            <a:ext cx="118566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4664" y="5943600"/>
            <a:ext cx="49448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ציור, סרט מצויר, אומנות ילדים&#10;&#10;תוכן בינה מלאכותית גנרטיבית עשוי להיות שגוי.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5317" y="866753"/>
            <a:ext cx="757767" cy="5614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4828" y="1313357"/>
            <a:ext cx="4497173" cy="3813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חוץ, עץ, גיא, טבע&#10;&#10;תוכן בינה מלאכותית גנרטיבית עשוי להיות שגוי." id="116" name="Google Shape;116;p16"/>
          <p:cNvPicPr preferRelativeResize="0"/>
          <p:nvPr/>
        </p:nvPicPr>
        <p:blipFill rotWithShape="1">
          <a:blip r:embed="rId3">
            <a:alphaModFix/>
          </a:blip>
          <a:srcRect b="0" l="0" r="-89" t="0"/>
          <a:stretch/>
        </p:blipFill>
        <p:spPr>
          <a:xfrm>
            <a:off x="-21771" y="0"/>
            <a:ext cx="1223071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117" name="Google Shape;11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775" y="5943600"/>
            <a:ext cx="118566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4664" y="5943600"/>
            <a:ext cx="49448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1887338" y="5320605"/>
            <a:ext cx="6304162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iw-IL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מה בין השיר שבחרת למנטורינג שבך?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איך נשמעת מנגינת המטורינג שלך?</a:t>
            </a:r>
            <a:endParaRPr/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מה יש בתוך מי המטורינג הצלולים שלך?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חוץ, עץ, גיא, טבע&#10;&#10;תוכן בינה מלאכותית גנרטיבית עשוי להיות שגוי." id="125" name="Google Shape;125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-89" t="0"/>
          <a:stretch/>
        </p:blipFill>
        <p:spPr>
          <a:xfrm>
            <a:off x="-21771" y="0"/>
            <a:ext cx="1223071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126" name="Google Shape;12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1775" y="5943600"/>
            <a:ext cx="118566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74664" y="5943600"/>
            <a:ext cx="49448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1546224" y="5943600"/>
            <a:ext cx="7381875" cy="369332"/>
          </a:xfrm>
          <a:prstGeom prst="rect">
            <a:avLst/>
          </a:prstGeom>
          <a:solidFill>
            <a:srgbClr val="FFFFFF">
              <a:alpha val="6392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https://padlet.com/yairamitay10/padlet-j0g6a5pktd3dyxfl?lang=he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-231775" y="983734"/>
            <a:ext cx="611505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מנטורינג למנהלים תשפ"ו - אוסף שירים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iw-IL"/>
              <a:t>גרמלין? גרמלין!</a:t>
            </a:r>
            <a:endParaRPr/>
          </a:p>
        </p:txBody>
      </p:sp>
      <p:pic>
        <p:nvPicPr>
          <p:cNvPr descr="תמונה שמכילה טקסט, גופן, עיגול, צילום מסך&#10;&#10;תוכן בינה מלאכותית גנרטיבית עשוי להיות שגוי." id="136" name="Google Shape;1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775" y="5943600"/>
            <a:ext cx="118566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4664" y="5943600"/>
            <a:ext cx="49448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תיק יד, אביזר אופנה, אביזר, מזוודות ותיקים&#10;&#10;תוכן בינה מלאכותית גנרטיבית עשוי להיות שגוי." id="138" name="Google Shape;13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8246578" y="0"/>
            <a:ext cx="394541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>
            <p:ph idx="1" type="body"/>
          </p:nvPr>
        </p:nvSpPr>
        <p:spPr>
          <a:xfrm>
            <a:off x="231775" y="1641475"/>
            <a:ext cx="851794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42950" lvl="0" marL="74295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AutoNum type="arabicPeriod"/>
            </a:pPr>
            <a:r>
              <a:rPr lang="iw-IL" sz="4000"/>
              <a:t>חשבו על הגרמלינים שלכם</a:t>
            </a:r>
            <a:endParaRPr/>
          </a:p>
          <a:p>
            <a:pPr indent="-742950" lvl="0" marL="74295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AutoNum type="arabicPeriod"/>
            </a:pPr>
            <a:r>
              <a:rPr lang="iw-IL" sz="4000"/>
              <a:t>כתבו בכל דף על גרמלין אחד</a:t>
            </a:r>
            <a:endParaRPr/>
          </a:p>
          <a:p>
            <a:pPr indent="-742950" lvl="0" marL="74295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AutoNum type="arabicPeriod"/>
            </a:pPr>
            <a:r>
              <a:rPr lang="iw-IL" sz="4000"/>
              <a:t>תנו לו שם</a:t>
            </a:r>
            <a:endParaRPr/>
          </a:p>
          <a:p>
            <a:pPr indent="-742950" lvl="0" marL="74295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AutoNum type="arabicPeriod"/>
            </a:pPr>
            <a:r>
              <a:rPr lang="iw-IL" sz="4000"/>
              <a:t>הוסיפו ציור וצבעים</a:t>
            </a:r>
            <a:endParaRPr/>
          </a:p>
          <a:p>
            <a:pPr indent="-742950" lvl="0" marL="74295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AutoNum type="arabicPeriod"/>
            </a:pPr>
            <a:r>
              <a:rPr lang="iw-IL" sz="4000"/>
              <a:t>הניחו בקופסה באמצע את כל </a:t>
            </a:r>
            <a:br>
              <a:rPr lang="iw-IL" sz="4000"/>
            </a:br>
            <a:r>
              <a:rPr lang="iw-IL" sz="4000"/>
              <a:t>הפתקיות (הרבה)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טקסט, גופן, עיגול, צילום מסך&#10;&#10;תוכן בינה מלאכותית גנרטיבית עשוי להיות שגוי." id="144" name="Google Shape;14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775" y="5943600"/>
            <a:ext cx="118566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74664" y="5943600"/>
            <a:ext cx="49448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בתוך מבנה, קופסה, ארגז מטען, אספקת משרד&#10;&#10;תוכן בינה מלאכותית גנרטיבית עשוי להיות שגוי." id="146" name="Google Shape;14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4633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תמונה שמכילה סרט מצויר, אדם&#10;&#10;תוכן בינה מלאכותית גנרטיבית עשוי להיות שגוי." id="152" name="Google Shape;15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8094" y="75492"/>
            <a:ext cx="7937500" cy="678250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1" y="910431"/>
            <a:ext cx="52959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iw-IL" sz="4800"/>
              <a:t>זוגות -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iw-IL" sz="4800"/>
              <a:t>אסטרטגיות התמודדות 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iw-IL" sz="4800"/>
              <a:t>שאני יכולה להפעיל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t/>
            </a:r>
            <a:endParaRPr sz="4800"/>
          </a:p>
        </p:txBody>
      </p:sp>
      <p:pic>
        <p:nvPicPr>
          <p:cNvPr descr="תמונה שמכילה טקסט, גופן, עיגול, צילום מסך&#10;&#10;תוכן בינה מלאכותית גנרטיבית עשוי להיות שגוי." id="154" name="Google Shape;15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775" y="5943600"/>
            <a:ext cx="118566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4664" y="5943600"/>
            <a:ext cx="49448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F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תמונה שמכילה סרט מצויר, אדם&#10;&#10;תוכן בינה מלאכותית גנרטיבית עשוי להיות שגוי." id="161" name="Google Shape;16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8094" y="75492"/>
            <a:ext cx="7937501" cy="678250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 txBox="1"/>
          <p:nvPr>
            <p:ph idx="1" type="body"/>
          </p:nvPr>
        </p:nvSpPr>
        <p:spPr>
          <a:xfrm>
            <a:off x="-156500" y="530975"/>
            <a:ext cx="5533500" cy="4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1429"/>
              <a:buNone/>
            </a:pPr>
            <a:r>
              <a:t/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w-IL" sz="4800"/>
              <a:t>אסטרטגיות קבוצה 3</a:t>
            </a:r>
            <a:endParaRPr sz="4800"/>
          </a:p>
          <a:p>
            <a:pPr indent="-48768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AutoNum type="arabicPeriod"/>
            </a:pPr>
            <a:r>
              <a:rPr lang="iw-IL" sz="4800"/>
              <a:t>הבחנה (שם יכול לעזור לזיהוי של הקול)</a:t>
            </a:r>
            <a:endParaRPr sz="4800"/>
          </a:p>
          <a:p>
            <a:pPr indent="-48768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w-IL" sz="4800"/>
              <a:t>משפט להגיד</a:t>
            </a:r>
            <a:endParaRPr sz="4800"/>
          </a:p>
          <a:p>
            <a:pPr indent="-48768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w-IL" sz="4800"/>
              <a:t>השהייה - נדבר באוטו</a:t>
            </a:r>
            <a:endParaRPr sz="4800"/>
          </a:p>
          <a:p>
            <a:pPr indent="-48768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w-IL" sz="4800"/>
              <a:t>כתיבת דיאלוג בנינו</a:t>
            </a:r>
            <a:endParaRPr sz="4800"/>
          </a:p>
          <a:p>
            <a:pPr indent="-48768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w-IL" sz="4800"/>
              <a:t>תנועתיות </a:t>
            </a:r>
            <a:endParaRPr sz="4800"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71429"/>
              <a:buNone/>
            </a:pPr>
            <a:r>
              <a:t/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4800"/>
          </a:p>
        </p:txBody>
      </p:sp>
      <p:pic>
        <p:nvPicPr>
          <p:cNvPr descr="תמונה שמכילה טקסט, גופן, עיגול, צילום מסך&#10;&#10;תוכן בינה מלאכותית גנרטיבית עשוי להיות שגוי." id="163" name="Google Shape;1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775" y="5943600"/>
            <a:ext cx="118566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4664" y="5943600"/>
            <a:ext cx="49448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אדם, לבוש, פני אדם, אביזר אופנה&#10;&#10;תוכן בינה מלאכותית גנרטיבית עשוי להיות שגוי." id="169" name="Google Shape;1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884194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>
            <p:ph idx="1" type="body"/>
          </p:nvPr>
        </p:nvSpPr>
        <p:spPr>
          <a:xfrm>
            <a:off x="6896100" y="723900"/>
            <a:ext cx="52959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iw-IL" sz="4800"/>
              <a:t>ניהול יומן גרמלין</a:t>
            </a:r>
            <a:endParaRPr sz="4800"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iw-IL" sz="4800"/>
              <a:t>מתי הם עולים לי?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iw-IL" sz="4800"/>
              <a:t>איך אני מגיבה?</a:t>
            </a:r>
            <a:endParaRPr/>
          </a:p>
        </p:txBody>
      </p:sp>
      <p:pic>
        <p:nvPicPr>
          <p:cNvPr descr="תמונה שמכילה טקסט, גופן, עיגול, צילום מסך&#10;&#10;תוכן בינה מלאכותית גנרטיבית עשוי להיות שגוי." id="171" name="Google Shape;17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775" y="5943600"/>
            <a:ext cx="118566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74664" y="5943600"/>
            <a:ext cx="494480" cy="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ניין, מכל זבל, רהיטים, בחוץ&#10;&#10;תוכן בינה מלאכותית גנרטיבית עשוי להיות שגוי." id="177" name="Google Shape;177;p2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208212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ניין, מכל זבל, רהיטים, בחוץ&#10;&#10;תוכן בינה מלאכותית גנרטיבית עשוי להיות שגוי." id="182" name="Google Shape;182;p2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20821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4"/>
          <p:cNvSpPr/>
          <p:nvPr/>
        </p:nvSpPr>
        <p:spPr>
          <a:xfrm>
            <a:off x="8613377" y="1072938"/>
            <a:ext cx="2986389" cy="3754876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מנטור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כתוב מתודה/כלי שאתה רוצה להתחזק בה</a:t>
            </a:r>
            <a:endParaRPr/>
          </a:p>
        </p:txBody>
      </p:sp>
      <p:sp>
        <p:nvSpPr>
          <p:cNvPr id="184" name="Google Shape;184;p24"/>
          <p:cNvSpPr/>
          <p:nvPr/>
        </p:nvSpPr>
        <p:spPr>
          <a:xfrm>
            <a:off x="4464531" y="1072938"/>
            <a:ext cx="2986389" cy="3754876"/>
          </a:xfrm>
          <a:prstGeom prst="rect">
            <a:avLst/>
          </a:prstGeom>
          <a:solidFill>
            <a:srgbClr val="82CAEB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עדה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כתוב מתודה/כלי שאתה רוצה ללמוד עליה מתצפית</a:t>
            </a:r>
            <a:endParaRPr/>
          </a:p>
        </p:txBody>
      </p:sp>
      <p:sp>
        <p:nvSpPr>
          <p:cNvPr id="185" name="Google Shape;185;p24"/>
          <p:cNvSpPr/>
          <p:nvPr/>
        </p:nvSpPr>
        <p:spPr>
          <a:xfrm>
            <a:off x="315577" y="1072975"/>
            <a:ext cx="2986500" cy="37548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iw-IL" sz="3600">
                <a:solidFill>
                  <a:schemeClr val="dk1"/>
                </a:solidFill>
              </a:rPr>
              <a:t>מנטי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w-IL" sz="3600">
                <a:solidFill>
                  <a:schemeClr val="dk1"/>
                </a:solidFill>
              </a:rPr>
              <a:t>כתוב נושא שאתה רוצה להתמנטר עליו</a:t>
            </a:r>
            <a:endParaRPr>
              <a:solidFill>
                <a:schemeClr val="dk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ניין, מכל זבל, רהיטים, בחוץ&#10;&#10;תוכן בינה מלאכותית גנרטיבית עשוי להיות שגוי." id="190" name="Google Shape;190;p2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20821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5"/>
          <p:cNvSpPr/>
          <p:nvPr/>
        </p:nvSpPr>
        <p:spPr>
          <a:xfrm>
            <a:off x="8613377" y="1072938"/>
            <a:ext cx="2986500" cy="3754800"/>
          </a:xfrm>
          <a:prstGeom prst="rect">
            <a:avLst/>
          </a:prstGeom>
          <a:solidFill>
            <a:srgbClr val="FFFF00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מנטור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כתוב מתודה/כלי שאתה רוצה להתחזק בה</a:t>
            </a:r>
            <a:endParaRPr/>
          </a:p>
        </p:txBody>
      </p:sp>
      <p:sp>
        <p:nvSpPr>
          <p:cNvPr id="192" name="Google Shape;192;p25"/>
          <p:cNvSpPr/>
          <p:nvPr/>
        </p:nvSpPr>
        <p:spPr>
          <a:xfrm>
            <a:off x="315577" y="1072975"/>
            <a:ext cx="2986500" cy="3754800"/>
          </a:xfrm>
          <a:prstGeom prst="rect">
            <a:avLst/>
          </a:prstGeom>
          <a:solidFill>
            <a:srgbClr val="EA9999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w-IL" sz="3600">
                <a:solidFill>
                  <a:schemeClr val="dk1"/>
                </a:solidFill>
              </a:rPr>
              <a:t>מנטי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600">
                <a:solidFill>
                  <a:schemeClr val="dk1"/>
                </a:solidFill>
              </a:rPr>
              <a:t>כתוב נושא שאתה רוצה להתמנטר עליו</a:t>
            </a:r>
            <a:endParaRPr>
              <a:solidFill>
                <a:schemeClr val="dk1"/>
              </a:solidFill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לבוש, אדם, רהיטים, בניין&#10;&#10;תוכן בינה מלאכותית גנרטיבית עשוי להיות שגוי." id="197" name="Google Shape;19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87" y="63500"/>
            <a:ext cx="12208213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ניין, מכל זבל, רהיטים, בחוץ&#10;&#10;תוכן בינה מלאכותית גנרטיבית עשוי להיות שגוי." id="202" name="Google Shape;202;p2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20821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7"/>
          <p:cNvSpPr/>
          <p:nvPr/>
        </p:nvSpPr>
        <p:spPr>
          <a:xfrm>
            <a:off x="10056976" y="1072950"/>
            <a:ext cx="1542900" cy="1939800"/>
          </a:xfrm>
          <a:prstGeom prst="rect">
            <a:avLst/>
          </a:prstGeom>
          <a:solidFill>
            <a:srgbClr val="FFFF00"/>
          </a:solidFill>
          <a:ln cap="flat" cmpd="sng" w="9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6245" rotWithShape="0" algn="tl" dir="2700000" dist="19684">
              <a:srgbClr val="000000">
                <a:alpha val="40000"/>
              </a:srgbClr>
            </a:outerShdw>
          </a:effectLst>
        </p:spPr>
        <p:txBody>
          <a:bodyPr anchorCtr="0" anchor="ctr" bIns="23600" lIns="47250" spcFirstLastPara="1" rIns="47250" wrap="square" tIns="236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3"/>
          </a:p>
        </p:txBody>
      </p:sp>
      <p:sp>
        <p:nvSpPr>
          <p:cNvPr id="204" name="Google Shape;204;p27"/>
          <p:cNvSpPr/>
          <p:nvPr/>
        </p:nvSpPr>
        <p:spPr>
          <a:xfrm>
            <a:off x="8987704" y="3448475"/>
            <a:ext cx="1542900" cy="1939800"/>
          </a:xfrm>
          <a:prstGeom prst="rect">
            <a:avLst/>
          </a:prstGeom>
          <a:solidFill>
            <a:srgbClr val="82CAEB"/>
          </a:solidFill>
          <a:ln cap="flat" cmpd="sng" w="9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6245" rotWithShape="0" algn="tl" dir="2700000" dist="19684">
              <a:srgbClr val="000000">
                <a:alpha val="40000"/>
              </a:srgbClr>
            </a:outerShdw>
          </a:effectLst>
        </p:spPr>
        <p:txBody>
          <a:bodyPr anchorCtr="0" anchor="ctr" bIns="23600" lIns="47250" spcFirstLastPara="1" rIns="47250" wrap="square" tIns="236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3"/>
          </a:p>
        </p:txBody>
      </p:sp>
      <p:sp>
        <p:nvSpPr>
          <p:cNvPr id="205" name="Google Shape;205;p27"/>
          <p:cNvSpPr/>
          <p:nvPr/>
        </p:nvSpPr>
        <p:spPr>
          <a:xfrm>
            <a:off x="7815077" y="1072944"/>
            <a:ext cx="1542900" cy="1939800"/>
          </a:xfrm>
          <a:prstGeom prst="rect">
            <a:avLst/>
          </a:prstGeom>
          <a:solidFill>
            <a:srgbClr val="EA9999"/>
          </a:solidFill>
          <a:ln cap="flat" cmpd="sng" w="9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6245" rotWithShape="0" algn="tl" dir="2700000" dist="19684">
              <a:srgbClr val="000000">
                <a:alpha val="40000"/>
              </a:srgbClr>
            </a:outerShdw>
          </a:effectLst>
        </p:spPr>
        <p:txBody>
          <a:bodyPr anchorCtr="0" anchor="ctr" bIns="23600" lIns="47250" spcFirstLastPara="1" rIns="47250" wrap="square" tIns="236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/>
          </a:p>
        </p:txBody>
      </p:sp>
      <p:sp>
        <p:nvSpPr>
          <p:cNvPr id="206" name="Google Shape;206;p27"/>
          <p:cNvSpPr/>
          <p:nvPr/>
        </p:nvSpPr>
        <p:spPr>
          <a:xfrm>
            <a:off x="2525101" y="1390625"/>
            <a:ext cx="1542900" cy="1939800"/>
          </a:xfrm>
          <a:prstGeom prst="rect">
            <a:avLst/>
          </a:prstGeom>
          <a:solidFill>
            <a:srgbClr val="FFFF00"/>
          </a:solidFill>
          <a:ln cap="flat" cmpd="sng" w="9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6245" rotWithShape="0" algn="tl" dir="2700000" dist="19684">
              <a:srgbClr val="000000">
                <a:alpha val="40000"/>
              </a:srgbClr>
            </a:outerShdw>
          </a:effectLst>
        </p:spPr>
        <p:txBody>
          <a:bodyPr anchorCtr="0" anchor="ctr" bIns="23600" lIns="47250" spcFirstLastPara="1" rIns="47250" wrap="square" tIns="236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3"/>
          </a:p>
        </p:txBody>
      </p:sp>
      <p:sp>
        <p:nvSpPr>
          <p:cNvPr id="207" name="Google Shape;207;p27"/>
          <p:cNvSpPr/>
          <p:nvPr/>
        </p:nvSpPr>
        <p:spPr>
          <a:xfrm>
            <a:off x="407152" y="1390619"/>
            <a:ext cx="1542900" cy="1939800"/>
          </a:xfrm>
          <a:prstGeom prst="rect">
            <a:avLst/>
          </a:prstGeom>
          <a:solidFill>
            <a:srgbClr val="EA9999"/>
          </a:solidFill>
          <a:ln cap="flat" cmpd="sng" w="98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6245" rotWithShape="0" algn="tl" dir="2700000" dist="19684">
              <a:srgbClr val="000000">
                <a:alpha val="40000"/>
              </a:srgbClr>
            </a:outerShdw>
          </a:effectLst>
        </p:spPr>
        <p:txBody>
          <a:bodyPr anchorCtr="0" anchor="ctr" bIns="23600" lIns="47250" spcFirstLastPara="1" rIns="47250" wrap="square" tIns="236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6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ניין, מכל זבל, רהיטים, בחוץ&#10;&#10;תוכן בינה מלאכותית גנרטיבית עשוי להיות שגוי." id="212" name="Google Shape;2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8212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8"/>
          <p:cNvSpPr txBox="1"/>
          <p:nvPr/>
        </p:nvSpPr>
        <p:spPr>
          <a:xfrm>
            <a:off x="1155700" y="428178"/>
            <a:ext cx="9563100" cy="6187800"/>
          </a:xfrm>
          <a:prstGeom prst="rect">
            <a:avLst/>
          </a:prstGeom>
          <a:solidFill>
            <a:srgbClr val="000000">
              <a:alpha val="6118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lt1"/>
                </a:solidFill>
              </a:rPr>
              <a:t>הקוד האתי</a:t>
            </a:r>
            <a:br>
              <a:rPr lang="iw-IL" sz="4400">
                <a:solidFill>
                  <a:schemeClr val="lt1"/>
                </a:solidFill>
              </a:rPr>
            </a:br>
            <a:r>
              <a:rPr lang="iw-IL" sz="4400">
                <a:solidFill>
                  <a:schemeClr val="lt1"/>
                </a:solidFill>
              </a:rPr>
              <a:t>   שמירה על סודיות</a:t>
            </a:r>
            <a:endParaRPr sz="4400">
              <a:solidFill>
                <a:schemeClr val="lt1"/>
              </a:solidFill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lt1"/>
                </a:solidFill>
              </a:rPr>
              <a:t>    כבוד הדדי</a:t>
            </a:r>
            <a:endParaRPr sz="4400">
              <a:solidFill>
                <a:schemeClr val="lt1"/>
              </a:solidFill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lt1"/>
                </a:solidFill>
              </a:rPr>
              <a:t>    גבולות תפקיד</a:t>
            </a:r>
            <a:endParaRPr sz="4400">
              <a:solidFill>
                <a:schemeClr val="lt1"/>
              </a:solidFill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lt1"/>
                </a:solidFill>
              </a:rPr>
              <a:t>    אחריות מקצועית</a:t>
            </a:r>
            <a:endParaRPr sz="4400">
              <a:solidFill>
                <a:schemeClr val="lt1"/>
              </a:solidFill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lt1"/>
                </a:solidFill>
              </a:rPr>
              <a:t>    הימנעות מניגוד עניינים</a:t>
            </a:r>
            <a:endParaRPr sz="4400">
              <a:solidFill>
                <a:schemeClr val="lt1"/>
              </a:solidFill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lt1"/>
                </a:solidFill>
              </a:rPr>
              <a:t>    העצמת עצמאות המנטי</a:t>
            </a:r>
            <a:endParaRPr sz="4400">
              <a:solidFill>
                <a:schemeClr val="lt1"/>
              </a:solidFill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lt1"/>
                </a:solidFill>
              </a:rPr>
              <a:t>    שקיפות והסכמה</a:t>
            </a:r>
            <a:endParaRPr sz="4400">
              <a:solidFill>
                <a:schemeClr val="lt1"/>
              </a:solidFill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400">
                <a:solidFill>
                  <a:schemeClr val="lt1"/>
                </a:solidFill>
              </a:rPr>
              <a:t>    רגישות וגמישות תרבותית</a:t>
            </a:r>
            <a:endParaRPr sz="440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ניין, מכל זבל, רהיטים, בחוץ&#10;&#10;תוכן בינה מלאכותית גנרטיבית עשוי להיות שגוי." id="218" name="Google Shape;2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821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 txBox="1"/>
          <p:nvPr/>
        </p:nvSpPr>
        <p:spPr>
          <a:xfrm>
            <a:off x="1155700" y="428178"/>
            <a:ext cx="9563100" cy="6186309"/>
          </a:xfrm>
          <a:prstGeom prst="rect">
            <a:avLst/>
          </a:prstGeom>
          <a:solidFill>
            <a:srgbClr val="000000">
              <a:alpha val="6117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7429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AutoNum type="arabicPeriod"/>
            </a:pPr>
            <a:r>
              <a:rPr lang="iw-IL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זה תרגול אמיתי (לא בכאילו, לא סימולציה, לא עוצרים, לא מנתחים)</a:t>
            </a:r>
            <a:endParaRPr/>
          </a:p>
          <a:p>
            <a:pPr indent="-7429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AutoNum type="arabicPeriod"/>
            </a:pPr>
            <a:r>
              <a:rPr lang="iw-IL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מצאו מקום מתאים שלא יפריעו לכם</a:t>
            </a:r>
            <a:endParaRPr/>
          </a:p>
          <a:p>
            <a:pPr indent="-7429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AutoNum type="arabicPeriod"/>
            </a:pPr>
            <a:r>
              <a:rPr lang="iw-IL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מנטור – את האחראית, נהלי את הפגישה בכל המובנים</a:t>
            </a:r>
            <a:endParaRPr/>
          </a:p>
          <a:p>
            <a:pPr indent="-7429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AutoNum type="arabicPeriod"/>
            </a:pPr>
            <a:r>
              <a:rPr lang="iw-IL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מנטי – היה אותנטי באופן מלא</a:t>
            </a:r>
            <a:endParaRPr/>
          </a:p>
          <a:p>
            <a:pPr indent="-7429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AutoNum type="arabicPeriod"/>
            </a:pPr>
            <a:r>
              <a:rPr lang="iw-IL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עדה – אל תתערבי בשום צורה ובשום אופן לכל אורך הפגישה (תעדי הבנות שלך במחברת של המנטור)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ניין, מכל זבל, רהיטים, בחוץ&#10;&#10;תוכן בינה מלאכותית גנרטיבית עשוי להיות שגוי." id="224" name="Google Shape;22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0821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0"/>
          <p:cNvSpPr txBox="1"/>
          <p:nvPr/>
        </p:nvSpPr>
        <p:spPr>
          <a:xfrm>
            <a:off x="1155700" y="428178"/>
            <a:ext cx="9563100" cy="5262979"/>
          </a:xfrm>
          <a:prstGeom prst="rect">
            <a:avLst/>
          </a:prstGeom>
          <a:solidFill>
            <a:srgbClr val="000000">
              <a:alpha val="6117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 דקות</a:t>
            </a:r>
            <a:endParaRPr/>
          </a:p>
          <a:p>
            <a:pPr indent="-7429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AutoNum type="arabicPeriod"/>
            </a:pPr>
            <a:r>
              <a:rPr lang="iw-IL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מפגש מנטורינג חד פעמי</a:t>
            </a:r>
            <a:endParaRPr/>
          </a:p>
          <a:p>
            <a:pPr indent="-7429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AutoNum type="arabicPeriod"/>
            </a:pPr>
            <a:r>
              <a:rPr lang="iw-IL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מפגש מלא בהל המובנים</a:t>
            </a:r>
            <a:endParaRPr/>
          </a:p>
          <a:p>
            <a:pPr indent="-4381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t/>
            </a:r>
            <a:endParaRPr sz="4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15 דקות</a:t>
            </a:r>
            <a:endParaRPr/>
          </a:p>
          <a:p>
            <a:pPr indent="-7429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AutoNum type="arabicPeriod"/>
            </a:pPr>
            <a:r>
              <a:rPr lang="iw-IL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שיח עיבוד (לא פגישת מנטורינג)</a:t>
            </a:r>
            <a:endParaRPr/>
          </a:p>
          <a:p>
            <a:pPr indent="-742950" lvl="0" marL="742950" marR="0" rt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AutoNum type="arabicPeriod"/>
            </a:pPr>
            <a:r>
              <a:rPr lang="iw-IL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העדה מספר למנטור מה היא ראתה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תמונה שמכילה בחוץ, ענן, עץ, צמח&#10;&#10;תוכן בינה מלאכותית גנרטיבית עשוי להיות שגוי." id="230" name="Google Shape;2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05144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צילום מסך, לוגו&#10;&#10;תוכן בינה מלאכותית גנרטיבית עשוי להיות שגוי." id="231" name="Google Shape;231;p31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59170" y="401966"/>
            <a:ext cx="3032830" cy="23606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תמונה שמכילה טקסט, גופן, עיגול, צילום מסך&#10;&#10;תוכן בינה מלאכותית גנרטיבית עשוי להיות שגוי." id="232" name="Google Shape;23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1775" y="5943600"/>
            <a:ext cx="1185663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74664" y="5943600"/>
            <a:ext cx="49448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1"/>
          <p:cNvSpPr txBox="1"/>
          <p:nvPr/>
        </p:nvSpPr>
        <p:spPr>
          <a:xfrm>
            <a:off x="8935434" y="2773501"/>
            <a:ext cx="3480301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גרמלינים</a:t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לאט</a:t>
            </a:r>
            <a:endParaRPr/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באזר תרגולים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iw-IL"/>
              <a:t>קבוצה שלוש - השלמת יום למידה</a:t>
            </a:r>
            <a:endParaRPr/>
          </a:p>
        </p:txBody>
      </p:sp>
      <p:sp>
        <p:nvSpPr>
          <p:cNvPr id="241" name="Google Shape;241;p32"/>
          <p:cNvSpPr txBox="1"/>
          <p:nvPr>
            <p:ph idx="1" type="body"/>
          </p:nvPr>
        </p:nvSpPr>
        <p:spPr>
          <a:xfrm>
            <a:off x="838200" y="1825625"/>
            <a:ext cx="11195400" cy="503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1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iw-IL"/>
              <a:t>אפשרות 1: יום שלישי כ"ח באדר 17/3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iw-IL"/>
              <a:t>אפשרות 2: יום שלישי י"ח באייר 5/5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iw-IL"/>
              <a:t>לוז עד סוף שנה: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iw-IL">
                <a:highlight>
                  <a:srgbClr val="00FF00"/>
                </a:highlight>
              </a:rPr>
              <a:t>סמינר </a:t>
            </a:r>
            <a:r>
              <a:rPr lang="iw-IL"/>
              <a:t>או ו-ז בניסן 25-26/3</a:t>
            </a:r>
            <a:endParaRPr/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None/>
            </a:pPr>
            <a:r>
              <a:rPr lang="iw-IL"/>
              <a:t>או כ"ח -כ"ט ניסן 15-16/4</a:t>
            </a:r>
            <a:endParaRPr/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w-IL">
                <a:highlight>
                  <a:srgbClr val="00FF00"/>
                </a:highlight>
              </a:rPr>
              <a:t>כנס</a:t>
            </a:r>
            <a:r>
              <a:rPr lang="iw-IL"/>
              <a:t>: 7/5/26  כ' אייר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w-IL">
                <a:highlight>
                  <a:srgbClr val="00FF00"/>
                </a:highlight>
              </a:rPr>
              <a:t>מפגש סיום :</a:t>
            </a:r>
            <a:endParaRPr>
              <a:highlight>
                <a:srgbClr val="00FF00"/>
              </a:highlight>
            </a:endParaRPr>
          </a:p>
          <a:p>
            <a:pPr indent="0" lvl="0" marL="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w-IL"/>
              <a:t>12/5/26  כ"ה אייר</a:t>
            </a:r>
            <a:endParaRPr sz="1100">
              <a:solidFill>
                <a:srgbClr val="000000"/>
              </a:solidFill>
            </a:endParaRPr>
          </a:p>
          <a:p>
            <a:pPr indent="0" lvl="0" marL="0" rtl="1" algn="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