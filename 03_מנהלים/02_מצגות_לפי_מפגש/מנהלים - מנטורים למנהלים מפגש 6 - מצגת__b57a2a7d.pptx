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lay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9T5Oe2WAWhOfCghwW+rW24yxU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99FB5D-8942-45CE-B72A-401FC6776D30}">
  <a:tblStyle styleId="{6899FB5D-8942-45CE-B72A-401FC6776D3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מה היעד?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63d4e49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063d4e49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34a7cf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134a7cf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34a7cf3c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134a7cf3c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34a7cf3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134a7cf3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d597bf23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d597bf23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d597bf23e_0_1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134a7cf3c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9134a7cf3c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134a7cf3c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134a7cf3c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תזכורת לתקייה משותפת</a:t>
            </a:r>
            <a:endParaRPr/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תרגול מנטורינג ליעדים. תרגול מצריח חזרות. שוב ושוב ושוב תרגולים – כמו שמחזרים שריר</a:t>
            </a:r>
            <a:endParaRPr/>
          </a:p>
        </p:txBody>
      </p:sp>
      <p:sp>
        <p:nvSpPr>
          <p:cNvPr id="255" name="Google Shape;255;p9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התרגול יתרכז ב 3 מיומנויות: שאילת שאלות, רמות הקשבה ו-ראפור</a:t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תזכורת למסגרת המנטורינג</a:t>
            </a:r>
            <a:endParaRPr/>
          </a:p>
        </p:txBody>
      </p:sp>
      <p:sp>
        <p:nvSpPr>
          <p:cNvPr id="284" name="Google Shape;284;p11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לזכור להיות יותר בצד השמאלי</a:t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3.png"/><Relationship Id="rId7" Type="http://schemas.openxmlformats.org/officeDocument/2006/relationships/image" Target="../media/image22.png"/><Relationship Id="rId8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11" Type="http://schemas.openxmlformats.org/officeDocument/2006/relationships/image" Target="../media/image9.png"/><Relationship Id="rId10" Type="http://schemas.openxmlformats.org/officeDocument/2006/relationships/image" Target="../media/image14.jpg"/><Relationship Id="rId9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8.jp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hyperlink" Target="https://www.youtube.com/watch?v=CODnVX7VAZ8" TargetMode="External"/><Relationship Id="rId7" Type="http://schemas.openxmlformats.org/officeDocument/2006/relationships/image" Target="../media/image24.jp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4.jp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11" Type="http://schemas.openxmlformats.org/officeDocument/2006/relationships/image" Target="../media/image9.png"/><Relationship Id="rId10" Type="http://schemas.openxmlformats.org/officeDocument/2006/relationships/image" Target="../media/image14.jpg"/><Relationship Id="rId12" Type="http://schemas.openxmlformats.org/officeDocument/2006/relationships/image" Target="../media/image35.png"/><Relationship Id="rId9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8.jpg"/><Relationship Id="rId8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9" Type="http://schemas.openxmlformats.org/officeDocument/2006/relationships/image" Target="../media/image40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26.png"/><Relationship Id="rId8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7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4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3217" y="-233465"/>
            <a:ext cx="5574617" cy="4420060"/>
          </a:xfrm>
          <a:prstGeom prst="rect">
            <a:avLst/>
          </a:prstGeom>
          <a:solidFill>
            <a:srgbClr val="ECECEC"/>
          </a:solidFill>
          <a:ln cap="sq" cmpd="sng" w="101600">
            <a:solidFill>
              <a:srgbClr val="FDFDF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kx="110000" rotWithShape="0" algn="tl" dir="7560000" dist="37500" sy="98000" ky="200000">
              <a:srgbClr val="000000">
                <a:alpha val="20000"/>
              </a:srgbClr>
            </a:outerShdw>
          </a:effectLst>
        </p:spPr>
      </p:pic>
      <p:pic>
        <p:nvPicPr>
          <p:cNvPr descr="תמונה שמכילה ירוק, כביש, עץ&#10;&#10;תוכן בינה מלאכותית גנרטיבית עשוי להיות שגוי.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06" y="1594624"/>
            <a:ext cx="12192000" cy="526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b063d4e49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ירוק, כביש, עץ&#10;&#10;תוכן בינה מלאכותית גנרטיבית עשוי להיות שגוי." id="98" name="Google Shape;98;g3b063d4e494_1_0"/>
          <p:cNvPicPr preferRelativeResize="0"/>
          <p:nvPr/>
        </p:nvPicPr>
        <p:blipFill rotWithShape="1">
          <a:blip r:embed="rId4">
            <a:alphaModFix/>
          </a:blip>
          <a:srcRect b="14180" l="2801" r="6832" t="27300"/>
          <a:stretch/>
        </p:blipFill>
        <p:spPr>
          <a:xfrm>
            <a:off x="-2920624" y="2068354"/>
            <a:ext cx="12192000" cy="52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063d4e494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00" name="Google Shape;100;g3b063d4e494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6484" y="163122"/>
            <a:ext cx="2063728" cy="16363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b063d4e494_1_0"/>
          <p:cNvSpPr txBox="1"/>
          <p:nvPr/>
        </p:nvSpPr>
        <p:spPr>
          <a:xfrm>
            <a:off x="546100" y="1666114"/>
            <a:ext cx="10951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9:30 פתיחה - ד"ר יעקב נחום, מנכ"ל אבני ראשה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10:30 מנטורינג ויעדים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13:15 ארוחת צהריים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14:00 בחירה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15:30 סיכום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16:00 סיום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enerated image" id="102" name="Google Shape;102;g3b063d4e494_1_0"/>
          <p:cNvSpPr/>
          <p:nvPr/>
        </p:nvSpPr>
        <p:spPr>
          <a:xfrm>
            <a:off x="6049763" y="4802171"/>
            <a:ext cx="187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063d4e494_1_0"/>
          <p:cNvSpPr/>
          <p:nvPr/>
        </p:nvSpPr>
        <p:spPr>
          <a:xfrm>
            <a:off x="8548000" y="3994116"/>
            <a:ext cx="2784000" cy="1468800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מכישלון מפואר להצלחה מסחררת </a:t>
            </a:r>
            <a:endParaRPr/>
          </a:p>
        </p:txBody>
      </p:sp>
      <p:sp>
        <p:nvSpPr>
          <p:cNvPr id="104" name="Google Shape;104;g3b063d4e494_1_0"/>
          <p:cNvSpPr/>
          <p:nvPr/>
        </p:nvSpPr>
        <p:spPr>
          <a:xfrm>
            <a:off x="5763973" y="3994114"/>
            <a:ext cx="2784000" cy="1468800"/>
          </a:xfrm>
          <a:prstGeom prst="rect">
            <a:avLst/>
          </a:prstGeom>
          <a:solidFill>
            <a:srgbClr val="0070C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מניהול למנטורינג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וחזרה</a:t>
            </a:r>
            <a:endParaRPr/>
          </a:p>
        </p:txBody>
      </p:sp>
      <p:sp>
        <p:nvSpPr>
          <p:cNvPr id="105" name="Google Shape;105;g3b063d4e494_1_0"/>
          <p:cNvSpPr/>
          <p:nvPr/>
        </p:nvSpPr>
        <p:spPr>
          <a:xfrm>
            <a:off x="2979946" y="3994114"/>
            <a:ext cx="2784000" cy="14688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סדנת מנטי מנטור - ניהול בשעת משבר</a:t>
            </a:r>
            <a:endParaRPr/>
          </a:p>
        </p:txBody>
      </p:sp>
      <p:pic>
        <p:nvPicPr>
          <p:cNvPr descr="תמונה שמכילה עיצוב, אסיפה&#10;&#10;תוכן בינה מלאכותית גנרטיבית עשוי להיות שגוי." id="106" name="Google Shape;106;g3b063d4e494_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0606" y="-252487"/>
            <a:ext cx="3212902" cy="2141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שמיים, ענן, טקסט, בחוץ&#10;&#10;תוכן בינה מלאכותית גנרטיבית עשוי להיות שגוי." id="107" name="Google Shape;107;g3b063d4e494_1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770" y="89644"/>
            <a:ext cx="2641200" cy="1978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ירוק, כביש, עץ&#10;&#10;תוכן בינה מלאכותית גנרטיבית עשוי להיות שגוי." id="114" name="Google Shape;114;p6"/>
          <p:cNvPicPr preferRelativeResize="0"/>
          <p:nvPr/>
        </p:nvPicPr>
        <p:blipFill rotWithShape="1">
          <a:blip r:embed="rId5">
            <a:alphaModFix/>
          </a:blip>
          <a:srcRect b="14177" l="2804" r="6826" t="27301"/>
          <a:stretch/>
        </p:blipFill>
        <p:spPr>
          <a:xfrm>
            <a:off x="-2920624" y="2057203"/>
            <a:ext cx="12192000" cy="5263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6484" y="163122"/>
            <a:ext cx="2063728" cy="16363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 txBox="1"/>
          <p:nvPr/>
        </p:nvSpPr>
        <p:spPr>
          <a:xfrm>
            <a:off x="266700" y="2730085"/>
            <a:ext cx="1095120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ד"ר יעקב נחום, מנכ"ל אבני ראשה</a:t>
            </a:r>
            <a:endParaRPr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700" y="498972"/>
            <a:ext cx="2654300" cy="1769533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תמונה שמכילה שמיים, ענן, בחוץ, תאורה אחורית&#10;&#10;תוכן בינה מלאכותית גנרטיבית עשוי להיות שגוי." id="118" name="Google Shape;11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8474" y="184370"/>
            <a:ext cx="3144947" cy="2545715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6194" y="6114539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8070" y="6171689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25" name="Google Shape;12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0387" y="-150833"/>
            <a:ext cx="5574617" cy="4420060"/>
          </a:xfrm>
          <a:prstGeom prst="rect">
            <a:avLst/>
          </a:prstGeom>
          <a:solidFill>
            <a:srgbClr val="ECECEC"/>
          </a:solidFill>
          <a:ln cap="sq" cmpd="sng" w="101600">
            <a:solidFill>
              <a:srgbClr val="FDFDF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kx="110000" rotWithShape="0" algn="tl" dir="7560000" dist="37500" sy="98000" ky="200000">
              <a:srgbClr val="000000">
                <a:alpha val="20000"/>
              </a:srgbClr>
            </a:outerShdw>
          </a:effectLst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0469" y="-443344"/>
            <a:ext cx="7068859" cy="4712572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תמונה שמכילה שמיים, ענן, טקסט, בחוץ&#10;&#10;תוכן בינה מלאכותית גנרטיבית עשוי להיות שגוי." id="127" name="Google Shape;12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9197" y="80345"/>
            <a:ext cx="5353603" cy="401003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95376" y="131497"/>
            <a:ext cx="2601243" cy="4430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עיצוב, אסיפה&#10;&#10;תוכן בינה מלאכותית גנרטיבית עשוי להיות שגוי." id="129" name="Google Shape;12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08098" y="-562777"/>
            <a:ext cx="7944416" cy="5296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שמיים, ענן, בחוץ, תאורה אחורית&#10;&#10;תוכן בינה מלאכותית גנרטיבית עשוי להיות שגוי." id="130" name="Google Shape;13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4736" y="131497"/>
            <a:ext cx="4953951" cy="4010035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תמונה שמכילה ירוק, כביש, עץ&#10;&#10;תוכן בינה מלאכותית גנרטיבית עשוי להיות שגוי." id="131" name="Google Shape;13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306" y="1594624"/>
            <a:ext cx="12192000" cy="526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0787" y="2385694"/>
            <a:ext cx="2020719" cy="2086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8740554" y="4486531"/>
            <a:ext cx="346118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https://www.youtube.com/watch?v=CODnVX7VAZ8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תמונה שמכילה טקסט, נייר לאומנות, נייר, נייר בנייה&#10;&#10;תוכן בינה מלאכותית גנרטיבית עשוי להיות שגוי." id="140" name="Google Shape;14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4743" y="868696"/>
            <a:ext cx="8245901" cy="4617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41" name="Google Shape;14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48" name="Google Shape;1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1265" y="144083"/>
            <a:ext cx="3855539" cy="3057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7748837" y="3536228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ראפור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978805" y="2954025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הקשבה עמוקה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679398" y="172011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יעדים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442374" y="4945816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אני כמנהל אני כמנטור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750593" y="4873069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שאילת שאלות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589103" y="3842367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מרחב הצמיחה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866290" y="172011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הקוד האתי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9866290" y="5233169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נוכחות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0105350" y="3384736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לפני – לצד - אחרי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925178" y="1376792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מפת מנטיס (שיווק)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178981" y="5685796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26676" y="1551202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גמישות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26676" y="5572628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ליווי מנהלים ותיקים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0000960" y="1898984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תשומות -תוצאות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76267" y="4050288"/>
            <a:ext cx="1999034" cy="1028121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מפת המימדים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9134a7cf3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69" name="Google Shape;169;g39134a7cf3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" y="159515"/>
            <a:ext cx="2196775" cy="174181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9134a7cf3c_0_0"/>
          <p:cNvSpPr/>
          <p:nvPr/>
        </p:nvSpPr>
        <p:spPr>
          <a:xfrm>
            <a:off x="2029475" y="358625"/>
            <a:ext cx="9987600" cy="1397100"/>
          </a:xfrm>
          <a:prstGeom prst="roundRect">
            <a:avLst>
              <a:gd fmla="val 49766" name="adj"/>
            </a:avLst>
          </a:prstGeom>
          <a:solidFill>
            <a:srgbClr val="93C47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תפיסה: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ליווי והצמחת מנהלים (דרך המקום שלו) למימוש יעדים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71" name="Google Shape;171;g39134a7cf3c_0_0"/>
          <p:cNvSpPr/>
          <p:nvPr/>
        </p:nvSpPr>
        <p:spPr>
          <a:xfrm>
            <a:off x="2029475" y="2892275"/>
            <a:ext cx="9987600" cy="1397100"/>
          </a:xfrm>
          <a:prstGeom prst="roundRect">
            <a:avLst>
              <a:gd fmla="val 49766" name="adj"/>
            </a:avLst>
          </a:prstGeom>
          <a:solidFill>
            <a:srgbClr val="FFD966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תפיסה: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למה אנחנו כאן 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9134a7cf3c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77" name="Google Shape;177;g39134a7cf3c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" y="159515"/>
            <a:ext cx="2196775" cy="174181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9134a7cf3c_0_27"/>
          <p:cNvSpPr/>
          <p:nvPr/>
        </p:nvSpPr>
        <p:spPr>
          <a:xfrm>
            <a:off x="2029480" y="358625"/>
            <a:ext cx="9543000" cy="1028100"/>
          </a:xfrm>
          <a:prstGeom prst="roundRect">
            <a:avLst>
              <a:gd fmla="val 49766" name="adj"/>
            </a:avLst>
          </a:prstGeom>
          <a:solidFill>
            <a:srgbClr val="93C47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ליווי והצמחת מנהלים (דרך המקום שלו) למימוש יעדים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79" name="Google Shape;179;g39134a7cf3c_0_27"/>
          <p:cNvSpPr/>
          <p:nvPr/>
        </p:nvSpPr>
        <p:spPr>
          <a:xfrm>
            <a:off x="2192300" y="1632275"/>
            <a:ext cx="1777200" cy="2535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יעדים</a:t>
            </a:r>
            <a:endParaRPr sz="30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מדידים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80" name="Google Shape;180;g39134a7cf3c_0_27"/>
          <p:cNvSpPr/>
          <p:nvPr/>
        </p:nvSpPr>
        <p:spPr>
          <a:xfrm>
            <a:off x="4751725" y="1549775"/>
            <a:ext cx="2104500" cy="2700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מיומנויות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134a7cf3c_0_27"/>
          <p:cNvSpPr/>
          <p:nvPr/>
        </p:nvSpPr>
        <p:spPr>
          <a:xfrm>
            <a:off x="8024175" y="1467275"/>
            <a:ext cx="1777200" cy="2865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מודעות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134a7cf3c_0_27"/>
          <p:cNvSpPr/>
          <p:nvPr/>
        </p:nvSpPr>
        <p:spPr>
          <a:xfrm>
            <a:off x="10073149" y="1871679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</a:rPr>
              <a:t>עקרונות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9134a7cf3c_0_27"/>
          <p:cNvSpPr/>
          <p:nvPr/>
        </p:nvSpPr>
        <p:spPr>
          <a:xfrm>
            <a:off x="2675225" y="5375475"/>
            <a:ext cx="7174500" cy="1028100"/>
          </a:xfrm>
          <a:prstGeom prst="roundRect">
            <a:avLst>
              <a:gd fmla="val 49766" name="adj"/>
            </a:avLst>
          </a:prstGeom>
          <a:solidFill>
            <a:srgbClr val="FFE5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</a:rPr>
              <a:t>עקרונות פעולה מנחים - איך עושים את זה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9134a7cf3c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89" name="Google Shape;189;g39134a7cf3c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0" y="492200"/>
            <a:ext cx="1739806" cy="13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9134a7cf3c_0_49"/>
          <p:cNvSpPr/>
          <p:nvPr/>
        </p:nvSpPr>
        <p:spPr>
          <a:xfrm>
            <a:off x="3678578" y="5136150"/>
            <a:ext cx="7893900" cy="1028100"/>
          </a:xfrm>
          <a:prstGeom prst="roundRect">
            <a:avLst>
              <a:gd fmla="val 49766" name="adj"/>
            </a:avLst>
          </a:prstGeom>
          <a:solidFill>
            <a:srgbClr val="FFD966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</a:rPr>
              <a:t>פרקטיקות - מה הפעולות הספציפיות שאני עושה 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9134a7cf3c_0_49"/>
          <p:cNvSpPr/>
          <p:nvPr/>
        </p:nvSpPr>
        <p:spPr>
          <a:xfrm>
            <a:off x="2029480" y="358625"/>
            <a:ext cx="9543000" cy="1028100"/>
          </a:xfrm>
          <a:prstGeom prst="roundRect">
            <a:avLst>
              <a:gd fmla="val 49766" name="adj"/>
            </a:avLst>
          </a:prstGeom>
          <a:solidFill>
            <a:srgbClr val="93C47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ליווי והצמחת מנהלים (דרך המקום שלו) למימוש יעדים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92" name="Google Shape;192;g39134a7cf3c_0_49"/>
          <p:cNvSpPr/>
          <p:nvPr/>
        </p:nvSpPr>
        <p:spPr>
          <a:xfrm>
            <a:off x="2192300" y="1632275"/>
            <a:ext cx="1777200" cy="2535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יעדים</a:t>
            </a:r>
            <a:endParaRPr sz="30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מדידים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93" name="Google Shape;193;g39134a7cf3c_0_49"/>
          <p:cNvSpPr/>
          <p:nvPr/>
        </p:nvSpPr>
        <p:spPr>
          <a:xfrm>
            <a:off x="4751725" y="1549775"/>
            <a:ext cx="2104500" cy="2700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מיומנויות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9134a7cf3c_0_49"/>
          <p:cNvSpPr/>
          <p:nvPr/>
        </p:nvSpPr>
        <p:spPr>
          <a:xfrm>
            <a:off x="7638450" y="1632275"/>
            <a:ext cx="1777200" cy="2865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מודעות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9134a7cf3c_0_49"/>
          <p:cNvSpPr/>
          <p:nvPr/>
        </p:nvSpPr>
        <p:spPr>
          <a:xfrm>
            <a:off x="10073149" y="1871679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</a:rPr>
              <a:t>עקרונות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ad597bf23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9134a7cf3c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07" name="Google Shape;207;g39134a7cf3c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" y="159515"/>
            <a:ext cx="2196775" cy="174181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134a7cf3c_0_73"/>
          <p:cNvSpPr/>
          <p:nvPr/>
        </p:nvSpPr>
        <p:spPr>
          <a:xfrm>
            <a:off x="7680412" y="4873078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ראפור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9134a7cf3c_0_73"/>
          <p:cNvSpPr/>
          <p:nvPr/>
        </p:nvSpPr>
        <p:spPr>
          <a:xfrm>
            <a:off x="5315830" y="5901175"/>
            <a:ext cx="1998900" cy="1028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הקשבה עמוקה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9134a7cf3c_0_73"/>
          <p:cNvSpPr/>
          <p:nvPr/>
        </p:nvSpPr>
        <p:spPr>
          <a:xfrm>
            <a:off x="2752823" y="6164261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יעדים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9134a7cf3c_0_73"/>
          <p:cNvSpPr/>
          <p:nvPr/>
        </p:nvSpPr>
        <p:spPr>
          <a:xfrm>
            <a:off x="10073149" y="3384729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אני כמנהל אני כמנטור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134a7cf3c_0_73"/>
          <p:cNvSpPr/>
          <p:nvPr/>
        </p:nvSpPr>
        <p:spPr>
          <a:xfrm>
            <a:off x="2750593" y="4873069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שאילת שאלות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9134a7cf3c_0_73"/>
          <p:cNvSpPr/>
          <p:nvPr/>
        </p:nvSpPr>
        <p:spPr>
          <a:xfrm>
            <a:off x="4804528" y="4561417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מרחב הצמיחה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9134a7cf3c_0_73"/>
          <p:cNvSpPr/>
          <p:nvPr/>
        </p:nvSpPr>
        <p:spPr>
          <a:xfrm>
            <a:off x="8144440" y="6032711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הקוד האתי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9134a7cf3c_0_73"/>
          <p:cNvSpPr/>
          <p:nvPr/>
        </p:nvSpPr>
        <p:spPr>
          <a:xfrm>
            <a:off x="10181823" y="6164248"/>
            <a:ext cx="1664400" cy="7650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נוכחות</a:t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9134a7cf3c_0_73"/>
          <p:cNvSpPr/>
          <p:nvPr/>
        </p:nvSpPr>
        <p:spPr>
          <a:xfrm>
            <a:off x="10181825" y="4657711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לפני – לצד - אחרי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9134a7cf3c_0_73"/>
          <p:cNvSpPr/>
          <p:nvPr/>
        </p:nvSpPr>
        <p:spPr>
          <a:xfrm>
            <a:off x="326681" y="5583196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9134a7cf3c_0_73"/>
          <p:cNvSpPr/>
          <p:nvPr/>
        </p:nvSpPr>
        <p:spPr>
          <a:xfrm>
            <a:off x="6740026" y="3844977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גמישות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9134a7cf3c_0_73"/>
          <p:cNvSpPr/>
          <p:nvPr/>
        </p:nvSpPr>
        <p:spPr>
          <a:xfrm>
            <a:off x="285710" y="4174334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תשומות -תוצאות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9134a7cf3c_0_73"/>
          <p:cNvSpPr/>
          <p:nvPr/>
        </p:nvSpPr>
        <p:spPr>
          <a:xfrm>
            <a:off x="2029480" y="358625"/>
            <a:ext cx="9543000" cy="1028100"/>
          </a:xfrm>
          <a:prstGeom prst="roundRect">
            <a:avLst>
              <a:gd fmla="val 49766" name="adj"/>
            </a:avLst>
          </a:prstGeom>
          <a:solidFill>
            <a:srgbClr val="93C47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ליווי והצמחת מנהלים (דרך המקום שלו) למימוש יעדים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221" name="Google Shape;221;g39134a7cf3c_0_73"/>
          <p:cNvSpPr/>
          <p:nvPr/>
        </p:nvSpPr>
        <p:spPr>
          <a:xfrm>
            <a:off x="2192300" y="1632275"/>
            <a:ext cx="1777200" cy="2535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יעדים</a:t>
            </a:r>
            <a:endParaRPr sz="30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מדידים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22" name="Google Shape;222;g39134a7cf3c_0_73"/>
          <p:cNvSpPr/>
          <p:nvPr/>
        </p:nvSpPr>
        <p:spPr>
          <a:xfrm>
            <a:off x="4751725" y="1549775"/>
            <a:ext cx="2104500" cy="2700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מיומנויות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9134a7cf3c_0_73"/>
          <p:cNvSpPr/>
          <p:nvPr/>
        </p:nvSpPr>
        <p:spPr>
          <a:xfrm>
            <a:off x="8041825" y="1302275"/>
            <a:ext cx="1777200" cy="28650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000">
                <a:solidFill>
                  <a:schemeClr val="lt1"/>
                </a:solidFill>
              </a:rPr>
              <a:t>מודעות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9134a7cf3c_0_73"/>
          <p:cNvSpPr/>
          <p:nvPr/>
        </p:nvSpPr>
        <p:spPr>
          <a:xfrm>
            <a:off x="10073149" y="1871679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lt1"/>
                </a:solidFill>
              </a:rPr>
              <a:t>עקרונות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9134a7cf3c_0_73"/>
          <p:cNvSpPr/>
          <p:nvPr/>
        </p:nvSpPr>
        <p:spPr>
          <a:xfrm>
            <a:off x="183231" y="2648269"/>
            <a:ext cx="1998900" cy="1028100"/>
          </a:xfrm>
          <a:prstGeom prst="roundRect">
            <a:avLst>
              <a:gd fmla="val 49766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lt1"/>
                </a:solidFill>
              </a:rPr>
              <a:t>מתחים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9134a7cf3c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9134a7cf3c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נייר לאומנות, נייר, נייר בנייה&#10;&#10;תוכן בינה מלאכותית גנרטיבית עשוי להיות שגוי." id="232" name="Google Shape;232;g39134a7cf3c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3648" y="2267500"/>
            <a:ext cx="5496025" cy="30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33" name="Google Shape;233;g39134a7cf3c_0_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9134a7cf3c_0_95"/>
          <p:cNvSpPr txBox="1"/>
          <p:nvPr/>
        </p:nvSpPr>
        <p:spPr>
          <a:xfrm>
            <a:off x="1369950" y="876075"/>
            <a:ext cx="5856000" cy="5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iw-IL" sz="2800">
                <a:solidFill>
                  <a:schemeClr val="dk1"/>
                </a:solidFill>
              </a:rPr>
              <a:t>ספר לי משהו מעניין על…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iw-IL" sz="2800">
                <a:solidFill>
                  <a:schemeClr val="dk1"/>
                </a:solidFill>
              </a:rPr>
              <a:t>דילמה שיש לך שקשורה ל…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iw-IL" sz="2800">
                <a:solidFill>
                  <a:schemeClr val="dk1"/>
                </a:solidFill>
              </a:rPr>
              <a:t>איפה בעבודה עם המנטי זה בא לידי ביטוי</a:t>
            </a:r>
            <a:endParaRPr sz="28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dk1"/>
                </a:solidFill>
              </a:rPr>
              <a:t>שלב ב:</a:t>
            </a:r>
            <a:endParaRPr sz="28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dk1"/>
                </a:solidFill>
              </a:rPr>
              <a:t>מה יצא לי ומה יצא לך </a:t>
            </a:r>
            <a:endParaRPr sz="28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800">
                <a:solidFill>
                  <a:schemeClr val="dk1"/>
                </a:solidFill>
              </a:rPr>
              <a:t>אם ואיך יכולים להשתלב בפרקטיקום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240" name="Google Shape;2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765045"/>
            <a:ext cx="10387751" cy="564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248" name="Google Shape;2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893" y="1978024"/>
            <a:ext cx="11090363" cy="37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6194" y="6114539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8070" y="6171689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59" name="Google Shape;25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0387" y="-150833"/>
            <a:ext cx="5574617" cy="4420060"/>
          </a:xfrm>
          <a:prstGeom prst="rect">
            <a:avLst/>
          </a:prstGeom>
          <a:solidFill>
            <a:srgbClr val="ECECEC"/>
          </a:solidFill>
          <a:ln cap="sq" cmpd="sng" w="101600">
            <a:solidFill>
              <a:srgbClr val="FDFDF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kx="110000" rotWithShape="0" algn="tl" dir="7560000" dist="37500" sy="98000" ky="200000">
              <a:srgbClr val="000000">
                <a:alpha val="20000"/>
              </a:srgbClr>
            </a:outerShdw>
          </a:effectLst>
        </p:spPr>
      </p:pic>
      <p:pic>
        <p:nvPicPr>
          <p:cNvPr id="260" name="Google Shape;26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0469" y="-443344"/>
            <a:ext cx="7068859" cy="4712572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תמונה שמכילה שמיים, ענן, טקסט, בחוץ&#10;&#10;תוכן בינה מלאכותית גנרטיבית עשוי להיות שגוי." id="261" name="Google Shape;26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9197" y="80345"/>
            <a:ext cx="5353603" cy="401003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95376" y="131497"/>
            <a:ext cx="2601243" cy="4430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עיצוב, אסיפה&#10;&#10;תוכן בינה מלאכותית גנרטיבית עשוי להיות שגוי." id="263" name="Google Shape;26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08098" y="-562777"/>
            <a:ext cx="7944416" cy="5296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שמיים, ענן, בחוץ, תאורה אחורית&#10;&#10;תוכן בינה מלאכותית גנרטיבית עשוי להיות שגוי." id="264" name="Google Shape;264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4736" y="131497"/>
            <a:ext cx="4953951" cy="4010035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תמונה שמכילה ירוק, כביש, עץ&#10;&#10;תוכן בינה מלאכותית גנרטיבית עשוי להיות שגוי." id="265" name="Google Shape;265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306" y="1594624"/>
            <a:ext cx="12192000" cy="5263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סרט מצויר, אומנות קליפיפם, סמל, איור&#10;&#10;תוכן בינה מלאכותית גנרטיבית עשוי להיות שגוי." id="266" name="Google Shape;266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37283" y="725228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0055" y="1795837"/>
            <a:ext cx="5345129" cy="5011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0"/>
          <p:cNvPicPr preferRelativeResize="0"/>
          <p:nvPr/>
        </p:nvPicPr>
        <p:blipFill rotWithShape="1">
          <a:blip r:embed="rId4">
            <a:alphaModFix/>
          </a:blip>
          <a:srcRect b="10838" l="15316" r="17004" t="12180"/>
          <a:stretch/>
        </p:blipFill>
        <p:spPr>
          <a:xfrm>
            <a:off x="-137204" y="-41846"/>
            <a:ext cx="5319793" cy="4033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74" name="Google Shape;27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ירח, עיגול, צילום מסך, ספרה&#10;&#10;תוכן בינה מלאכותית גנרטיבית עשוי להיות שגוי." id="277" name="Google Shape;27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8785" y="1573104"/>
            <a:ext cx="2398240" cy="1916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ירח, עיגול, צילום מסך, ספרה&#10;&#10;תוכן בינה מלאכותית גנרטיבית עשוי להיות שגוי." id="278" name="Google Shape;278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87202" y="-156146"/>
            <a:ext cx="2158913" cy="2164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ירח, עיגול, צילום מסך, ספרה&#10;&#10;תוכן בינה מלאכותית גנרטיבית עשוי להיות שגוי." id="279" name="Google Shape;279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29695" y="2807311"/>
            <a:ext cx="2819803" cy="2140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ירח, עיגול, צילום מסך, ספרה&#10;&#10;תוכן בינה מלאכותית גנרטיבית עשוי להיות שגוי." id="280" name="Google Shape;280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0687" y="3788892"/>
            <a:ext cx="3502724" cy="3172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716" y="199170"/>
            <a:ext cx="11245675" cy="5832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89" name="Google Shape;28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79150" y="63805"/>
            <a:ext cx="1251656" cy="99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744" y="91745"/>
            <a:ext cx="11614747" cy="640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96" name="Google Shape;29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9150" y="63805"/>
            <a:ext cx="1251656" cy="99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6" name="Google Shape;306;p13"/>
          <p:cNvGraphicFramePr/>
          <p:nvPr/>
        </p:nvGraphicFramePr>
        <p:xfrm>
          <a:off x="314325" y="1365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{6899FB5D-8942-45CE-B72A-401FC6776D30}</a:tableStyleId>
              </a:tblPr>
              <a:tblGrid>
                <a:gridCol w="2312675"/>
                <a:gridCol w="2312675"/>
                <a:gridCol w="2312675"/>
                <a:gridCol w="2418575"/>
                <a:gridCol w="2206750"/>
              </a:tblGrid>
              <a:tr h="6894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Specific</a:t>
                      </a:r>
                      <a:br>
                        <a:rPr lang="iw-IL" sz="1800" u="none" cap="none" strike="noStrike"/>
                      </a:br>
                      <a:r>
                        <a:rPr lang="iw-IL" sz="1800" u="none" cap="none" strike="noStrike"/>
                        <a:t>ספציפי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Measurable</a:t>
                      </a:r>
                      <a:br>
                        <a:rPr lang="iw-IL" sz="1800"/>
                      </a:br>
                      <a:r>
                        <a:rPr lang="iw-IL" sz="1800"/>
                        <a:t>מדיד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Attainable</a:t>
                      </a:r>
                      <a:br>
                        <a:rPr lang="iw-IL" sz="1800"/>
                      </a:br>
                      <a:r>
                        <a:rPr lang="iw-IL" sz="1800"/>
                        <a:t>בר השגה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Relevant</a:t>
                      </a:r>
                      <a:br>
                        <a:rPr lang="iw-IL" sz="1800"/>
                      </a:br>
                      <a:r>
                        <a:rPr lang="iw-IL" sz="1800"/>
                        <a:t>רלוונטי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Time bound</a:t>
                      </a:r>
                      <a:br>
                        <a:rPr lang="iw-IL" sz="1800"/>
                      </a:br>
                      <a:r>
                        <a:rPr lang="iw-IL" sz="1800"/>
                        <a:t>תחום בזמן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8712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מטרות ממוקדות ובהירות.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• מטרות שניתנות למדידה.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מטרות סבירות שניתן לממש אותן בזמן ובמסגרת הנתונה והן בתחום האחריות וההשפעה שלנו.</a:t>
                      </a:r>
                      <a:br>
                        <a:rPr lang="iw-IL" sz="1800"/>
                      </a:b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מטרות רלוונטיות לנושא המוגדר ולקהל היעד.</a:t>
                      </a:r>
                      <a:br>
                        <a:rPr lang="iw-IL" sz="1800"/>
                      </a:b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מטרות שניתן לעקוב אחרי קצב התקדמותן.</a:t>
                      </a:r>
                      <a:br>
                        <a:rPr lang="iw-IL" sz="1800"/>
                      </a:br>
                      <a:endParaRPr sz="1800"/>
                    </a:p>
                  </a:txBody>
                  <a:tcPr marT="45725" marB="45725" marR="91450" marL="91450"/>
                </a:tc>
              </a:tr>
              <a:tr h="21666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• מי ישתנה?</a:t>
                      </a:r>
                      <a:br>
                        <a:rPr lang="iw-IL" sz="1800"/>
                      </a:br>
                      <a:r>
                        <a:rPr lang="iw-IL" sz="1800"/>
                        <a:t>• במה אמור להשתנות?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iw-IL" sz="1800"/>
                        <a:t>• בכמה ישתנה?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iw-IL" sz="1800"/>
                        <a:t>• האם השינוי בתחום האחריות ובהשפעה הישירה שלנו?</a:t>
                      </a:r>
                      <a:br>
                        <a:rPr lang="iw-IL" sz="1800"/>
                      </a:br>
                      <a:r>
                        <a:rPr lang="iw-IL" sz="1800"/>
                        <a:t>• איך יוכל השינוי?</a:t>
                      </a:r>
                      <a:br>
                        <a:rPr lang="iw-IL" sz="1800"/>
                      </a:br>
                      <a:r>
                        <a:rPr lang="iw-IL" sz="1800"/>
                        <a:t>• מה צריך לקרות כדי שנוביל שינוי?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iw-IL" sz="1800"/>
                        <a:t>• למה צריך להשתנות?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/>
                        <a:t>• מתי יחול השינוי?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7" name="Google Shape;307;p13"/>
          <p:cNvSpPr txBox="1"/>
          <p:nvPr/>
        </p:nvSpPr>
        <p:spPr>
          <a:xfrm>
            <a:off x="3886200" y="406400"/>
            <a:ext cx="4648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313" name="Google Shape;3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4"/>
          <p:cNvSpPr txBox="1"/>
          <p:nvPr/>
        </p:nvSpPr>
        <p:spPr>
          <a:xfrm>
            <a:off x="1162050" y="2019300"/>
            <a:ext cx="98679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iw-IL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הגדרת מטרה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iw-IL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יעד</a:t>
            </a:r>
            <a:endParaRPr/>
          </a:p>
          <a:p>
            <a:pPr indent="-400050" lvl="1" marL="8572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AutoNum type="romanUcPeriod"/>
            </a:pP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הגדרת היעד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1" marL="8572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AutoNum type="romanUcPeriod"/>
            </a:pP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בדיקת עמידת היעד בחמשת הקריטריונים של SMART </a:t>
            </a:r>
            <a:endParaRPr/>
          </a:p>
          <a:p>
            <a:pPr indent="-400050" lvl="1" marL="8572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AutoNum type="romanUcPeriod"/>
            </a:pPr>
            <a:r>
              <a:rPr b="0" i="0" lang="iw-I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שיפור ודיוק היעד, חזרה ל I אם צריך</a:t>
            </a:r>
            <a:endParaRPr/>
          </a:p>
          <a:p>
            <a:pPr indent="-400050" lvl="0" marL="4000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AutoNum type="arabicPeriod"/>
            </a:pPr>
            <a:r>
              <a:rPr lang="iw-IL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חזרה ל 2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3886200" y="406400"/>
            <a:ext cx="4648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/>
          <p:cNvSpPr txBox="1"/>
          <p:nvPr>
            <p:ph idx="1" type="body"/>
          </p:nvPr>
        </p:nvSpPr>
        <p:spPr>
          <a:xfrm>
            <a:off x="838200" y="18129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/>
              <a:t>מורכבות</a:t>
            </a:r>
            <a:br>
              <a:rPr lang="iw-IL"/>
            </a:br>
            <a:r>
              <a:rPr lang="iw-IL"/>
              <a:t>ריבוי גורמים והשפעות, אי-בהירות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/>
              <a:t>מערכתי</a:t>
            </a:r>
            <a:br>
              <a:rPr lang="iw-IL"/>
            </a:br>
            <a:r>
              <a:rPr lang="iw-IL"/>
              <a:t>אקו סיסטם, תרבות, ארגון, קהילה, פוליטיקה, חינוך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/>
              <a:t>תחומים אחרים</a:t>
            </a:r>
            <a:br>
              <a:rPr lang="iw-IL"/>
            </a:br>
            <a:r>
              <a:rPr lang="iw-IL"/>
              <a:t>המקומות הלא ברורים מאליו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/>
              <a:t>לכאורה מנותק מההקשר</a:t>
            </a:r>
            <a:br>
              <a:rPr lang="iw-IL"/>
            </a:br>
            <a:r>
              <a:rPr lang="iw-IL"/>
              <a:t>הכל קשור בהכל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/>
              <a:t>טווח ארוך</a:t>
            </a:r>
            <a:br>
              <a:rPr lang="iw-IL"/>
            </a:br>
            <a:r>
              <a:rPr lang="iw-IL"/>
              <a:t>הסתכלות קדימה, על מגמות והתפתחות לאורך זמן</a:t>
            </a:r>
            <a:endParaRPr/>
          </a:p>
          <a:p>
            <a:pPr indent="-2286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w-IL"/>
              <a:t>אישי</a:t>
            </a:r>
            <a:br>
              <a:rPr lang="iw-IL"/>
            </a:br>
            <a:r>
              <a:rPr lang="iw-IL"/>
              <a:t>המנטי כמנהל</a:t>
            </a:r>
            <a:endParaRPr/>
          </a:p>
        </p:txBody>
      </p:sp>
      <p:sp>
        <p:nvSpPr>
          <p:cNvPr id="326" name="Google Shape;32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w-IL"/>
              <a:t>סיעור מוחות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327" name="Google Shape;3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333" name="Google Shape;3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6"/>
          <p:cNvSpPr txBox="1"/>
          <p:nvPr/>
        </p:nvSpPr>
        <p:spPr>
          <a:xfrm>
            <a:off x="6940966" y="72917"/>
            <a:ext cx="50628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דוגמה לתכנון בחשיבה תוצאתית </a:t>
            </a:r>
            <a:endParaRPr b="1" sz="3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37" name="Google Shape;337;p16"/>
          <p:cNvCxnSpPr/>
          <p:nvPr/>
        </p:nvCxnSpPr>
        <p:spPr>
          <a:xfrm rot="10800000">
            <a:off x="1965553" y="1042488"/>
            <a:ext cx="9637059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38" name="Google Shape;338;p16"/>
          <p:cNvCxnSpPr/>
          <p:nvPr/>
        </p:nvCxnSpPr>
        <p:spPr>
          <a:xfrm>
            <a:off x="11378494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9" name="Google Shape;339;p16"/>
          <p:cNvCxnSpPr/>
          <p:nvPr/>
        </p:nvCxnSpPr>
        <p:spPr>
          <a:xfrm>
            <a:off x="9966551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0" name="Google Shape;340;p16"/>
          <p:cNvCxnSpPr/>
          <p:nvPr/>
        </p:nvCxnSpPr>
        <p:spPr>
          <a:xfrm>
            <a:off x="8554610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1" name="Google Shape;341;p16"/>
          <p:cNvCxnSpPr/>
          <p:nvPr/>
        </p:nvCxnSpPr>
        <p:spPr>
          <a:xfrm>
            <a:off x="7142669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16"/>
          <p:cNvCxnSpPr/>
          <p:nvPr/>
        </p:nvCxnSpPr>
        <p:spPr>
          <a:xfrm>
            <a:off x="5730728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16"/>
          <p:cNvCxnSpPr/>
          <p:nvPr/>
        </p:nvCxnSpPr>
        <p:spPr>
          <a:xfrm>
            <a:off x="4318787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16"/>
          <p:cNvCxnSpPr/>
          <p:nvPr/>
        </p:nvCxnSpPr>
        <p:spPr>
          <a:xfrm>
            <a:off x="2906846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5" name="Google Shape;345;p16"/>
          <p:cNvSpPr txBox="1"/>
          <p:nvPr/>
        </p:nvSpPr>
        <p:spPr>
          <a:xfrm>
            <a:off x="11012047" y="1234076"/>
            <a:ext cx="7328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דצמבר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9675445" y="123407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ינואר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8167322" y="1230951"/>
            <a:ext cx="774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פברואר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6883621" y="1230951"/>
            <a:ext cx="518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מרץ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5393939" y="1230951"/>
            <a:ext cx="673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אפריל</a:t>
            </a:r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4078977" y="1230951"/>
            <a:ext cx="479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מאי</a:t>
            </a:r>
            <a:endParaRPr/>
          </a:p>
        </p:txBody>
      </p:sp>
      <p:sp>
        <p:nvSpPr>
          <p:cNvPr id="351" name="Google Shape;351;p16"/>
          <p:cNvSpPr txBox="1"/>
          <p:nvPr/>
        </p:nvSpPr>
        <p:spPr>
          <a:xfrm>
            <a:off x="2697494" y="123095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יוני</a:t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163647" y="1337364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קיים צוות ניהול מורחב של רכזות, הנפגש באופן סדיר</a:t>
            </a:r>
            <a:endParaRPr/>
          </a:p>
        </p:txBody>
      </p:sp>
      <p:sp>
        <p:nvSpPr>
          <p:cNvPr id="353" name="Google Shape;353;p16"/>
          <p:cNvSpPr txBox="1"/>
          <p:nvPr/>
        </p:nvSpPr>
        <p:spPr>
          <a:xfrm>
            <a:off x="110811" y="473026"/>
            <a:ext cx="13244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תוצאות רצויות</a:t>
            </a:r>
            <a:endParaRPr/>
          </a:p>
        </p:txBody>
      </p:sp>
      <p:cxnSp>
        <p:nvCxnSpPr>
          <p:cNvPr id="354" name="Google Shape;354;p16"/>
          <p:cNvCxnSpPr/>
          <p:nvPr/>
        </p:nvCxnSpPr>
        <p:spPr>
          <a:xfrm>
            <a:off x="1597999" y="1881782"/>
            <a:ext cx="0" cy="4428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16"/>
          <p:cNvSpPr/>
          <p:nvPr/>
        </p:nvSpPr>
        <p:spPr>
          <a:xfrm>
            <a:off x="163647" y="2634814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קיימות הגדרות תפקיד ותחומי אחריות לכל רכזת</a:t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163647" y="3958559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תהליך תכנון השנה הבאה מתבצע בצוות הניהול המורחב</a:t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172378" y="5283857"/>
            <a:ext cx="1201268" cy="1250747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המנהלת מרגישה פחות לבד, הצוות מרגיש יותר שותף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363" name="Google Shape;3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6776" y="5945421"/>
            <a:ext cx="1022144" cy="810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7"/>
          <p:cNvSpPr txBox="1"/>
          <p:nvPr/>
        </p:nvSpPr>
        <p:spPr>
          <a:xfrm>
            <a:off x="6940966" y="72917"/>
            <a:ext cx="50628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דוגמה לתכנון בחשיבה תוצאתית </a:t>
            </a:r>
            <a:endParaRPr b="1" sz="3200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67" name="Google Shape;367;p17"/>
          <p:cNvCxnSpPr/>
          <p:nvPr/>
        </p:nvCxnSpPr>
        <p:spPr>
          <a:xfrm rot="10800000">
            <a:off x="1965553" y="1042488"/>
            <a:ext cx="9637059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68" name="Google Shape;368;p17"/>
          <p:cNvCxnSpPr/>
          <p:nvPr/>
        </p:nvCxnSpPr>
        <p:spPr>
          <a:xfrm>
            <a:off x="11378494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p17"/>
          <p:cNvCxnSpPr/>
          <p:nvPr/>
        </p:nvCxnSpPr>
        <p:spPr>
          <a:xfrm>
            <a:off x="9966551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p17"/>
          <p:cNvCxnSpPr/>
          <p:nvPr/>
        </p:nvCxnSpPr>
        <p:spPr>
          <a:xfrm>
            <a:off x="8554610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1" name="Google Shape;371;p17"/>
          <p:cNvCxnSpPr/>
          <p:nvPr/>
        </p:nvCxnSpPr>
        <p:spPr>
          <a:xfrm>
            <a:off x="7142669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2" name="Google Shape;372;p17"/>
          <p:cNvCxnSpPr/>
          <p:nvPr/>
        </p:nvCxnSpPr>
        <p:spPr>
          <a:xfrm>
            <a:off x="5730728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" name="Google Shape;373;p17"/>
          <p:cNvCxnSpPr/>
          <p:nvPr/>
        </p:nvCxnSpPr>
        <p:spPr>
          <a:xfrm>
            <a:off x="4318787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17"/>
          <p:cNvCxnSpPr/>
          <p:nvPr/>
        </p:nvCxnSpPr>
        <p:spPr>
          <a:xfrm>
            <a:off x="2906846" y="930217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p17"/>
          <p:cNvSpPr txBox="1"/>
          <p:nvPr/>
        </p:nvSpPr>
        <p:spPr>
          <a:xfrm>
            <a:off x="11012047" y="1234076"/>
            <a:ext cx="7328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דצמבר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9675445" y="123407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ינואר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8167322" y="1230951"/>
            <a:ext cx="774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פברואר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6883621" y="1230951"/>
            <a:ext cx="518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מרץ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5393939" y="1230951"/>
            <a:ext cx="673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אפריל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4078977" y="1230951"/>
            <a:ext cx="479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מאי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2697494" y="123095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יוני</a:t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163647" y="1337364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קיים צוות ניהול מורחב של רכזות, הנפגש באופן סדיר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110811" y="473026"/>
            <a:ext cx="13244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תוצאות רצויות</a:t>
            </a:r>
            <a:endParaRPr/>
          </a:p>
        </p:txBody>
      </p:sp>
      <p:cxnSp>
        <p:nvCxnSpPr>
          <p:cNvPr id="384" name="Google Shape;384;p17"/>
          <p:cNvCxnSpPr/>
          <p:nvPr/>
        </p:nvCxnSpPr>
        <p:spPr>
          <a:xfrm>
            <a:off x="1597999" y="1881782"/>
            <a:ext cx="0" cy="4428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" name="Google Shape;385;p17"/>
          <p:cNvSpPr/>
          <p:nvPr/>
        </p:nvSpPr>
        <p:spPr>
          <a:xfrm>
            <a:off x="163647" y="2634814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קיימות הגדרות תפקיד ותחומי אחריות לכל רכזת</a:t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163647" y="3958559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תהליך תכנון השנה הבאה מתבצע בצוות הניהול המורחב</a:t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172378" y="5283857"/>
            <a:ext cx="1201268" cy="1250747"/>
          </a:xfrm>
          <a:prstGeom prst="snip1Rect">
            <a:avLst>
              <a:gd fmla="val 16667" name="adj"/>
            </a:avLst>
          </a:prstGeom>
          <a:solidFill>
            <a:srgbClr val="82CAE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המנהלת מרגישה פחות לבד, הצוות מרגיש יותר שותף</a:t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8603111" y="1946435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יצירת סדירות פגישה אישית חודשית  מנהלת-רכזת</a:t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5631125" y="2143627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ניסוח הגדרת תפקיד עם כל אחת מהרכזות</a:t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8950874" y="3261576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יצירת סדירות חודשית למפגש צוות הרכזות</a:t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7160176" y="1825461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הרכזות נוכחות ומעורבות בהצגה בועדה המלווה</a:t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2986921" y="1754552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הצגת פורום הרכזות ותחומי האחריות במליאת המורים</a:t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1847816" y="3057153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הצגת הרכזות ותחומי האחריות בהנהגת ההורים</a:t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10121360" y="1866378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חיבור המדריך האישי לחשיבה אודות התהליך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4281911" y="2931148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בכל ניוזלטר רבעוני להורים רכזת אחרת כותבת עדכון</a:t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3280179" y="4292499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מתחילות פגישות תכנון משותפות של שנה"ל הבאה</a:t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6327946" y="3646653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סיור משותף בבית ספר בעל שדרה ניהולית מתפקדת היטב</a:t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5608330" y="4928846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בניית סטטוס ויוקרה לצוות הניהול המורחב</a:t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7391039" y="3101073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חיבור לבית ספר 'תאום' בעל שדה ניהולית מתפקדת היטב</a:t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9150926" y="4447312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ליווי / הנחיה חיצונית לתהליך (יועצת ארגונית?)</a:t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8337116" y="5413379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יום גיבוש לצוות הניהול המורחב</a:t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7598725" y="4384853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הצגת התהליך בפני מליאת המורים</a:t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10241454" y="3198782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סבב שיחות אישיות עם הרכזות לפני הכניסה לתהליך</a:t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2281899" y="5549730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בחינת שינויים ביומן המנהלת יחד עם המדריך האישי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10364122" y="4601258"/>
            <a:ext cx="1201269" cy="1120613"/>
          </a:xfrm>
          <a:prstGeom prst="snip1Rect">
            <a:avLst>
              <a:gd fmla="val 16667" name="adj"/>
            </a:avLst>
          </a:prstGeom>
          <a:solidFill>
            <a:srgbClr val="FFFF8B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סינכרון עם עבודת צוות ניהול מצומצם (מבנה ארגוני)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411" name="Google Shape;4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" y="365125"/>
            <a:ext cx="8799303" cy="59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420" name="Google Shape;4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61" y="365125"/>
            <a:ext cx="184199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1506" y="6092520"/>
            <a:ext cx="5715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6" y="6164262"/>
            <a:ext cx="97155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2025-11-20T07:40:09Z</dcterms:created>
  <dc:creator>Yair Amitay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94bbc-032f-47bb-9abc-b93ce9e451bf_Enabled">
    <vt:lpwstr>true</vt:lpwstr>
  </property>
  <property fmtid="{D5CDD505-2E9C-101B-9397-08002B2CF9AE}" pid="3" name="MSIP_Label_b5194bbc-032f-47bb-9abc-b93ce9e451bf_SetDate">
    <vt:lpwstr>2025-11-20T08:28:40Z</vt:lpwstr>
  </property>
  <property fmtid="{D5CDD505-2E9C-101B-9397-08002B2CF9AE}" pid="4" name="MSIP_Label_b5194bbc-032f-47bb-9abc-b93ce9e451bf_Method">
    <vt:lpwstr>Standard</vt:lpwstr>
  </property>
  <property fmtid="{D5CDD505-2E9C-101B-9397-08002B2CF9AE}" pid="5" name="MSIP_Label_b5194bbc-032f-47bb-9abc-b93ce9e451bf_Name">
    <vt:lpwstr>defa4170-0d19-0005-0004-bc88714345d2</vt:lpwstr>
  </property>
  <property fmtid="{D5CDD505-2E9C-101B-9397-08002B2CF9AE}" pid="6" name="MSIP_Label_b5194bbc-032f-47bb-9abc-b93ce9e451bf_SiteId">
    <vt:lpwstr>89549929-c3f4-4716-8ef4-0b2d475c2d50</vt:lpwstr>
  </property>
  <property fmtid="{D5CDD505-2E9C-101B-9397-08002B2CF9AE}" pid="7" name="MSIP_Label_b5194bbc-032f-47bb-9abc-b93ce9e451bf_ActionId">
    <vt:lpwstr>d1a4b62b-4fa4-43fb-ba33-7b27bcb33136</vt:lpwstr>
  </property>
  <property fmtid="{D5CDD505-2E9C-101B-9397-08002B2CF9AE}" pid="8" name="MSIP_Label_b5194bbc-032f-47bb-9abc-b93ce9e451bf_ContentBits">
    <vt:lpwstr>0</vt:lpwstr>
  </property>
  <property fmtid="{D5CDD505-2E9C-101B-9397-08002B2CF9AE}" pid="9" name="MSIP_Label_b5194bbc-032f-47bb-9abc-b93ce9e451bf_Tag">
    <vt:lpwstr>10, 3, 0, 1</vt:lpwstr>
  </property>
  <property fmtid="{D5CDD505-2E9C-101B-9397-08002B2CF9AE}" pid="10" name="ContentTypeId">
    <vt:lpwstr>0x0101004BF500E49F136248940B708F395E3682</vt:lpwstr>
  </property>
</Properties>
</file>