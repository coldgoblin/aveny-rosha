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99" r:id="rId7"/>
    <p:sldId id="296" r:id="rId8"/>
    <p:sldId id="302" r:id="rId9"/>
    <p:sldId id="286" r:id="rId10"/>
    <p:sldId id="301" r:id="rId11"/>
    <p:sldId id="297" r:id="rId12"/>
    <p:sldId id="288" r:id="rId13"/>
    <p:sldId id="300" r:id="rId14"/>
    <p:sldId id="290" r:id="rId15"/>
    <p:sldId id="303" r:id="rId16"/>
    <p:sldId id="289" r:id="rId17"/>
    <p:sldId id="29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5F9A"/>
    <a:srgbClr val="468C8A"/>
    <a:srgbClr val="44546A"/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5646" autoAdjust="0"/>
  </p:normalViewPr>
  <p:slideViewPr>
    <p:cSldViewPr snapToGrid="0">
      <p:cViewPr>
        <p:scale>
          <a:sx n="75" d="100"/>
          <a:sy n="75" d="100"/>
        </p:scale>
        <p:origin x="360" y="36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8397D-7D81-5DEC-A8C5-329377E83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74F3DB-D8DB-8F73-610C-982E54C108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82E635-FD49-40EA-1B5F-78D558D99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1E17C-AC64-D693-472F-4004965221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066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114C0-6A00-74EA-6956-6B39A5C59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7492C4-959F-458F-9C5B-B95F493443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4EACF1-E7CE-02D9-8C02-59D4F9907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6640D-DCC2-EE17-D63E-340967D809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4988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7C074-ACB6-493E-7982-DD2FC28C7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F4E19-3AFF-AFB1-B83D-BDA01728A3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B83233-3527-7C97-6777-24E8A5B6A5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81E7C-BA25-7658-32ED-D41F6B50C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8713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1592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7438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F2EBB-A7ED-29ED-351E-429FF6A4A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375BAE-AB92-58C4-8C82-395D0D4A4B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2D1B83-DB68-89AF-E04D-E7B9720B0B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71748-DF43-0DD3-9697-7C8E94DC52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664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BBF2E-6B7B-B77B-DCC1-1F5CB4AF9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DE5540-3CCD-9057-7A08-1F4347F724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C2BACA-B902-993F-2EF9-093F29986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72CF4-FB30-19E1-362A-C222BB1406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4321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7933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086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anchor="b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9F46B00-4AE8-52A2-6926-FC2F5DD1F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364" y="0"/>
            <a:ext cx="12194364" cy="6858000"/>
            <a:chOff x="-2364" y="0"/>
            <a:chExt cx="12194364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rot="5400000">
              <a:off x="8580896" y="0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>
              <a:off x="-2364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2587417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9489" y="457199"/>
            <a:ext cx="5943599" cy="192024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BBDFA0C-B372-969D-6C8A-F664A4BF8D41}"/>
              </a:ext>
            </a:extLst>
          </p:cNvPr>
          <p:cNvSpPr>
            <a:spLocks noGrp="1" noChangeAspect="1"/>
          </p:cNvSpPr>
          <p:nvPr>
            <p:ph idx="17" hasCustomPrompt="1"/>
          </p:nvPr>
        </p:nvSpPr>
        <p:spPr>
          <a:xfrm>
            <a:off x="823108" y="640080"/>
            <a:ext cx="4297680" cy="429768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347663" indent="0" algn="ctr">
              <a:buFont typeface="Arial" panose="020B0604020202020204" pitchFamily="34" charset="0"/>
              <a:buNone/>
              <a:defRPr sz="2000">
                <a:latin typeface="+mn-lt"/>
              </a:defRPr>
            </a:lvl2pPr>
            <a:lvl3pPr marL="6858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3pPr>
            <a:lvl4pPr marL="9144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4pPr>
            <a:lvl5pPr marL="11430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8D2CC-EE75-85FA-1577-88C0BEC7B10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549490" y="2706369"/>
            <a:ext cx="5943600" cy="3383279"/>
          </a:xfrm>
        </p:spPr>
        <p:txBody>
          <a:bodyPr>
            <a:normAutofit/>
          </a:bodyPr>
          <a:lstStyle>
            <a:lvl1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46304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5656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76" r:id="rId9"/>
    <p:sldLayoutId id="2147483661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3830130"/>
          </a:xfrm>
        </p:spPr>
        <p:txBody>
          <a:bodyPr/>
          <a:lstStyle/>
          <a:p>
            <a:r>
              <a:rPr lang="he-IL" dirty="0"/>
              <a:t>פגישות </a:t>
            </a:r>
            <a:r>
              <a:rPr lang="he-IL" dirty="0" err="1"/>
              <a:t>מנטורינג</a:t>
            </a:r>
            <a:br>
              <a:rPr lang="he-IL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3DA5A67-A9F8-9F33-CBE6-AFF97CE66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840" y="794876"/>
            <a:ext cx="8820603" cy="427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1454A-97D7-0F05-4F33-AB355D172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9374A29-3E72-C3D9-BF4B-41970BFA0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840" y="794876"/>
            <a:ext cx="8820603" cy="427377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3AD20CC-424C-181A-2E14-80E5AC2C6ADF}"/>
              </a:ext>
            </a:extLst>
          </p:cNvPr>
          <p:cNvSpPr txBox="1"/>
          <p:nvPr/>
        </p:nvSpPr>
        <p:spPr>
          <a:xfrm>
            <a:off x="2596896" y="5376672"/>
            <a:ext cx="50566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b="1" dirty="0">
                <a:solidFill>
                  <a:srgbClr val="44546A"/>
                </a:solidFill>
              </a:rPr>
              <a:t>נקודות חשובות:</a:t>
            </a:r>
          </a:p>
          <a:p>
            <a:pPr marL="285750" indent="-285750" algn="r" rtl="1">
              <a:buFont typeface="Wingdings" panose="05000000000000000000" pitchFamily="2" charset="2"/>
              <a:buChar char="Ø"/>
            </a:pPr>
            <a:r>
              <a:rPr lang="he-IL" b="1" dirty="0">
                <a:solidFill>
                  <a:srgbClr val="44546A"/>
                </a:solidFill>
              </a:rPr>
              <a:t>לשיחת הטלפון</a:t>
            </a:r>
          </a:p>
          <a:p>
            <a:pPr marL="285750" indent="-285750" algn="r" rtl="1">
              <a:buFont typeface="Wingdings" panose="05000000000000000000" pitchFamily="2" charset="2"/>
              <a:buChar char="Ø"/>
            </a:pPr>
            <a:r>
              <a:rPr lang="he-IL" b="1" dirty="0">
                <a:solidFill>
                  <a:srgbClr val="44546A"/>
                </a:solidFill>
              </a:rPr>
              <a:t>לקביעת מקום הפגישה</a:t>
            </a:r>
          </a:p>
          <a:p>
            <a:pPr marL="285750" indent="-285750" algn="r" rtl="1">
              <a:buFont typeface="Wingdings" panose="05000000000000000000" pitchFamily="2" charset="2"/>
              <a:buChar char="Ø"/>
            </a:pPr>
            <a:r>
              <a:rPr lang="he-IL" b="1" dirty="0">
                <a:solidFill>
                  <a:srgbClr val="44546A"/>
                </a:solidFill>
              </a:rPr>
              <a:t>למסגרת הפגישה</a:t>
            </a:r>
            <a:endParaRPr lang="en-IL" b="1" dirty="0">
              <a:solidFill>
                <a:srgbClr val="44546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47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62811"/>
          </a:xfrm>
        </p:spPr>
        <p:txBody>
          <a:bodyPr/>
          <a:lstStyle/>
          <a:p>
            <a:pPr algn="r" rtl="1"/>
            <a:r>
              <a:rPr lang="he-IL" dirty="0"/>
              <a:t>תכנון פגישה ראשונה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7BB04B7-47A4-741B-59E0-F0E6F2126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1481" y="3685939"/>
            <a:ext cx="6976290" cy="2919512"/>
          </a:xfrm>
        </p:spPr>
        <p:txBody>
          <a:bodyPr/>
          <a:lstStyle/>
          <a:p>
            <a:pPr algn="r" rtl="1"/>
            <a:r>
              <a:rPr lang="he-IL" dirty="0"/>
              <a:t>סמנו לעצמכם/ כתבו לעצמכם</a:t>
            </a:r>
          </a:p>
          <a:p>
            <a:pPr algn="r" rtl="1"/>
            <a:r>
              <a:rPr lang="he-IL" dirty="0"/>
              <a:t>מה מאד חשוב לכם לעשות/להגיד בפגישה הראשונה</a:t>
            </a:r>
          </a:p>
          <a:p>
            <a:pPr algn="r" rtl="1"/>
            <a:r>
              <a:rPr lang="he-IL" dirty="0"/>
              <a:t>            משפט להגיד</a:t>
            </a:r>
          </a:p>
          <a:p>
            <a:pPr algn="r" rtl="1"/>
            <a:r>
              <a:rPr lang="he-IL" dirty="0"/>
              <a:t>            נושא להעלות</a:t>
            </a:r>
          </a:p>
          <a:p>
            <a:pPr algn="r" rtl="1"/>
            <a:endParaRPr lang="he-IL" dirty="0"/>
          </a:p>
          <a:p>
            <a:pPr algn="r" rt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9F840-1953-E39F-CF28-4CA59FC47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DA9993-155C-D303-CA8E-E776E82C0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pPr algn="r" rtl="1"/>
            <a:r>
              <a:rPr lang="he-IL" sz="6000" dirty="0"/>
              <a:t>כניסה לבית הספר שימו לב....</a:t>
            </a:r>
            <a:endParaRPr lang="en-US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49CB9-9772-95A1-46C8-FD50954E7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3845" y="2053624"/>
            <a:ext cx="4663440" cy="3332832"/>
          </a:xfrm>
        </p:spPr>
        <p:txBody>
          <a:bodyPr>
            <a:normAutofit lnSpcReduction="10000"/>
          </a:bodyPr>
          <a:lstStyle/>
          <a:p>
            <a:pPr algn="r" rtl="1"/>
            <a:r>
              <a:rPr lang="he-IL" sz="2800" dirty="0"/>
              <a:t>הכרת בית הספר דרך המרחב:</a:t>
            </a:r>
          </a:p>
          <a:p>
            <a:pPr algn="r" rtl="1"/>
            <a:endParaRPr lang="en-US" sz="2800" dirty="0"/>
          </a:p>
          <a:p>
            <a:pPr lvl="1" algn="r" rtl="1"/>
            <a:r>
              <a:rPr lang="he-IL" sz="2800" dirty="0"/>
              <a:t>קירות</a:t>
            </a:r>
            <a:endParaRPr lang="en-US" sz="2800" dirty="0"/>
          </a:p>
          <a:p>
            <a:pPr lvl="1" algn="r" rtl="1"/>
            <a:r>
              <a:rPr lang="he-IL" sz="2800" dirty="0"/>
              <a:t>חדר מורים </a:t>
            </a:r>
            <a:endParaRPr lang="en-US" sz="2800" dirty="0"/>
          </a:p>
          <a:p>
            <a:pPr lvl="1" algn="r" rtl="1"/>
            <a:r>
              <a:rPr lang="he-IL" sz="2800" dirty="0"/>
              <a:t>חדר מנהל</a:t>
            </a:r>
          </a:p>
          <a:p>
            <a:pPr lvl="1" algn="r" rtl="1"/>
            <a:r>
              <a:rPr lang="he-IL" sz="2800" dirty="0"/>
              <a:t>הפסקות </a:t>
            </a:r>
          </a:p>
          <a:p>
            <a:pPr lvl="1" algn="r" rtl="1"/>
            <a:r>
              <a:rPr lang="he-IL" sz="2800" dirty="0"/>
              <a:t>מפגש מורה תלמיד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06451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8840" y="1209803"/>
            <a:ext cx="3288900" cy="4114800"/>
          </a:xfrm>
        </p:spPr>
        <p:txBody>
          <a:bodyPr/>
          <a:lstStyle/>
          <a:p>
            <a:pPr algn="r" rtl="1"/>
            <a:r>
              <a:rPr lang="he-IL" sz="3600" dirty="0">
                <a:solidFill>
                  <a:srgbClr val="265F9A"/>
                </a:solidFill>
              </a:rPr>
              <a:t>מה חשוב </a:t>
            </a:r>
            <a:br>
              <a:rPr lang="he-IL" sz="3600" dirty="0">
                <a:solidFill>
                  <a:srgbClr val="265F9A"/>
                </a:solidFill>
              </a:rPr>
            </a:br>
            <a:r>
              <a:rPr lang="he-IL" sz="3600" dirty="0">
                <a:solidFill>
                  <a:srgbClr val="265F9A"/>
                </a:solidFill>
              </a:rPr>
              <a:t>שיקרה בפגישה הראשונה?</a:t>
            </a:r>
            <a:endParaRPr lang="en-US" sz="3600" dirty="0">
              <a:solidFill>
                <a:srgbClr val="265F9A"/>
              </a:solidFill>
            </a:endParaRPr>
          </a:p>
        </p:txBody>
      </p:sp>
      <p:pic>
        <p:nvPicPr>
          <p:cNvPr id="10" name="Picture Placeholder 9" descr="A person holding books in a classroom">
            <a:extLst>
              <a:ext uri="{FF2B5EF4-FFF2-40B4-BE49-F238E27FC236}">
                <a16:creationId xmlns:a16="http://schemas.microsoft.com/office/drawing/2014/main" id="{FCA2FB5B-570E-D181-A4B1-1DCB61C0894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16819" r="16819"/>
          <a:stretch/>
        </p:blipFill>
        <p:spPr>
          <a:xfrm>
            <a:off x="7183438" y="1168400"/>
            <a:ext cx="4500562" cy="4521200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304952A-0A59-E0BE-CF79-761915676C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146"/>
          <a:stretch>
            <a:fillRect/>
          </a:stretch>
        </p:blipFill>
        <p:spPr>
          <a:xfrm>
            <a:off x="6226628" y="762000"/>
            <a:ext cx="5368687" cy="501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CE0DC-A590-DB6C-A6E1-169DAC97F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1C514-EBD2-2B32-971B-4740911D0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0" y="457200"/>
            <a:ext cx="5120640" cy="3200400"/>
          </a:xfrm>
        </p:spPr>
        <p:txBody>
          <a:bodyPr/>
          <a:lstStyle/>
          <a:p>
            <a:pPr algn="r" rtl="1"/>
            <a:r>
              <a:rPr lang="he-IL" sz="4000" dirty="0"/>
              <a:t>הפגישה הראשונה בעיקרה היא תשתית ליצירת האמון</a:t>
            </a:r>
            <a:endParaRPr lang="en-US" sz="4000" dirty="0"/>
          </a:p>
        </p:txBody>
      </p:sp>
      <p:pic>
        <p:nvPicPr>
          <p:cNvPr id="17" name="Picture Placeholder 16" descr="Two people walking down a sidewalk">
            <a:extLst>
              <a:ext uri="{FF2B5EF4-FFF2-40B4-BE49-F238E27FC236}">
                <a16:creationId xmlns:a16="http://schemas.microsoft.com/office/drawing/2014/main" id="{CA440010-3C3A-73C8-1D70-B40E1B06B24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16819" r="16819"/>
          <a:stretch/>
        </p:blipFill>
        <p:spPr>
          <a:xfrm>
            <a:off x="904238" y="1157224"/>
            <a:ext cx="4500562" cy="4521200"/>
          </a:xfrm>
        </p:spPr>
      </p:pic>
    </p:spTree>
    <p:extLst>
      <p:ext uri="{BB962C8B-B14F-4D97-AF65-F5344CB8AC3E}">
        <p14:creationId xmlns:p14="http://schemas.microsoft.com/office/powerpoint/2010/main" val="3304259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AA093-E00B-31E9-0A13-71142E30E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77553"/>
            <a:ext cx="6245912" cy="3269447"/>
          </a:xfrm>
        </p:spPr>
        <p:txBody>
          <a:bodyPr/>
          <a:lstStyle/>
          <a:p>
            <a:r>
              <a:rPr lang="he-IL" dirty="0"/>
              <a:t>מה גורם לי לתת אמון ביעוץ?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2C8177-F0B6-B02C-3682-183D8307E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4" y="3492896"/>
            <a:ext cx="6245912" cy="912850"/>
          </a:xfrm>
        </p:spPr>
        <p:txBody>
          <a:bodyPr/>
          <a:lstStyle/>
          <a:p>
            <a:r>
              <a:rPr lang="he-IL" dirty="0"/>
              <a:t>איזה סימנים אני מחפש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153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EE190-899A-46D2-989D-C4BC6A46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0" y="457200"/>
            <a:ext cx="5120640" cy="3200400"/>
          </a:xfrm>
        </p:spPr>
        <p:txBody>
          <a:bodyPr/>
          <a:lstStyle/>
          <a:p>
            <a:pPr algn="r" rtl="1"/>
            <a:r>
              <a:rPr lang="he-IL" sz="4000" dirty="0"/>
              <a:t>הפגישה הראשונה </a:t>
            </a:r>
            <a:br>
              <a:rPr lang="he-IL" sz="4000" dirty="0"/>
            </a:br>
            <a:r>
              <a:rPr lang="he-IL" sz="4000" dirty="0"/>
              <a:t>היא בעיקר תשתית ליצירת האמון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BC9DE8-A5CC-4BE1-0DE5-CB15D01A7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43600" y="3758184"/>
            <a:ext cx="5120640" cy="1828800"/>
          </a:xfrm>
        </p:spPr>
        <p:txBody>
          <a:bodyPr/>
          <a:lstStyle/>
          <a:p>
            <a:pPr algn="r" rtl="1">
              <a:spcBef>
                <a:spcPts val="0"/>
              </a:spcBef>
            </a:pPr>
            <a:r>
              <a:rPr lang="he-IL" dirty="0">
                <a:solidFill>
                  <a:schemeClr val="accent1"/>
                </a:solidFill>
              </a:rPr>
              <a:t>כללי אצבע ליצירת אמון: </a:t>
            </a:r>
          </a:p>
          <a:p>
            <a:pPr algn="r" rtl="1">
              <a:spcBef>
                <a:spcPts val="0"/>
              </a:spcBef>
            </a:pPr>
            <a:r>
              <a:rPr lang="he-IL" dirty="0">
                <a:solidFill>
                  <a:schemeClr val="accent1"/>
                </a:solidFill>
              </a:rPr>
              <a:t>תוכן השיחה</a:t>
            </a:r>
          </a:p>
          <a:p>
            <a:pPr algn="r" rtl="1">
              <a:spcBef>
                <a:spcPts val="0"/>
              </a:spcBef>
            </a:pPr>
            <a:r>
              <a:rPr lang="he-IL" dirty="0">
                <a:solidFill>
                  <a:schemeClr val="accent1"/>
                </a:solidFill>
              </a:rPr>
              <a:t>מבנה השיחה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7" name="Picture Placeholder 16" descr="Two people walking down a sidewalk">
            <a:extLst>
              <a:ext uri="{FF2B5EF4-FFF2-40B4-BE49-F238E27FC236}">
                <a16:creationId xmlns:a16="http://schemas.microsoft.com/office/drawing/2014/main" id="{2ECBBDA4-D2C1-0F46-BA36-5967266F87A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16819" r="16819"/>
          <a:stretch/>
        </p:blipFill>
        <p:spPr>
          <a:xfrm>
            <a:off x="904238" y="1157224"/>
            <a:ext cx="4500562" cy="4521200"/>
          </a:xfrm>
        </p:spPr>
      </p:pic>
    </p:spTree>
    <p:extLst>
      <p:ext uri="{BB962C8B-B14F-4D97-AF65-F5344CB8AC3E}">
        <p14:creationId xmlns:p14="http://schemas.microsoft.com/office/powerpoint/2010/main" val="779750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BA201-92E9-805C-17C6-0100152AC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60F3BB-C832-AD56-7A76-82181E1B7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6338" y="896112"/>
            <a:ext cx="6656832" cy="5641848"/>
          </a:xfrm>
        </p:spPr>
        <p:txBody>
          <a:bodyPr/>
          <a:lstStyle/>
          <a:p>
            <a:pPr algn="r" rtl="1">
              <a:spcBef>
                <a:spcPts val="0"/>
              </a:spcBef>
            </a:pPr>
            <a:r>
              <a:rPr lang="he-IL" dirty="0">
                <a:solidFill>
                  <a:schemeClr val="accent1"/>
                </a:solidFill>
              </a:rPr>
              <a:t>פעולות מייצרות אמון</a:t>
            </a:r>
          </a:p>
          <a:p>
            <a:pPr algn="r" rtl="1">
              <a:spcBef>
                <a:spcPts val="0"/>
              </a:spcBef>
            </a:pPr>
            <a:endParaRPr lang="he-IL" dirty="0">
              <a:solidFill>
                <a:schemeClr val="accent1"/>
              </a:solidFill>
            </a:endParaRPr>
          </a:p>
          <a:p>
            <a:pPr algn="r" rtl="1">
              <a:spcBef>
                <a:spcPts val="0"/>
              </a:spcBef>
            </a:pPr>
            <a:r>
              <a:rPr lang="he-IL" dirty="0">
                <a:solidFill>
                  <a:schemeClr val="accent1"/>
                </a:solidFill>
              </a:rPr>
              <a:t>על מה מדברים? (על מה לא לדבר?)</a:t>
            </a:r>
          </a:p>
          <a:p>
            <a:pPr algn="r" rtl="1">
              <a:spcBef>
                <a:spcPts val="0"/>
              </a:spcBef>
            </a:pPr>
            <a:r>
              <a:rPr lang="he-IL" dirty="0">
                <a:solidFill>
                  <a:schemeClr val="accent1"/>
                </a:solidFill>
              </a:rPr>
              <a:t>מה מבנה השיחה?</a:t>
            </a:r>
          </a:p>
          <a:p>
            <a:pPr algn="r" rtl="1">
              <a:spcBef>
                <a:spcPts val="0"/>
              </a:spcBef>
            </a:pPr>
            <a:r>
              <a:rPr lang="he-IL" dirty="0">
                <a:solidFill>
                  <a:schemeClr val="accent1"/>
                </a:solidFill>
              </a:rPr>
              <a:t>כמה ואיך אני מציגה את עצמי?</a:t>
            </a:r>
          </a:p>
          <a:p>
            <a:pPr algn="r" rtl="1">
              <a:spcBef>
                <a:spcPts val="0"/>
              </a:spcBef>
            </a:pPr>
            <a:r>
              <a:rPr lang="he-IL" dirty="0">
                <a:solidFill>
                  <a:schemeClr val="accent1"/>
                </a:solidFill>
              </a:rPr>
              <a:t>לאיזה נושאים צוללים במפגש הראשון?</a:t>
            </a:r>
          </a:p>
          <a:p>
            <a:pPr algn="r" rtl="1">
              <a:spcBef>
                <a:spcPts val="0"/>
              </a:spcBef>
            </a:pPr>
            <a:r>
              <a:rPr lang="he-IL" dirty="0">
                <a:solidFill>
                  <a:schemeClr val="accent1"/>
                </a:solidFill>
              </a:rPr>
              <a:t>איפה כדאי לקיים אותה?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he-IL" dirty="0">
                <a:solidFill>
                  <a:schemeClr val="accent1"/>
                </a:solidFill>
              </a:rPr>
              <a:t>איך כדאי לסכם אותה?</a:t>
            </a:r>
          </a:p>
          <a:p>
            <a:pPr algn="r" rtl="1">
              <a:spcBef>
                <a:spcPts val="0"/>
              </a:spcBef>
            </a:pPr>
            <a:r>
              <a:rPr lang="he-IL" dirty="0">
                <a:solidFill>
                  <a:schemeClr val="accent1"/>
                </a:solidFill>
              </a:rPr>
              <a:t>מה </a:t>
            </a:r>
            <a:r>
              <a:rPr lang="he-IL" b="1" dirty="0">
                <a:solidFill>
                  <a:srgbClr val="002060"/>
                </a:solidFill>
              </a:rPr>
              <a:t>לא</a:t>
            </a:r>
            <a:r>
              <a:rPr lang="he-IL" dirty="0">
                <a:solidFill>
                  <a:schemeClr val="accent1"/>
                </a:solidFill>
              </a:rPr>
              <a:t> כדאי לעשות?</a:t>
            </a:r>
          </a:p>
          <a:p>
            <a:pPr algn="r" rtl="1">
              <a:spcBef>
                <a:spcPts val="0"/>
              </a:spcBef>
            </a:pPr>
            <a:endParaRPr lang="he-IL" dirty="0">
              <a:solidFill>
                <a:schemeClr val="accent1"/>
              </a:solidFill>
            </a:endParaRPr>
          </a:p>
          <a:p>
            <a:pPr algn="r" rtl="1">
              <a:spcBef>
                <a:spcPts val="0"/>
              </a:spcBef>
            </a:pPr>
            <a:endParaRPr lang="he-IL" dirty="0">
              <a:solidFill>
                <a:schemeClr val="accent1"/>
              </a:solidFill>
            </a:endParaRPr>
          </a:p>
          <a:p>
            <a:pPr algn="r" rtl="1">
              <a:spcBef>
                <a:spcPts val="0"/>
              </a:spcBef>
            </a:pP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7" name="Picture Placeholder 16" descr="Two people walking down a sidewalk">
            <a:extLst>
              <a:ext uri="{FF2B5EF4-FFF2-40B4-BE49-F238E27FC236}">
                <a16:creationId xmlns:a16="http://schemas.microsoft.com/office/drawing/2014/main" id="{D8BB1F8B-901C-DE1E-132A-FCE3D052A0F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16819" r="16819"/>
          <a:stretch/>
        </p:blipFill>
        <p:spPr>
          <a:xfrm>
            <a:off x="492758" y="1168400"/>
            <a:ext cx="4500562" cy="4521200"/>
          </a:xfrm>
        </p:spPr>
      </p:pic>
    </p:spTree>
    <p:extLst>
      <p:ext uri="{BB962C8B-B14F-4D97-AF65-F5344CB8AC3E}">
        <p14:creationId xmlns:p14="http://schemas.microsoft.com/office/powerpoint/2010/main" val="52458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359" y="-686409"/>
            <a:ext cx="9601200" cy="1653371"/>
          </a:xfrm>
        </p:spPr>
        <p:txBody>
          <a:bodyPr/>
          <a:lstStyle/>
          <a:p>
            <a:pPr algn="r" rtl="1"/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טיפים קבוצתיים למפגש ראשון</a:t>
            </a:r>
            <a:endParaRPr lang="en-US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8F9C45D-250B-4CC1-47D0-AB50C1994F4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6CEC1-C9E5-9441-39AF-65B18642B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1E197A0-71DC-8810-B1A3-2B3966242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pPr algn="r" rtl="1"/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שימו לב....</a:t>
            </a:r>
            <a:endParaRPr lang="en-US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9F719-356B-E3D3-FD51-52EEB8BA858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014984" y="2087992"/>
            <a:ext cx="8477795" cy="3332832"/>
          </a:xfrm>
        </p:spPr>
        <p:txBody>
          <a:bodyPr/>
          <a:lstStyle/>
          <a:p>
            <a:pPr algn="r" rtl="1"/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במהלך השיחה</a:t>
            </a:r>
            <a:endParaRPr lang="en-US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lvl="1" algn="r" rtl="1"/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האם יש רצון להאריך עוד ועוד את </a:t>
            </a:r>
            <a:r>
              <a:rPr lang="he-IL" dirty="0" err="1">
                <a:latin typeface="David" panose="020E0502060401010101" pitchFamily="34" charset="-79"/>
                <a:cs typeface="David" panose="020E0502060401010101" pitchFamily="34" charset="-79"/>
              </a:rPr>
              <a:t>המינגלינג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 של ההתחלה</a:t>
            </a:r>
            <a:endParaRPr lang="en-US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lvl="1" algn="r" rtl="1"/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האם המנהל מציף בהמון נושאים?</a:t>
            </a:r>
          </a:p>
          <a:p>
            <a:pPr lvl="1" algn="r" rtl="1"/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על מה הוא בוחר לדבר? ועל מה הוא פחות רוצה?</a:t>
            </a:r>
          </a:p>
          <a:p>
            <a:pPr lvl="1" algn="r" rtl="1"/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האם יש מילים חוזרות?</a:t>
            </a:r>
            <a:endParaRPr lang="en-US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lvl="1" algn="r" rtl="1"/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האם הוא לוקח אחריות  (או לחלופין קיימת תנועה של יצירת תלות : תטפל עבורי ב... תדבר עם )</a:t>
            </a:r>
            <a:endParaRPr lang="en-US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66266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F5EE67-DE83-C00F-F31C-58A2B462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085"/>
            <a:ext cx="9779183" cy="1600835"/>
          </a:xfrm>
        </p:spPr>
        <p:txBody>
          <a:bodyPr/>
          <a:lstStyle/>
          <a:p>
            <a:r>
              <a:rPr lang="he-IL" dirty="0"/>
              <a:t>אחרי הפגישה ראשונה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7743C-9A64-6DD7-26EC-7870E2484D2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166813" y="2652713"/>
            <a:ext cx="9780587" cy="3436937"/>
          </a:xfrm>
        </p:spPr>
        <p:txBody>
          <a:bodyPr>
            <a:normAutofit fontScale="85000" lnSpcReduction="20000"/>
          </a:bodyPr>
          <a:lstStyle/>
          <a:p>
            <a:pPr algn="r" rtl="1"/>
            <a:r>
              <a:rPr lang="he-IL" sz="2800" dirty="0"/>
              <a:t>כדאי לכתוב לעצמכם סיכום כתוב אחרי המפגש</a:t>
            </a:r>
          </a:p>
          <a:p>
            <a:pPr lvl="3" algn="r" rtl="1"/>
            <a:r>
              <a:rPr lang="he-IL" sz="2800" dirty="0"/>
              <a:t>איזה מילים שמעתם את עצמכם אומרים הרבה?</a:t>
            </a:r>
          </a:p>
          <a:p>
            <a:pPr lvl="3" algn="r" rtl="1"/>
            <a:r>
              <a:rPr lang="he-IL" sz="2800" dirty="0"/>
              <a:t>איזה מילה נמנעתם מלהגיד?</a:t>
            </a:r>
          </a:p>
          <a:p>
            <a:pPr lvl="3" algn="r" rtl="1"/>
            <a:r>
              <a:rPr lang="he-IL" sz="2800" dirty="0"/>
              <a:t>מה הפתיע אתכם</a:t>
            </a:r>
          </a:p>
          <a:p>
            <a:pPr lvl="3" algn="r" rtl="1"/>
            <a:r>
              <a:rPr lang="he-IL" sz="2800" dirty="0"/>
              <a:t>עם איזה שאלה יצאתם</a:t>
            </a:r>
          </a:p>
          <a:p>
            <a:pPr lvl="3" algn="r" rtl="1"/>
            <a:r>
              <a:rPr lang="he-IL" sz="2800" dirty="0"/>
              <a:t>האם סימנתם משהו לפעם הבאה?</a:t>
            </a:r>
          </a:p>
          <a:p>
            <a:pPr marL="59436" indent="0" algn="r" rtl="1">
              <a:buNone/>
            </a:pPr>
            <a:endParaRPr lang="he-IL" sz="2800" dirty="0"/>
          </a:p>
          <a:p>
            <a:pPr algn="r" rtl="1"/>
            <a:r>
              <a:rPr lang="he-IL" sz="2800" dirty="0"/>
              <a:t>לפעמים שווה לכתוב </a:t>
            </a:r>
            <a:r>
              <a:rPr lang="he-IL" sz="2800" dirty="0" err="1"/>
              <a:t>למנטי</a:t>
            </a:r>
            <a:r>
              <a:rPr lang="he-IL" sz="2800" dirty="0"/>
              <a:t> כמה מילים כסיכום.</a:t>
            </a:r>
          </a:p>
          <a:p>
            <a:pPr algn="r" rtl="1"/>
            <a:r>
              <a:rPr lang="he-IL" sz="2800" dirty="0"/>
              <a:t>כדאי לקבוע את המפגש השני במרווח זמן לא רחוק מהמפגש הראשון</a:t>
            </a:r>
          </a:p>
          <a:p>
            <a:pPr algn="r" rt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338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C7FC500-BBFB-3AA4-BEDE-038CB94FFF61}"/>
              </a:ext>
            </a:extLst>
          </p:cNvPr>
          <p:cNvSpPr>
            <a:spLocks noGrp="1" noChangeAspect="1"/>
          </p:cNvSpPr>
          <p:nvPr>
            <p:ph idx="17"/>
          </p:nvPr>
        </p:nvSpPr>
        <p:spPr>
          <a:xfrm>
            <a:off x="823108" y="640080"/>
            <a:ext cx="4297680" cy="4297680"/>
          </a:xfrm>
        </p:spPr>
        <p:txBody>
          <a:bodyPr/>
          <a:lstStyle/>
          <a:p>
            <a:r>
              <a:rPr lang="he-IL" sz="3200" dirty="0"/>
              <a:t>פגישה ראשונה מאד חשובה</a:t>
            </a:r>
          </a:p>
          <a:p>
            <a:r>
              <a:rPr lang="he-IL" sz="3200" dirty="0"/>
              <a:t>אבל היא רק פגישה ראשונה...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85326102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{1E71D664-B519-4C51-8384-DE712D833992}TF0e83fa2d-9a66-4e5e-9e82-acc620be7a498e277179_win32-f234380521c6</Template>
  <TotalTime>1664</TotalTime>
  <Words>286</Words>
  <Application>Microsoft Office PowerPoint</Application>
  <PresentationFormat>Widescreen</PresentationFormat>
  <Paragraphs>69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David</vt:lpstr>
      <vt:lpstr>Tenorite</vt:lpstr>
      <vt:lpstr>Wingdings</vt:lpstr>
      <vt:lpstr>Custom</vt:lpstr>
      <vt:lpstr>פגישות מנטורינג </vt:lpstr>
      <vt:lpstr>PowerPoint Presentation</vt:lpstr>
      <vt:lpstr>PowerPoint Presentation</vt:lpstr>
      <vt:lpstr>תכנון פגישה ראשונה</vt:lpstr>
      <vt:lpstr>כניסה לבית הספר שימו לב....</vt:lpstr>
      <vt:lpstr>מה חשוב  שיקרה בפגישה הראשונה?</vt:lpstr>
      <vt:lpstr>הפגישה הראשונה בעיקרה היא תשתית ליצירת האמון</vt:lpstr>
      <vt:lpstr>מה גורם לי לתת אמון ביעוץ?</vt:lpstr>
      <vt:lpstr>הפגישה הראשונה  היא בעיקר תשתית ליצירת האמון</vt:lpstr>
      <vt:lpstr>PowerPoint Presentation</vt:lpstr>
      <vt:lpstr>טיפים קבוצתיים למפגש ראשון</vt:lpstr>
      <vt:lpstr>שימו לב....</vt:lpstr>
      <vt:lpstr>אחרי הפגישה ראשונה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Shlomit Kislev</dc:creator>
  <cp:lastModifiedBy>Shlomit Kislev</cp:lastModifiedBy>
  <cp:revision>11</cp:revision>
  <dcterms:created xsi:type="dcterms:W3CDTF">2025-10-21T05:24:32Z</dcterms:created>
  <dcterms:modified xsi:type="dcterms:W3CDTF">2025-10-22T13:45:36Z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b5194bbc-032f-47bb-9abc-b93ce9e451bf_Enabled">
    <vt:lpwstr>true</vt:lpwstr>
  </property>
  <property fmtid="{D5CDD505-2E9C-101B-9397-08002B2CF9AE}" pid="4" name="MSIP_Label_b5194bbc-032f-47bb-9abc-b93ce9e451bf_SetDate">
    <vt:lpwstr>2025-10-21T10:00:59Z</vt:lpwstr>
  </property>
  <property fmtid="{D5CDD505-2E9C-101B-9397-08002B2CF9AE}" pid="5" name="MSIP_Label_b5194bbc-032f-47bb-9abc-b93ce9e451bf_Method">
    <vt:lpwstr>Standard</vt:lpwstr>
  </property>
  <property fmtid="{D5CDD505-2E9C-101B-9397-08002B2CF9AE}" pid="6" name="MSIP_Label_b5194bbc-032f-47bb-9abc-b93ce9e451bf_Name">
    <vt:lpwstr>defa4170-0d19-0005-0004-bc88714345d2</vt:lpwstr>
  </property>
  <property fmtid="{D5CDD505-2E9C-101B-9397-08002B2CF9AE}" pid="7" name="MSIP_Label_b5194bbc-032f-47bb-9abc-b93ce9e451bf_SiteId">
    <vt:lpwstr>89549929-c3f4-4716-8ef4-0b2d475c2d50</vt:lpwstr>
  </property>
  <property fmtid="{D5CDD505-2E9C-101B-9397-08002B2CF9AE}" pid="8" name="MSIP_Label_b5194bbc-032f-47bb-9abc-b93ce9e451bf_ActionId">
    <vt:lpwstr>169a5885-a53c-40de-a5f4-7886ad21ee37</vt:lpwstr>
  </property>
  <property fmtid="{D5CDD505-2E9C-101B-9397-08002B2CF9AE}" pid="9" name="MSIP_Label_b5194bbc-032f-47bb-9abc-b93ce9e451bf_ContentBits">
    <vt:lpwstr>0</vt:lpwstr>
  </property>
  <property fmtid="{D5CDD505-2E9C-101B-9397-08002B2CF9AE}" pid="10" name="MSIP_Label_b5194bbc-032f-47bb-9abc-b93ce9e451bf_Tag">
    <vt:lpwstr>10, 3, 0, 1</vt:lpwstr>
  </property>
</Properties>
</file>