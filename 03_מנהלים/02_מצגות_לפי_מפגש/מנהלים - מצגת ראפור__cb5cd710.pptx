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47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Rnbw+Tj63w1BPlfMx3eNJQnst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FDA344-4FDC-460C-870C-B47D22B16262}">
  <a:tblStyle styleId="{81FDA344-4FDC-460C-870C-B47D22B162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4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b393bb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b393bb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9079ef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a99079ef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/>
          <p:nvPr>
            <p:ph idx="2" type="sldImg"/>
          </p:nvPr>
        </p:nvSpPr>
        <p:spPr>
          <a:xfrm>
            <a:off x="381000" y="685800"/>
            <a:ext cx="609758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9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9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w-I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32a91435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a032a91435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67ebacaa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a567ebacaa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0537b3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10537b3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67ebacaa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567ebacaa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67ebacaa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a567ebacaa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81000" y="685800"/>
            <a:ext cx="609758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w-I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32a91435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a032a91435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99079ef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99079ef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032a91435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a032a91435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w-IL"/>
              <a:t>סרטון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youtu.be/_JmA2ClUvUY" TargetMode="External"/><Relationship Id="rId5" Type="http://schemas.openxmlformats.org/officeDocument/2006/relationships/image" Target="../media/image17.png"/><Relationship Id="rId6" Type="http://schemas.openxmlformats.org/officeDocument/2006/relationships/hyperlink" Target="https://youtu.be/_JmA2ClUvU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youtube.com/watch?feature=shared&amp;v=j3tBJvY2u3k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://youtube.com/watch?feature=shared&amp;v=j3tBJvY2u3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HEaERAnIqsY" TargetMode="External"/><Relationship Id="rId5" Type="http://schemas.openxmlformats.org/officeDocument/2006/relationships/image" Target="../media/image20.png"/><Relationship Id="rId6" Type="http://schemas.openxmlformats.org/officeDocument/2006/relationships/hyperlink" Target="https://www.youtube.com/watch?v=HEaERAnIqs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6b393bbe1_0_0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" name="Google Shape;60;g3a6b393bbe1_0_0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61" name="Google Shape;61;g3a6b393bbe1_0_0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id="62" name="Google Shape;62;g3a6b393bbe1_0_0"/>
          <p:cNvPicPr preferRelativeResize="0"/>
          <p:nvPr/>
        </p:nvPicPr>
        <p:blipFill rotWithShape="1">
          <a:blip r:embed="rId3">
            <a:alphaModFix/>
          </a:blip>
          <a:srcRect b="0" l="1671" r="0" t="0"/>
          <a:stretch/>
        </p:blipFill>
        <p:spPr>
          <a:xfrm>
            <a:off x="0" y="-655476"/>
            <a:ext cx="9144000" cy="620033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a6b393bbe1_0_0"/>
          <p:cNvSpPr txBox="1"/>
          <p:nvPr/>
        </p:nvSpPr>
        <p:spPr>
          <a:xfrm>
            <a:off x="-458775" y="109688"/>
            <a:ext cx="47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ראפור</a:t>
            </a:r>
            <a:endParaRPr b="0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a6b393bbe1_0_0"/>
          <p:cNvSpPr txBox="1"/>
          <p:nvPr/>
        </p:nvSpPr>
        <p:spPr>
          <a:xfrm>
            <a:off x="138875" y="109688"/>
            <a:ext cx="243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2"/>
                </a:solidFill>
              </a:rPr>
              <a:t> Rapport</a:t>
            </a:r>
            <a:endParaRPr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" type="body"/>
          </p:nvPr>
        </p:nvSpPr>
        <p:spPr>
          <a:xfrm>
            <a:off x="7102929" y="1600200"/>
            <a:ext cx="1853292" cy="1036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1" algn="r">
              <a:lnSpc>
                <a:spcPct val="107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iw-IL" sz="1800">
                <a:latin typeface="Arial"/>
                <a:ea typeface="Arial"/>
                <a:cs typeface="Arial"/>
                <a:sym typeface="Arial"/>
              </a:rPr>
              <a:t>מסתכלים בלבן של העין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25400" rtl="1" algn="r">
              <a:lnSpc>
                <a:spcPct val="115000"/>
              </a:lnSpc>
              <a:spcBef>
                <a:spcPts val="14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צילום תקריב של עין של אדם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560" y="0"/>
            <a:ext cx="708251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9079ef57_1_0"/>
          <p:cNvSpPr txBox="1"/>
          <p:nvPr>
            <p:ph idx="1" type="body"/>
          </p:nvPr>
        </p:nvSpPr>
        <p:spPr>
          <a:xfrm>
            <a:off x="1184137" y="1600200"/>
            <a:ext cx="77721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1" algn="r">
              <a:lnSpc>
                <a:spcPct val="87000"/>
              </a:lnSpc>
              <a:spcBef>
                <a:spcPts val="640"/>
              </a:spcBef>
              <a:spcAft>
                <a:spcPts val="0"/>
              </a:spcAft>
              <a:buSzPts val="2960"/>
              <a:buNone/>
            </a:pPr>
            <a:r>
              <a:rPr b="1" lang="iw-IL" sz="4065"/>
              <a:t>מי שצופים בו - צפוי.  </a:t>
            </a:r>
            <a:endParaRPr b="1" sz="4065"/>
          </a:p>
          <a:p>
            <a:pPr indent="-431800" lvl="0" marL="457200" rtl="1" algn="r">
              <a:lnSpc>
                <a:spcPct val="87000"/>
              </a:lnSpc>
              <a:spcBef>
                <a:spcPts val="640"/>
              </a:spcBef>
              <a:spcAft>
                <a:spcPts val="0"/>
              </a:spcAft>
              <a:buSzPts val="2960"/>
              <a:buNone/>
            </a:pPr>
            <a:r>
              <a:rPr b="1" lang="iw-IL" sz="4065"/>
              <a:t>ומי שרואים אותו - ראוי.</a:t>
            </a:r>
            <a:endParaRPr sz="4065"/>
          </a:p>
        </p:txBody>
      </p:sp>
      <p:pic>
        <p:nvPicPr>
          <p:cNvPr descr="צילום תקריב של עין של אדם" id="76" name="Google Shape;76;g3a99079ef57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556" y="3171350"/>
            <a:ext cx="2715600" cy="197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309700" y="1894413"/>
            <a:ext cx="4429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iw-IL" sz="3140"/>
              <a:t>מה יוצר חיבור אמיתי בין א.נשים?</a:t>
            </a:r>
            <a:endParaRPr sz="3140"/>
          </a:p>
        </p:txBody>
      </p:sp>
      <p:pic>
        <p:nvPicPr>
          <p:cNvPr descr="Three Young Female Friends Meeting Sit At Table In Coffee Shop And Talk" id="82" name="Google Shape;82;p8"/>
          <p:cNvPicPr preferRelativeResize="0"/>
          <p:nvPr/>
        </p:nvPicPr>
        <p:blipFill rotWithShape="1">
          <a:blip r:embed="rId3">
            <a:alphaModFix/>
          </a:blip>
          <a:srcRect b="-2161" l="2911" r="51709" t="-5822"/>
          <a:stretch/>
        </p:blipFill>
        <p:spPr>
          <a:xfrm>
            <a:off x="5286375" y="-744599"/>
            <a:ext cx="3857625" cy="6119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/>
              <a:t>מה הכי משפיע בתקשורת בין אישית?</a:t>
            </a:r>
            <a:endParaRPr/>
          </a:p>
        </p:txBody>
      </p:sp>
      <p:graphicFrame>
        <p:nvGraphicFramePr>
          <p:cNvPr id="89" name="Google Shape;89;p9"/>
          <p:cNvGraphicFramePr/>
          <p:nvPr/>
        </p:nvGraphicFramePr>
        <p:xfrm>
          <a:off x="952500" y="160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{81FDA344-4FDC-460C-870C-B47D22B16262}</a:tableStyleId>
              </a:tblPr>
              <a:tblGrid>
                <a:gridCol w="1368950"/>
                <a:gridCol w="345705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ב-%</a:t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שפת גוף (הבעות פנים, מנח, קשר עין)</a:t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טון קול  (אינטונציה, קצב, עוצמה)</a:t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מילים (מה שנאמר, התוכן המילולי עצמו)</a:t>
                      </a:r>
                      <a:endParaRPr sz="2400" u="none" cap="none" strike="noStrike"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90" name="Google Shape;90;p9"/>
          <p:cNvSpPr txBox="1"/>
          <p:nvPr/>
        </p:nvSpPr>
        <p:spPr>
          <a:xfrm>
            <a:off x="229175" y="4159938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מרהאביאן (1971)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314" y="349498"/>
            <a:ext cx="6392636" cy="279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2771236"/>
            <a:ext cx="3956101" cy="222530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/>
        </p:nvSpPr>
        <p:spPr>
          <a:xfrm>
            <a:off x="56130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6"/>
              </a:rPr>
              <a:t>https://youtu.be/_JmA2ClUvUY</a:t>
            </a:r>
            <a:r>
              <a:rPr lang="iw-IL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32a91435_2_70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3" name="Google Shape;103;g3a032a91435_2_70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4" name="Google Shape;104;g3a032a91435_2_70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id="105" name="Google Shape;105;g3a032a91435_2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76" y="1"/>
            <a:ext cx="9007850" cy="58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ctrTitle"/>
          </p:nvPr>
        </p:nvSpPr>
        <p:spPr>
          <a:xfrm>
            <a:off x="83104" y="-863800"/>
            <a:ext cx="4185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w-IL" sz="4000"/>
              <a:t>ראפור</a:t>
            </a:r>
            <a:endParaRPr sz="4000"/>
          </a:p>
        </p:txBody>
      </p:sp>
      <p:sp>
        <p:nvSpPr>
          <p:cNvPr id="111" name="Google Shape;111;p11"/>
          <p:cNvSpPr txBox="1"/>
          <p:nvPr/>
        </p:nvSpPr>
        <p:spPr>
          <a:xfrm>
            <a:off x="387900" y="1740613"/>
            <a:ext cx="3575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קש</a:t>
            </a: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ר של קרב</a:t>
            </a:r>
            <a:r>
              <a:rPr b="0" i="0" lang="iw-IL" sz="3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ה והרמוניה בין שני צדדים או יותר.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22258" r="14542" t="0"/>
          <a:stretch/>
        </p:blipFill>
        <p:spPr>
          <a:xfrm>
            <a:off x="4806367" y="0"/>
            <a:ext cx="4664682" cy="492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1"/>
          <p:cNvSpPr txBox="1"/>
          <p:nvPr/>
        </p:nvSpPr>
        <p:spPr>
          <a:xfrm>
            <a:off x="2371875" y="719550"/>
            <a:ext cx="682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-2465225" y="3591325"/>
            <a:ext cx="91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567ebacaa_2_1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/>
              <a:t>למה אנחנו עושים ראפור?</a:t>
            </a:r>
            <a:endParaRPr/>
          </a:p>
        </p:txBody>
      </p:sp>
      <p:sp>
        <p:nvSpPr>
          <p:cNvPr id="120" name="Google Shape;120;g3a567ebacaa_2_1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4200"/>
              <a:buChar char="●"/>
            </a:pPr>
            <a:r>
              <a:rPr lang="iw-IL" sz="2800"/>
              <a:t>התחברות</a:t>
            </a:r>
            <a:endParaRPr sz="2800"/>
          </a:p>
          <a:p>
            <a:pPr indent="-495300" lvl="0" marL="457200" rtl="1" algn="r"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iw-IL" sz="2800"/>
              <a:t>להיכנס לעולם של האחר</a:t>
            </a:r>
            <a:endParaRPr sz="2800"/>
          </a:p>
          <a:p>
            <a:pPr indent="-4572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iw-IL" sz="2800"/>
              <a:t>הובלה - Pacing and Leading</a:t>
            </a:r>
            <a:endParaRPr sz="2800"/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1" name="Google Shape;121;g3a567ebacaa_2_1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22" name="Google Shape;122;g3a567ebacaa_2_1"/>
          <p:cNvSpPr txBox="1"/>
          <p:nvPr/>
        </p:nvSpPr>
        <p:spPr>
          <a:xfrm>
            <a:off x="-243450" y="4291300"/>
            <a:ext cx="919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People </a:t>
            </a:r>
            <a:r>
              <a:rPr lang="iw-IL" sz="2800">
                <a:solidFill>
                  <a:schemeClr val="dk2"/>
                </a:solidFill>
              </a:rPr>
              <a:t>l</a:t>
            </a:r>
            <a:r>
              <a:rPr b="0" i="0" lang="iw-IL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ike people that are like them 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a567ebacaa_2_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196" y="2187025"/>
            <a:ext cx="1415599" cy="146043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a567ebacaa_2_1"/>
          <p:cNvSpPr txBox="1"/>
          <p:nvPr/>
        </p:nvSpPr>
        <p:spPr>
          <a:xfrm>
            <a:off x="457200" y="3647450"/>
            <a:ext cx="686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100" u="sng">
                <a:solidFill>
                  <a:schemeClr val="hlink"/>
                </a:solidFill>
                <a:hlinkClick r:id="rId5"/>
              </a:rPr>
              <a:t>youtube.com/watch?feature=shared&amp;v=j3tBJvY2u3k</a:t>
            </a:r>
            <a:r>
              <a:rPr lang="iw-IL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10537b3aa_0_69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grpSp>
        <p:nvGrpSpPr>
          <p:cNvPr id="130" name="Google Shape;130;g3910537b3aa_0_69"/>
          <p:cNvGrpSpPr/>
          <p:nvPr/>
        </p:nvGrpSpPr>
        <p:grpSpPr>
          <a:xfrm>
            <a:off x="242750" y="3043500"/>
            <a:ext cx="2997600" cy="2100001"/>
            <a:chOff x="242750" y="3043500"/>
            <a:chExt cx="2997600" cy="2100001"/>
          </a:xfrm>
        </p:grpSpPr>
        <p:pic>
          <p:nvPicPr>
            <p:cNvPr id="131" name="Google Shape;131;g3910537b3aa_0_69"/>
            <p:cNvPicPr preferRelativeResize="0"/>
            <p:nvPr/>
          </p:nvPicPr>
          <p:blipFill rotWithShape="1">
            <a:blip r:embed="rId3">
              <a:alphaModFix/>
            </a:blip>
            <a:srcRect b="7427" l="55382" r="23410" t="70286"/>
            <a:stretch/>
          </p:blipFill>
          <p:spPr>
            <a:xfrm>
              <a:off x="242750" y="3043500"/>
              <a:ext cx="2997600" cy="2100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g3910537b3aa_0_69"/>
            <p:cNvSpPr txBox="1"/>
            <p:nvPr/>
          </p:nvSpPr>
          <p:spPr>
            <a:xfrm>
              <a:off x="463310" y="3686449"/>
              <a:ext cx="1879500" cy="10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1" i="0" lang="iw-IL" sz="55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רצון</a:t>
              </a:r>
              <a:endParaRPr b="1" i="0" sz="5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g3910537b3aa_0_69"/>
          <p:cNvSpPr txBox="1"/>
          <p:nvPr/>
        </p:nvSpPr>
        <p:spPr>
          <a:xfrm>
            <a:off x="669575" y="1247850"/>
            <a:ext cx="6025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iw-IL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לרצות להתחבר מהלב</a:t>
            </a:r>
            <a:endParaRPr b="0" i="0" sz="3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910537b3aa_0_69"/>
          <p:cNvPicPr preferRelativeResize="0"/>
          <p:nvPr/>
        </p:nvPicPr>
        <p:blipFill rotWithShape="1">
          <a:blip r:embed="rId4">
            <a:alphaModFix/>
          </a:blip>
          <a:srcRect b="4605" l="23088" r="21194" t="11041"/>
          <a:stretch/>
        </p:blipFill>
        <p:spPr>
          <a:xfrm>
            <a:off x="6667289" y="3152150"/>
            <a:ext cx="2476712" cy="21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910537b3aa_0_69"/>
          <p:cNvSpPr txBox="1"/>
          <p:nvPr/>
        </p:nvSpPr>
        <p:spPr>
          <a:xfrm>
            <a:off x="3682625" y="231200"/>
            <a:ext cx="468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iw-IL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איך עושים ראפור?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567ebacaa_2_8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id="141" name="Google Shape;141;g3a567ebacaa_2_8"/>
          <p:cNvPicPr preferRelativeResize="0"/>
          <p:nvPr/>
        </p:nvPicPr>
        <p:blipFill rotWithShape="1">
          <a:blip r:embed="rId3">
            <a:alphaModFix/>
          </a:blip>
          <a:srcRect b="6783" l="31256" r="47744" t="70285"/>
          <a:stretch/>
        </p:blipFill>
        <p:spPr>
          <a:xfrm>
            <a:off x="-31577" y="3103200"/>
            <a:ext cx="2968124" cy="216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567ebacaa_2_8"/>
          <p:cNvSpPr txBox="1"/>
          <p:nvPr/>
        </p:nvSpPr>
        <p:spPr>
          <a:xfrm>
            <a:off x="669860" y="3591525"/>
            <a:ext cx="2435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iw-IL" sz="5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נוכחות</a:t>
            </a:r>
            <a:endParaRPr b="1" i="0" sz="5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a567ebacaa_2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075" y="426100"/>
            <a:ext cx="1765225" cy="17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567ebacaa_2_8"/>
          <p:cNvSpPr txBox="1"/>
          <p:nvPr/>
        </p:nvSpPr>
        <p:spPr>
          <a:xfrm>
            <a:off x="2663750" y="0"/>
            <a:ext cx="58884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iw-IL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להיות פנוי להתחבר - Mindfulness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iw-IL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נוכחות מלאה 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iw-IL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הצד השני במרכז.   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iw-IL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כולך בשיחה, בלי טלפון, בלי מחשבות מקבילות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567ebacaa_2_2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pic>
        <p:nvPicPr>
          <p:cNvPr id="150" name="Google Shape;150;g3a567ebacaa_2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850" y="0"/>
            <a:ext cx="7989151" cy="53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a567ebacaa_2_25"/>
          <p:cNvSpPr txBox="1"/>
          <p:nvPr/>
        </p:nvSpPr>
        <p:spPr>
          <a:xfrm>
            <a:off x="5904375" y="4049200"/>
            <a:ext cx="88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רצון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a567ebacaa_2_25"/>
          <p:cNvSpPr txBox="1"/>
          <p:nvPr/>
        </p:nvSpPr>
        <p:spPr>
          <a:xfrm>
            <a:off x="4200037" y="4049197"/>
            <a:ext cx="1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נוכחות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a567ebacaa_2_25"/>
          <p:cNvSpPr txBox="1"/>
          <p:nvPr/>
        </p:nvSpPr>
        <p:spPr>
          <a:xfrm>
            <a:off x="2647875" y="663675"/>
            <a:ext cx="325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שפת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גוף 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a567ebacaa_2_25"/>
          <p:cNvSpPr txBox="1"/>
          <p:nvPr/>
        </p:nvSpPr>
        <p:spPr>
          <a:xfrm>
            <a:off x="4464575" y="1971738"/>
            <a:ext cx="185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אינטונציה 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a567ebacaa_2_25"/>
          <p:cNvSpPr txBox="1"/>
          <p:nvPr/>
        </p:nvSpPr>
        <p:spPr>
          <a:xfrm>
            <a:off x="4221075" y="2864325"/>
            <a:ext cx="185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iw-IL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מילים</a:t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/>
          <p:nvPr/>
        </p:nvSpPr>
        <p:spPr>
          <a:xfrm>
            <a:off x="3429000" y="-270895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13"/>
          <p:cNvGraphicFramePr/>
          <p:nvPr/>
        </p:nvGraphicFramePr>
        <p:xfrm>
          <a:off x="639038" y="819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{81FDA344-4FDC-460C-870C-B47D22B16262}</a:tableStyleId>
              </a:tblPr>
              <a:tblGrid>
                <a:gridCol w="3932975"/>
                <a:gridCol w="2380775"/>
              </a:tblGrid>
              <a:tr h="5275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iw-IL" sz="2800" u="none" cap="none" strike="noStrike">
                          <a:solidFill>
                            <a:schemeClr val="lt1"/>
                          </a:solidFill>
                        </a:rPr>
                        <a:t>עקרונות מרכזיים</a:t>
                      </a:r>
                      <a:endParaRPr b="1" sz="28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iw-IL" sz="2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רובד</a:t>
                      </a:r>
                      <a:endParaRPr b="1" i="0" sz="2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0097A7"/>
                    </a:solidFill>
                  </a:tcPr>
                </a:tc>
              </a:tr>
              <a:tr h="9454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התאמת יציבה, תנועות, מרחק, קשר עין, קצב נשימה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iw-IL" sz="2400" u="none" cap="none" strike="noStrike"/>
                        <a:t>שפת גוף 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89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התאמת עוצמה, מהירות ודינמיקה קולית לצד השני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iw-IL" sz="2400" u="none" cap="none" strike="noStrike"/>
                        <a:t>אינטונציה 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שפה דומה, שאלות פתוחות, סיכום דברי הזולת, מתן תוקף לרגש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iw-IL" sz="2400" u="none" cap="none" strike="noStrike"/>
                        <a:t>מילים 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3"/>
          <p:cNvSpPr txBox="1"/>
          <p:nvPr>
            <p:ph type="title"/>
          </p:nvPr>
        </p:nvSpPr>
        <p:spPr>
          <a:xfrm>
            <a:off x="355874" y="118613"/>
            <a:ext cx="8229600" cy="572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iw-IL">
                <a:solidFill>
                  <a:schemeClr val="dk1"/>
                </a:solidFill>
              </a:rPr>
              <a:t>איך יוצרים ראפור?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63" name="Google Shape;163;p13"/>
          <p:cNvPicPr preferRelativeResize="0"/>
          <p:nvPr/>
        </p:nvPicPr>
        <p:blipFill rotWithShape="1">
          <a:blip r:embed="rId3">
            <a:alphaModFix/>
          </a:blip>
          <a:srcRect b="0" l="0" r="0" t="6751"/>
          <a:stretch/>
        </p:blipFill>
        <p:spPr>
          <a:xfrm>
            <a:off x="7257600" y="1034776"/>
            <a:ext cx="1886400" cy="26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313303" y="23172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 sz="3600">
                <a:solidFill>
                  <a:schemeClr val="dk1"/>
                </a:solidFill>
              </a:rPr>
              <a:t>איך עושים ראפור בפיזיולוגיה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956300" y="2673013"/>
            <a:ext cx="3568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313303" y="3879503"/>
            <a:ext cx="53256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Cross-over mirroring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ראה תמונה בגודל מלא"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1425" y="2914650"/>
            <a:ext cx="914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ראה תמונה בגודל מלא" id="173" name="Google Shape;1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480" y="2883607"/>
            <a:ext cx="650081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ראה תמונה בגודל מלא" id="174" name="Google Shape;1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831590"/>
            <a:ext cx="650081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ראה תמונה בגודל מלא" id="175" name="Google Shape;1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1831590"/>
            <a:ext cx="65008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/>
          <p:nvPr/>
        </p:nvSpPr>
        <p:spPr>
          <a:xfrm>
            <a:off x="5791200" y="1714500"/>
            <a:ext cx="3568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שיקוף זהה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5791200" y="4011930"/>
            <a:ext cx="3568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שיקוף עקיף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6976279" y="2863215"/>
            <a:ext cx="2383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49262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מראה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13303" y="1828800"/>
            <a:ext cx="2475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313303" y="2854152"/>
            <a:ext cx="2409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Mirroring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032a91435_2_106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86" name="Google Shape;186;g3a032a91435_2_106"/>
          <p:cNvSpPr txBox="1"/>
          <p:nvPr/>
        </p:nvSpPr>
        <p:spPr>
          <a:xfrm>
            <a:off x="1820550" y="87750"/>
            <a:ext cx="550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w-IL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זיכרון ילדות ראשון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מבוגר וילד עם סירת מפרש של מקום" id="187" name="Google Shape;187;g3a032a91435_2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588" y="914401"/>
            <a:ext cx="5574824" cy="406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99079ef57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99079ef57_0_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g3a99079ef5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942" y="152400"/>
            <a:ext cx="516091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99079ef57_0_7"/>
          <p:cNvSpPr txBox="1"/>
          <p:nvPr/>
        </p:nvSpPr>
        <p:spPr>
          <a:xfrm>
            <a:off x="-1611925" y="3922325"/>
            <a:ext cx="51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1800">
                <a:solidFill>
                  <a:schemeClr val="dk2"/>
                </a:solidFill>
              </a:rPr>
              <a:t>הקנג'י של הקשבה בסינית (מנדרין)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ני אנשים מדברים בחדר מדרגות"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"/>
            <a:ext cx="91440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a032a91435_2_234"/>
          <p:cNvPicPr preferRelativeResize="0"/>
          <p:nvPr/>
        </p:nvPicPr>
        <p:blipFill rotWithShape="1">
          <a:blip r:embed="rId3">
            <a:alphaModFix/>
          </a:blip>
          <a:srcRect b="0" l="77600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a032a91435_2_234"/>
          <p:cNvSpPr txBox="1"/>
          <p:nvPr/>
        </p:nvSpPr>
        <p:spPr>
          <a:xfrm>
            <a:off x="7405575" y="761900"/>
            <a:ext cx="163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w-IL" sz="3300" u="none" cap="none" strike="noStrike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סיכום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a032a91435_2_23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3400" y="1283725"/>
            <a:ext cx="246697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a032a91435_2_234"/>
          <p:cNvSpPr txBox="1"/>
          <p:nvPr/>
        </p:nvSpPr>
        <p:spPr>
          <a:xfrm>
            <a:off x="1109638" y="3282725"/>
            <a:ext cx="519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6"/>
              </a:rPr>
              <a:t>https://www.youtube.com/watch?v=HEaERAnIqsY</a:t>
            </a:r>
            <a:r>
              <a:rPr lang="iw-IL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Michal Graph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94bbc-032f-47bb-9abc-b93ce9e451bf_Enabled">
    <vt:lpwstr>true</vt:lpwstr>
  </property>
  <property fmtid="{D5CDD505-2E9C-101B-9397-08002B2CF9AE}" pid="3" name="MSIP_Label_b5194bbc-032f-47bb-9abc-b93ce9e451bf_SetDate">
    <vt:lpwstr>2025-10-30T21:39:28Z</vt:lpwstr>
  </property>
  <property fmtid="{D5CDD505-2E9C-101B-9397-08002B2CF9AE}" pid="4" name="MSIP_Label_b5194bbc-032f-47bb-9abc-b93ce9e451bf_Method">
    <vt:lpwstr>Standard</vt:lpwstr>
  </property>
  <property fmtid="{D5CDD505-2E9C-101B-9397-08002B2CF9AE}" pid="5" name="MSIP_Label_b5194bbc-032f-47bb-9abc-b93ce9e451bf_Name">
    <vt:lpwstr>defa4170-0d19-0005-0004-bc88714345d2</vt:lpwstr>
  </property>
  <property fmtid="{D5CDD505-2E9C-101B-9397-08002B2CF9AE}" pid="6" name="MSIP_Label_b5194bbc-032f-47bb-9abc-b93ce9e451bf_SiteId">
    <vt:lpwstr>89549929-c3f4-4716-8ef4-0b2d475c2d50</vt:lpwstr>
  </property>
  <property fmtid="{D5CDD505-2E9C-101B-9397-08002B2CF9AE}" pid="7" name="MSIP_Label_b5194bbc-032f-47bb-9abc-b93ce9e451bf_ActionId">
    <vt:lpwstr>5e1581b2-9eed-481a-884e-d9549979a960</vt:lpwstr>
  </property>
  <property fmtid="{D5CDD505-2E9C-101B-9397-08002B2CF9AE}" pid="8" name="MSIP_Label_b5194bbc-032f-47bb-9abc-b93ce9e451bf_ContentBits">
    <vt:lpwstr>0</vt:lpwstr>
  </property>
  <property fmtid="{D5CDD505-2E9C-101B-9397-08002B2CF9AE}" pid="9" name="MSIP_Label_b5194bbc-032f-47bb-9abc-b93ce9e451bf_Tag">
    <vt:lpwstr>10, 3, 0, 1</vt:lpwstr>
  </property>
</Properties>
</file>