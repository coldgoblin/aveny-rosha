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9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FF4"/>
    <a:srgbClr val="154FA6"/>
    <a:srgbClr val="1650A7"/>
    <a:srgbClr val="87D8D1"/>
    <a:srgbClr val="0169B8"/>
    <a:srgbClr val="0167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7322" autoAdjust="0"/>
  </p:normalViewPr>
  <p:slideViewPr>
    <p:cSldViewPr snapToGrid="0">
      <p:cViewPr varScale="1">
        <p:scale>
          <a:sx n="55" d="100"/>
          <a:sy n="55" d="100"/>
        </p:scale>
        <p:origin x="1096" y="28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5B4CD960-E887-4B27-988D-2FB79B34093D}" type="datetimeFigureOut">
              <a:rPr lang="he-IL" smtClean="0"/>
              <a:t>י"ט/אייר/תשפ"ו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8122AE9B-3EAC-4AA3-B8D7-70F756D3014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08187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0C75D-F6AE-F8B7-3EF7-50E480AFE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666895-AB6F-31A4-7385-BB81E428B6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910B0-4E90-5CC3-D116-0AB9F81FE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86C4-2253-4F54-9E8B-893E3CC3A5F3}" type="datetimeFigureOut">
              <a:rPr lang="he-IL" smtClean="0"/>
              <a:t>י"ט/אייר/תשפ"ו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7B759-80DE-A8B1-CA3A-168D06CD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7900C-9EB9-AE3A-18D5-5E66804C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F7-9EEE-4293-AC24-69FDAFFC94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69074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B9D44-7E81-5EF6-66D6-5677316F8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2091B-5A2C-13D0-B4BF-006424396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4712A-B966-E720-C719-3B8AA5EA6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86C4-2253-4F54-9E8B-893E3CC3A5F3}" type="datetimeFigureOut">
              <a:rPr lang="he-IL" smtClean="0"/>
              <a:t>י"ט/אייר/תשפ"ו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392F7-B691-1E23-F078-9A6077346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C9112-CDFE-30E8-F9AF-3D8DA4ED9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F7-9EEE-4293-AC24-69FDAFFC94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2994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A88C4-7D7E-67E8-2887-27FF5D03C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D6D419-17BE-17C9-D480-CC99F4FECD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392EE-6D99-C7FF-2389-51666314A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86C4-2253-4F54-9E8B-893E3CC3A5F3}" type="datetimeFigureOut">
              <a:rPr lang="he-IL" smtClean="0"/>
              <a:t>י"ט/אייר/תשפ"ו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EB17-2896-8EF3-C6FE-20C5CAC4E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E46F7-C24E-A8CD-BF65-68918856E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F7-9EEE-4293-AC24-69FDAFFC94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6934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543F1-D322-1A06-935F-87D3DE6FD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DA2A6-0282-D1DF-66C5-67F36D9919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2748D-ADDB-177A-76E8-D18B79E769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B1F2A9-AE48-096D-641C-F9CCF6828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86C4-2253-4F54-9E8B-893E3CC3A5F3}" type="datetimeFigureOut">
              <a:rPr lang="he-IL" smtClean="0"/>
              <a:t>י"ט/אייר/תשפ"ו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EF263-E71F-7526-37C3-5BEA33F00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28B933-85D5-7D9C-1B26-FCBDCA56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F7-9EEE-4293-AC24-69FDAFFC94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0553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A715-9F2C-42DD-B09B-5419E1EE9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91986-39E5-FE8D-6AAB-0419AD528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4EFFB2-9AD0-8868-75C2-ACCCBF0F88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EB435B-349C-109D-F0CA-618436AE57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811A4F-E846-C3C6-0759-F747A06326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D98C7-9407-AEB4-CD17-F9AB4C1EB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86C4-2253-4F54-9E8B-893E3CC3A5F3}" type="datetimeFigureOut">
              <a:rPr lang="he-IL" smtClean="0"/>
              <a:t>י"ט/אייר/תשפ"ו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0282AB-2A08-35B3-C96B-EAB8607D8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CA4442-400C-E802-A182-7C01C70FC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F7-9EEE-4293-AC24-69FDAFFC94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37204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AD7DB-3132-6AE4-806B-C5DFF2218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724A15-B7ED-6465-C331-C5BB17D7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86C4-2253-4F54-9E8B-893E3CC3A5F3}" type="datetimeFigureOut">
              <a:rPr lang="he-IL" smtClean="0"/>
              <a:t>י"ט/אייר/תשפ"ו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88BB67-D599-7695-62EC-368B91795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84A17-A8C2-1275-68A4-9F6F78E57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F7-9EEE-4293-AC24-69FDAFFC94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0896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62472-52DE-C79F-9170-CA26B5CA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86C4-2253-4F54-9E8B-893E3CC3A5F3}" type="datetimeFigureOut">
              <a:rPr lang="he-IL" smtClean="0"/>
              <a:t>י"ט/אייר/תשפ"ו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4895F4-6790-07D7-7219-0788B8DEB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7B873-AFA5-B293-64C6-4F30A4322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F7-9EEE-4293-AC24-69FDAFFC94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90477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8819-86A1-FD22-3A83-08761EF0B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E8108-9557-EA3F-9CC2-1C6973B71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99138-832C-D815-5E75-5FBB23450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69373-73A3-AC75-8425-55596867A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86C4-2253-4F54-9E8B-893E3CC3A5F3}" type="datetimeFigureOut">
              <a:rPr lang="he-IL" smtClean="0"/>
              <a:t>י"ט/אייר/תשפ"ו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E481DD-0A3B-AB2E-1DBC-F87D1C960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7249F-E00A-BF70-8F90-5942EA8C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F7-9EEE-4293-AC24-69FDAFFC94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3369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71D6D-5731-280D-2764-4AEBDFFFD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B31183-D9A2-B57B-32F9-44583FF5E7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73D3C2-7E62-4954-9EA6-CE63954DB2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2116B-4EDD-2AF8-B24F-E68B7E0F5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86C4-2253-4F54-9E8B-893E3CC3A5F3}" type="datetimeFigureOut">
              <a:rPr lang="he-IL" smtClean="0"/>
              <a:t>י"ט/אייר/תשפ"ו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E4D3CD-FB87-4378-77D5-AD9F75F11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0AEA9-993C-6E98-4681-4AC05092A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F7-9EEE-4293-AC24-69FDAFFC94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73095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73603-0A1B-A000-AD71-8913AFFC2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C1E30C-0FAF-0707-E451-7AA7921E4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7D010-BD7E-4BF2-F8A6-482235510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86C4-2253-4F54-9E8B-893E3CC3A5F3}" type="datetimeFigureOut">
              <a:rPr lang="he-IL" smtClean="0"/>
              <a:t>י"ט/אייר/תשפ"ו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4A0EF-EADC-D74C-9BDB-B648380A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D1197-FC0C-2B2A-58FD-BCA46C694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F7-9EEE-4293-AC24-69FDAFFC94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8399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93AE51-1A99-3C25-E9C0-581E338A4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27D448-EFA0-4848-961D-97116E934E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89CE6-B270-21A0-AB0F-873407896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B86C4-2253-4F54-9E8B-893E3CC3A5F3}" type="datetimeFigureOut">
              <a:rPr lang="he-IL" smtClean="0"/>
              <a:t>י"ט/אייר/תשפ"ו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709E3-3753-8272-35A0-4BFF66510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2FFF67-F60F-BF02-8147-CF4BE2089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17F7-9EEE-4293-AC24-69FDAFFC94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01632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6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1BB086-9C5F-27A8-EB8E-9D7DE5B88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A2BCD4-F97C-F707-2554-5C099CEAD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0F362-AD45-0620-919C-33908EA1A5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1B86C4-2253-4F54-9E8B-893E3CC3A5F3}" type="datetimeFigureOut">
              <a:rPr lang="he-IL" smtClean="0"/>
              <a:t>י"ט/אייר/תשפ"ו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F4BB7-B670-802C-B41A-3ABDAC8883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1FA09-B5CE-D8FE-FE59-567DC2530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4917F7-9EEE-4293-AC24-69FDAFFC94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4559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תמונה 7">
            <a:extLst>
              <a:ext uri="{FF2B5EF4-FFF2-40B4-BE49-F238E27FC236}">
                <a16:creationId xmlns:a16="http://schemas.microsoft.com/office/drawing/2014/main" id="{284DDA4D-AF05-BBF2-96B6-E77054CD1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043"/>
            <a:ext cx="12192000" cy="8128001"/>
          </a:xfrm>
          <a:prstGeom prst="rect">
            <a:avLst/>
          </a:prstGeom>
        </p:spPr>
      </p:pic>
      <p:grpSp>
        <p:nvGrpSpPr>
          <p:cNvPr id="14" name="קבוצה 13">
            <a:extLst>
              <a:ext uri="{FF2B5EF4-FFF2-40B4-BE49-F238E27FC236}">
                <a16:creationId xmlns:a16="http://schemas.microsoft.com/office/drawing/2014/main" id="{639E1A35-FB99-CDA4-1A0B-1A0B3201757D}"/>
              </a:ext>
            </a:extLst>
          </p:cNvPr>
          <p:cNvGrpSpPr/>
          <p:nvPr/>
        </p:nvGrpSpPr>
        <p:grpSpPr>
          <a:xfrm>
            <a:off x="5084233" y="2946400"/>
            <a:ext cx="1829647" cy="1838960"/>
            <a:chOff x="5084233" y="2946400"/>
            <a:chExt cx="1829647" cy="1838960"/>
          </a:xfrm>
        </p:grpSpPr>
        <p:sp>
          <p:nvSpPr>
            <p:cNvPr id="13" name="מלבן: פינות מעוגלות 12">
              <a:extLst>
                <a:ext uri="{FF2B5EF4-FFF2-40B4-BE49-F238E27FC236}">
                  <a16:creationId xmlns:a16="http://schemas.microsoft.com/office/drawing/2014/main" id="{5BCFD302-6F69-40C9-4CDF-104E67A91C38}"/>
                </a:ext>
              </a:extLst>
            </p:cNvPr>
            <p:cNvSpPr/>
            <p:nvPr/>
          </p:nvSpPr>
          <p:spPr>
            <a:xfrm>
              <a:off x="5084233" y="2946400"/>
              <a:ext cx="1829647" cy="1838960"/>
            </a:xfrm>
            <a:prstGeom prst="roundRect">
              <a:avLst>
                <a:gd name="adj" fmla="val 1120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pic>
          <p:nvPicPr>
            <p:cNvPr id="12" name="תמונה 11">
              <a:extLst>
                <a:ext uri="{FF2B5EF4-FFF2-40B4-BE49-F238E27FC236}">
                  <a16:creationId xmlns:a16="http://schemas.microsoft.com/office/drawing/2014/main" id="{04F9EE82-8241-80AD-9004-0D92F368DE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694" r="17346" b="5045"/>
            <a:stretch>
              <a:fillRect/>
            </a:stretch>
          </p:blipFill>
          <p:spPr>
            <a:xfrm>
              <a:off x="5181654" y="3178819"/>
              <a:ext cx="1671211" cy="137412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96607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10" presetClass="exit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" presetID="10" presetClass="exit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0"/>
                            </p:stCondLst>
                            <p:childTnLst>
                              <p:par>
                                <p:cTn id="25" presetID="10" presetClass="exit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0"/>
                            </p:stCondLst>
                            <p:childTnLst>
                              <p:par>
                                <p:cTn id="33" presetID="10" presetClass="exit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0"/>
                            </p:stCondLst>
                            <p:childTnLst>
                              <p:par>
                                <p:cTn id="41" presetID="10" presetClass="exit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0"/>
                            </p:stCondLst>
                            <p:childTnLst>
                              <p:par>
                                <p:cTn id="49" presetID="10" presetClass="exit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0" y="1708844"/>
            <a:ext cx="12192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550681" y="3328094"/>
            <a:ext cx="5090636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 dirty="0" err="1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לינקדאין</a:t>
            </a:r>
            <a:r>
              <a:rPr lang="en-US" sz="6000" b="1" i="0" u="none" strike="noStrike" cap="none" dirty="0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6000" b="1" i="0" u="none" strike="noStrike" cap="none" dirty="0">
                <a:solidFill>
                  <a:srgbClr val="0077B5"/>
                </a:solidFill>
                <a:latin typeface="Heebo"/>
                <a:ea typeface="Heebo"/>
                <a:cs typeface="Heebo"/>
                <a:sym typeface="Heebo"/>
              </a:rPr>
              <a:t>2026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184400" y="4356100"/>
            <a:ext cx="7581900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הזירה</a:t>
            </a:r>
            <a:r>
              <a:rPr lang="en-US" sz="2400" b="0" i="0" u="none" strike="noStrike" cap="none" dirty="0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400" b="0" i="0" u="none" strike="noStrike" cap="none" dirty="0" err="1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המקצועית</a:t>
            </a:r>
            <a:r>
              <a:rPr lang="en-US" sz="2400" b="0" i="0" u="none" strike="noStrike" cap="none" dirty="0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400" b="0" i="0" u="none" strike="noStrike" cap="none" dirty="0" err="1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הגדולה</a:t>
            </a:r>
            <a:r>
              <a:rPr lang="en-US" sz="2400" b="0" i="0" u="none" strike="noStrike" cap="none" dirty="0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400" b="0" i="0" u="none" strike="noStrike" cap="none" dirty="0" err="1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בעולם</a:t>
            </a:r>
            <a:r>
              <a:rPr lang="en-US" sz="2400" b="0" i="0" u="none" strike="noStrike" cap="none" dirty="0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: </a:t>
            </a:r>
            <a:r>
              <a:rPr lang="en-US" sz="2400" b="0" i="0" u="none" strike="noStrike" cap="none" dirty="0" err="1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נתונים</a:t>
            </a:r>
            <a:r>
              <a:rPr lang="en-US" sz="2400" b="0" i="0" u="none" strike="noStrike" cap="none" dirty="0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en-US" sz="2400" b="0" i="0" u="none" strike="noStrike" cap="none" dirty="0" err="1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מגמות</a:t>
            </a:r>
            <a:r>
              <a:rPr lang="en-US" sz="2400" b="0" i="0" u="none" strike="noStrike" cap="none" dirty="0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400" b="0" i="0" u="none" strike="noStrike" cap="none" dirty="0" err="1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וניתוח</a:t>
            </a:r>
            <a:r>
              <a:rPr lang="en-US" sz="2400" b="0" i="0" u="none" strike="noStrike" cap="none" dirty="0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400" b="0" i="0" u="none" strike="noStrike" cap="none" dirty="0" err="1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שוק</a:t>
            </a:r>
            <a:endParaRPr dirty="0"/>
          </a:p>
        </p:txBody>
      </p:sp>
      <p:pic>
        <p:nvPicPr>
          <p:cNvPr id="88" name="Google Shape;88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76900" y="1899344"/>
            <a:ext cx="838200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6334125" y="2967037"/>
            <a:ext cx="5286375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 dirty="0">
                <a:solidFill>
                  <a:srgbClr val="0077B5"/>
                </a:solidFill>
                <a:latin typeface="Assistant"/>
                <a:ea typeface="Assistant"/>
                <a:cs typeface="Assistant"/>
                <a:sym typeface="Assistant"/>
              </a:rPr>
              <a:t>1.3B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6334125" y="4491037"/>
            <a:ext cx="528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משתמשים רשומים ברחבי העולם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2967037"/>
            <a:ext cx="5286375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>
                <a:solidFill>
                  <a:srgbClr val="0077B5"/>
                </a:solidFill>
                <a:latin typeface="Assistant"/>
                <a:ea typeface="Assistant"/>
                <a:cs typeface="Assistant"/>
                <a:sym typeface="Assistant"/>
              </a:rPr>
              <a:t>424M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4491037"/>
            <a:ext cx="528637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משתמשים פעילים בכל חודש (MAU)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28575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77B5"/>
                </a:solidFill>
                <a:latin typeface="Heebo"/>
                <a:ea typeface="Heebo"/>
                <a:cs typeface="Heebo"/>
                <a:sym typeface="Heebo"/>
              </a:rPr>
              <a:t>עוצמה גלובלית חסרת תקדים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11544300" y="571500"/>
            <a:ext cx="76200" cy="66675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98340"/>
            <a:ext cx="5238750" cy="350892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6381750" y="2198340"/>
            <a:ext cx="550068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מהירות ההתרחבות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381750" y="2931765"/>
            <a:ext cx="52387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לינקדאין ממשיכה לשבור שיאי הצטרפות בכל יום. הקהילה המקצועית גדלה בקצב מסחרר:</a:t>
            </a:r>
            <a:endParaRPr sz="2400"/>
          </a:p>
        </p:txBody>
      </p:sp>
      <p:pic>
        <p:nvPicPr>
          <p:cNvPr id="108" name="Google Shape;10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771775" y="2598390"/>
            <a:ext cx="8382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971550" y="3741390"/>
            <a:ext cx="44386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4500" b="1" dirty="0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3 משתמשים חדשים </a:t>
            </a:r>
            <a:r>
              <a:rPr lang="he-IL" sz="4500" b="1" dirty="0" err="1">
                <a:solidFill>
                  <a:srgbClr val="FFFFFF"/>
                </a:solidFill>
                <a:latin typeface="Assistant"/>
                <a:cs typeface="Assistant"/>
                <a:sym typeface="Assistant"/>
              </a:rPr>
              <a:t>בשניה</a:t>
            </a:r>
            <a:endParaRPr dirty="0"/>
          </a:p>
        </p:txBody>
      </p:sp>
      <p:sp>
        <p:nvSpPr>
          <p:cNvPr id="117" name="Google Shape;117;p15"/>
          <p:cNvSpPr txBox="1"/>
          <p:nvPr/>
        </p:nvSpPr>
        <p:spPr>
          <a:xfrm>
            <a:off x="28575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77B5"/>
                </a:solidFill>
                <a:latin typeface="Heebo"/>
                <a:ea typeface="Heebo"/>
                <a:cs typeface="Heebo"/>
                <a:sym typeface="Heebo"/>
              </a:rPr>
              <a:t>קצב צמיחה ודינמיקה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11544300" y="571500"/>
            <a:ext cx="76200" cy="66675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30997"/>
            <a:ext cx="5238750" cy="1680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448925" y="1819275"/>
            <a:ext cx="116205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2294632"/>
            <a:ext cx="550068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השכלה אקדמית נרחבת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3123307"/>
            <a:ext cx="523875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לינקדאין היא הרשת החברתית המשכילה ביותר בעולם: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3581400" y="4216747"/>
            <a:ext cx="19431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50%</a:t>
            </a:r>
            <a:endParaRPr dirty="0"/>
          </a:p>
        </p:txBody>
      </p:sp>
      <p:sp>
        <p:nvSpPr>
          <p:cNvPr id="130" name="Google Shape;130;p16"/>
          <p:cNvSpPr txBox="1"/>
          <p:nvPr/>
        </p:nvSpPr>
        <p:spPr>
          <a:xfrm>
            <a:off x="857250" y="4959697"/>
            <a:ext cx="46672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מהמשתמשים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מחזיקים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בתואר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אקדמי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אחד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לפחות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dirty="0"/>
          </a:p>
        </p:txBody>
      </p:sp>
      <p:sp>
        <p:nvSpPr>
          <p:cNvPr id="131" name="Google Shape;131;p16"/>
          <p:cNvSpPr txBox="1"/>
          <p:nvPr/>
        </p:nvSpPr>
        <p:spPr>
          <a:xfrm>
            <a:off x="28575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77B5"/>
                </a:solidFill>
                <a:latin typeface="Heebo"/>
                <a:ea typeface="Heebo"/>
                <a:cs typeface="Heebo"/>
                <a:sym typeface="Heebo"/>
              </a:rPr>
              <a:t>איכות הקהל והון אנושי</a:t>
            </a:r>
            <a:endParaRPr/>
          </a:p>
        </p:txBody>
      </p:sp>
      <p:sp>
        <p:nvSpPr>
          <p:cNvPr id="132" name="Google Shape;132;p16"/>
          <p:cNvSpPr/>
          <p:nvPr/>
        </p:nvSpPr>
        <p:spPr>
          <a:xfrm>
            <a:off x="11544300" y="571500"/>
            <a:ext cx="76200" cy="66675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8099" y="2368004"/>
            <a:ext cx="3492400" cy="3169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2368004"/>
            <a:ext cx="3492549" cy="31697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648" y="2368004"/>
            <a:ext cx="3492400" cy="316974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8450840" y="3568154"/>
            <a:ext cx="284691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69 מיליון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518624" y="4187279"/>
            <a:ext cx="27113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דפי חברה פעילים המנהלים נוכחות מותג וגיוס.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672537" y="3568154"/>
            <a:ext cx="2847074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165,000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4740324" y="4187279"/>
            <a:ext cx="2711499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מוסדות לימוד, אוניברסיטאות ובתי ספר רשומים.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94390" y="3568154"/>
            <a:ext cx="2846918" cy="3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קהילות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962173" y="4187279"/>
            <a:ext cx="271135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מיליוני קבוצות מקצועיות לשיתוף ידע ונטוורקינג.</a:t>
            </a:r>
            <a:endParaRPr/>
          </a:p>
        </p:txBody>
      </p:sp>
      <p:pic>
        <p:nvPicPr>
          <p:cNvPr id="147" name="Google Shape;14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93324" y="2825204"/>
            <a:ext cx="3619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95962" y="2825204"/>
            <a:ext cx="6000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017811" y="2825204"/>
            <a:ext cx="600075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28575" y="571500"/>
            <a:ext cx="1140142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77B5"/>
                </a:solidFill>
                <a:latin typeface="Heebo"/>
                <a:ea typeface="Heebo"/>
                <a:cs typeface="Heebo"/>
                <a:sym typeface="Heebo"/>
              </a:rPr>
              <a:t>המערכת האקולוגית העסקית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11544300" y="571500"/>
            <a:ext cx="76200" cy="66675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619250"/>
            <a:ext cx="11049000" cy="46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571500" y="4441477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1" u="none" strike="noStrike" cap="none" dirty="0" err="1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יעילות</a:t>
            </a:r>
            <a:r>
              <a:rPr lang="en-US" sz="1800" b="0" i="1" u="none" strike="noStrike" cap="none" dirty="0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1800" b="0" i="1" u="none" strike="noStrike" cap="none" dirty="0" err="1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פנומנלית</a:t>
            </a:r>
            <a:r>
              <a:rPr lang="en-US" sz="1800" b="0" i="1" u="none" strike="noStrike" cap="none" dirty="0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: </a:t>
            </a:r>
            <a:r>
              <a:rPr lang="en-US" sz="1800" b="0" i="1" u="none" strike="noStrike" cap="none" dirty="0" err="1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בכל</a:t>
            </a:r>
            <a:r>
              <a:rPr lang="en-US" sz="1800" b="0" i="1" u="none" strike="noStrike" cap="none" dirty="0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 7.5 </a:t>
            </a:r>
            <a:r>
              <a:rPr lang="he-IL" i="1" dirty="0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1800" b="0" i="1" u="none" strike="noStrike" cap="none" dirty="0" err="1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שניות</a:t>
            </a:r>
            <a:r>
              <a:rPr lang="en-US" sz="1800" b="0" i="1" u="none" strike="noStrike" cap="none" dirty="0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1800" b="0" i="1" u="none" strike="noStrike" cap="none" dirty="0" err="1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בממוצע</a:t>
            </a:r>
            <a:r>
              <a:rPr lang="en-US" sz="1800" b="0" i="1" u="none" strike="noStrike" cap="none" dirty="0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en-US" sz="1800" b="0" i="1" u="none" strike="noStrike" cap="none" dirty="0" err="1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אדם</a:t>
            </a:r>
            <a:r>
              <a:rPr lang="en-US" sz="1800" b="0" i="1" u="none" strike="noStrike" cap="none" dirty="0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1800" b="0" i="1" u="none" strike="noStrike" cap="none" dirty="0" err="1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מוצא</a:t>
            </a:r>
            <a:r>
              <a:rPr lang="en-US" sz="1800" b="0" i="1" u="none" strike="noStrike" cap="none" dirty="0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1800" b="0" i="1" u="none" strike="noStrike" cap="none" dirty="0" err="1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את</a:t>
            </a:r>
            <a:r>
              <a:rPr lang="en-US" sz="1800" b="0" i="1" u="none" strike="noStrike" cap="none" dirty="0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1800" b="0" i="1" u="none" strike="noStrike" cap="none" dirty="0" err="1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עבודתו</a:t>
            </a:r>
            <a:r>
              <a:rPr lang="en-US" sz="1800" b="0" i="1" u="none" strike="noStrike" cap="none" dirty="0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1800" b="0" i="1" u="none" strike="noStrike" cap="none" dirty="0" err="1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הבאה</a:t>
            </a:r>
            <a:r>
              <a:rPr lang="en-US" sz="1800" b="0" i="1" u="none" strike="noStrike" cap="none" dirty="0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1800" b="0" i="1" u="none" strike="noStrike" cap="none" dirty="0" err="1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דרך</a:t>
            </a:r>
            <a:r>
              <a:rPr lang="en-US" sz="1800" b="0" i="1" u="none" strike="noStrike" cap="none" dirty="0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1800" b="0" i="1" u="none" strike="noStrike" cap="none" dirty="0" err="1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הפלטפורמה</a:t>
            </a:r>
            <a:r>
              <a:rPr lang="en-US" sz="1800" b="0" i="1" u="none" strike="noStrike" cap="none" dirty="0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dirty="0"/>
          </a:p>
        </p:txBody>
      </p:sp>
      <p:sp>
        <p:nvSpPr>
          <p:cNvPr id="159" name="Google Shape;159;p18"/>
          <p:cNvSpPr txBox="1"/>
          <p:nvPr/>
        </p:nvSpPr>
        <p:spPr>
          <a:xfrm>
            <a:off x="28575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77B5"/>
                </a:solidFill>
                <a:latin typeface="Heebo"/>
                <a:ea typeface="Heebo"/>
                <a:cs typeface="Heebo"/>
                <a:sym typeface="Heebo"/>
              </a:rPr>
              <a:t>מנוע הגיוס העולמי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11544300" y="571500"/>
            <a:ext cx="76200" cy="66675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67500" y="2161282"/>
            <a:ext cx="4953000" cy="358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6429375" y="1113532"/>
            <a:ext cx="50006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600" b="1" dirty="0">
                <a:solidFill>
                  <a:srgbClr val="0077B5"/>
                </a:solidFill>
                <a:latin typeface="Heebo"/>
                <a:ea typeface="Heebo"/>
                <a:cs typeface="Heebo"/>
                <a:sym typeface="Heebo"/>
              </a:rPr>
              <a:t>מובילת </a:t>
            </a:r>
            <a:r>
              <a:rPr lang="en-US" sz="3600" b="1" i="0" u="none" strike="noStrike" cap="none" dirty="0">
                <a:solidFill>
                  <a:srgbClr val="0077B5"/>
                </a:solidFill>
                <a:latin typeface="Heebo"/>
                <a:ea typeface="Heebo"/>
                <a:cs typeface="Heebo"/>
                <a:sym typeface="Heebo"/>
              </a:rPr>
              <a:t>B2B</a:t>
            </a:r>
            <a:r>
              <a:rPr lang="he-IL" sz="3600" b="1" i="0" u="none" strike="noStrike" cap="none" dirty="0">
                <a:solidFill>
                  <a:srgbClr val="0077B5"/>
                </a:solidFill>
                <a:latin typeface="Heebo"/>
                <a:ea typeface="Heebo"/>
                <a:cs typeface="Heebo"/>
                <a:sym typeface="Heebo"/>
              </a:rPr>
              <a:t> (עסק לעסק)</a:t>
            </a:r>
            <a:endParaRPr dirty="0"/>
          </a:p>
        </p:txBody>
      </p:sp>
      <p:sp>
        <p:nvSpPr>
          <p:cNvPr id="168" name="Google Shape;168;p19"/>
          <p:cNvSpPr/>
          <p:nvPr/>
        </p:nvSpPr>
        <p:spPr>
          <a:xfrm>
            <a:off x="11544300" y="1113532"/>
            <a:ext cx="76200" cy="66675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7048500" y="2542282"/>
            <a:ext cx="419100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077B5"/>
                </a:solidFill>
                <a:latin typeface="Assistant"/>
                <a:ea typeface="Assistant"/>
                <a:cs typeface="Assistant"/>
                <a:sym typeface="Assistant"/>
              </a:rPr>
              <a:t>80%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7048500" y="3542407"/>
            <a:ext cx="4400550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מהלידים העסקיים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048500" y="4037707"/>
            <a:ext cx="41910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מתוך כלל הלידים העסקיים המיוצרים במדיה החברתית, 80% מגיעים מלינקדאין. הרשת מהווה את עמוד השדרה של השיווק המקצועי המודרני.</a:t>
            </a:r>
            <a:endParaRPr/>
          </a:p>
        </p:txBody>
      </p:sp>
      <p:pic>
        <p:nvPicPr>
          <p:cNvPr id="172" name="Google Shape;17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/>
          <p:nvPr/>
        </p:nvSpPr>
        <p:spPr>
          <a:xfrm>
            <a:off x="5143500" y="2199382"/>
            <a:ext cx="1905000" cy="7620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2335530" y="2656582"/>
            <a:ext cx="7520940" cy="115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לינקדאין בישראל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3113590" y="4247257"/>
            <a:ext cx="5717894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 err="1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ניתוח</a:t>
            </a:r>
            <a:r>
              <a:rPr lang="en-US" sz="2400" b="0" i="0" u="none" strike="noStrike" cap="none" dirty="0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400" b="0" i="0" u="none" strike="noStrike" cap="none" dirty="0" err="1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מעמדה</a:t>
            </a:r>
            <a:r>
              <a:rPr lang="en-US" sz="2400" b="0" i="0" u="none" strike="noStrike" cap="none" dirty="0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400" b="0" i="0" u="none" strike="noStrike" cap="none" dirty="0" err="1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של</a:t>
            </a:r>
            <a:r>
              <a:rPr lang="en-US" sz="2400" b="0" i="0" u="none" strike="noStrike" cap="none" dirty="0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 "</a:t>
            </a:r>
            <a:r>
              <a:rPr lang="en-US" sz="2400" b="0" i="0" u="none" strike="noStrike" cap="none" dirty="0" err="1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אומת</a:t>
            </a:r>
            <a:r>
              <a:rPr lang="en-US" sz="2400" b="0" i="0" u="none" strike="noStrike" cap="none" dirty="0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en-US" sz="2400" b="0" i="0" u="none" strike="noStrike" cap="none" dirty="0" err="1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הסטארט-אפ</a:t>
            </a:r>
            <a:r>
              <a:rPr lang="en-US" sz="2400" b="0" i="0" u="none" strike="noStrike" cap="none" dirty="0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" </a:t>
            </a:r>
            <a:r>
              <a:rPr lang="en-US" sz="2400" b="0" i="0" u="none" strike="noStrike" cap="none" dirty="0" err="1">
                <a:solidFill>
                  <a:srgbClr val="A0AEC0"/>
                </a:solidFill>
                <a:latin typeface="Assistant"/>
                <a:ea typeface="Assistant"/>
                <a:cs typeface="Assistant"/>
                <a:sym typeface="Assistant"/>
              </a:rPr>
              <a:t>ברשת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6000"/>
            <a:ext cx="11049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/>
          <p:nvPr/>
        </p:nvSpPr>
        <p:spPr>
          <a:xfrm>
            <a:off x="6110592" y="3279427"/>
            <a:ext cx="285445" cy="238125"/>
          </a:xfrm>
          <a:prstGeom prst="roundRect">
            <a:avLst>
              <a:gd name="adj" fmla="val 20000"/>
            </a:avLst>
          </a:prstGeom>
          <a:solidFill>
            <a:srgbClr val="0077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219920" y="3215729"/>
            <a:ext cx="5795118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400" dirty="0">
                <a:solidFill>
                  <a:schemeClr val="bg1"/>
                </a:solidFill>
              </a:rPr>
              <a:t>31% מהאוכלוסייה הכללית (3 מיליון משתמשים)</a:t>
            </a:r>
          </a:p>
        </p:txBody>
      </p:sp>
      <p:sp>
        <p:nvSpPr>
          <p:cNvPr id="209" name="Google Shape;209;p22"/>
          <p:cNvSpPr/>
          <p:nvPr/>
        </p:nvSpPr>
        <p:spPr>
          <a:xfrm>
            <a:off x="6110592" y="4245173"/>
            <a:ext cx="285445" cy="238125"/>
          </a:xfrm>
          <a:prstGeom prst="roundRect">
            <a:avLst>
              <a:gd name="adj" fmla="val 20000"/>
            </a:avLst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219920" y="4181475"/>
            <a:ext cx="5795118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400" dirty="0">
                <a:solidFill>
                  <a:schemeClr val="bg1"/>
                </a:solidFill>
              </a:rPr>
              <a:t>55% מכוח העבודה האזרחי בישראל רשום ברשת</a:t>
            </a:r>
          </a:p>
          <a:p>
            <a:pPr marL="0" marR="0" lvl="0" indent="0" algn="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11" name="Google Shape;211;p22"/>
          <p:cNvSpPr txBox="1"/>
          <p:nvPr/>
        </p:nvSpPr>
        <p:spPr>
          <a:xfrm>
            <a:off x="28575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0077B5"/>
                </a:solidFill>
                <a:latin typeface="Heebo"/>
                <a:ea typeface="Heebo"/>
                <a:cs typeface="Heebo"/>
                <a:sym typeface="Heebo"/>
              </a:rPr>
              <a:t>חדירה</a:t>
            </a:r>
            <a:r>
              <a:rPr lang="en-US" sz="3600" b="1" i="0" u="none" strike="noStrike" cap="none" dirty="0">
                <a:solidFill>
                  <a:srgbClr val="0077B5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3600" b="1" i="0" u="none" strike="noStrike" cap="none" dirty="0" err="1">
                <a:solidFill>
                  <a:srgbClr val="0077B5"/>
                </a:solidFill>
                <a:latin typeface="Heebo"/>
                <a:ea typeface="Heebo"/>
                <a:cs typeface="Heebo"/>
                <a:sym typeface="Heebo"/>
              </a:rPr>
              <a:t>לשוק</a:t>
            </a:r>
            <a:r>
              <a:rPr lang="en-US" sz="3600" b="1" i="0" u="none" strike="noStrike" cap="none" dirty="0">
                <a:solidFill>
                  <a:srgbClr val="0077B5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en-US" sz="3600" b="1" i="0" u="none" strike="noStrike" cap="none" dirty="0" err="1">
                <a:solidFill>
                  <a:srgbClr val="0077B5"/>
                </a:solidFill>
                <a:latin typeface="Heebo"/>
                <a:ea typeface="Heebo"/>
                <a:cs typeface="Heebo"/>
                <a:sym typeface="Heebo"/>
              </a:rPr>
              <a:t>הישראלי</a:t>
            </a:r>
            <a:endParaRPr dirty="0"/>
          </a:p>
        </p:txBody>
      </p:sp>
      <p:sp>
        <p:nvSpPr>
          <p:cNvPr id="212" name="Google Shape;212;p22"/>
          <p:cNvSpPr/>
          <p:nvPr/>
        </p:nvSpPr>
        <p:spPr>
          <a:xfrm>
            <a:off x="11544300" y="571500"/>
            <a:ext cx="76200" cy="66675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0081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432996" y="1216299"/>
            <a:ext cx="3136257" cy="1160412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6381750" y="2589162"/>
            <a:ext cx="5500687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FFFFF"/>
                </a:solidFill>
                <a:latin typeface="Heebo"/>
                <a:ea typeface="Heebo"/>
                <a:cs typeface="Heebo"/>
                <a:sym typeface="Heebo"/>
              </a:rPr>
              <a:t>שימוש עסקי וטכנולוגי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6381750" y="3322587"/>
            <a:ext cx="5238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ביחס לגודל האוכלוסייה, ישראל מדורגת במקום הראשון בעולם במדדים הבאים:</a:t>
            </a:r>
            <a:endParaRPr/>
          </a:p>
        </p:txBody>
      </p:sp>
      <p:pic>
        <p:nvPicPr>
          <p:cNvPr id="222" name="Google Shape;222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0176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6315075" y="4284434"/>
            <a:ext cx="666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6381750" y="4282529"/>
            <a:ext cx="48577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ct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גיוס טכנולוגי (High-Tech):</a:t>
            </a:r>
            <a:r>
              <a:rPr lang="en-US" sz="1800" b="0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 השימוש הנרחב ביותר לאיתור טאלנטים.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315075" y="5015775"/>
            <a:ext cx="666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6381750" y="5013870"/>
            <a:ext cx="48577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ct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שיווק B2B:</a:t>
            </a:r>
            <a:r>
              <a:rPr lang="en-US" sz="1800" b="0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 יצירת קשרים עסקיים בינלאומיים.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6315075" y="5381446"/>
            <a:ext cx="6667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•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6381750" y="5379541"/>
            <a:ext cx="48577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ct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דומיננטיות גילאית:</a:t>
            </a:r>
            <a:r>
              <a:rPr lang="en-US" sz="1800" b="0" i="0" u="none" strike="noStrike" cap="none">
                <a:solidFill>
                  <a:srgbClr val="CBD5E0"/>
                </a:solidFill>
                <a:latin typeface="Assistant"/>
                <a:ea typeface="Assistant"/>
                <a:cs typeface="Assistant"/>
                <a:sym typeface="Assistant"/>
              </a:rPr>
              <a:t> 47.5% מהמשתמשים בגילאי 25-34.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28575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077B5"/>
                </a:solidFill>
                <a:latin typeface="Heebo"/>
                <a:ea typeface="Heebo"/>
                <a:cs typeface="Heebo"/>
                <a:sym typeface="Heebo"/>
              </a:rPr>
              <a:t>ישראל: מובילה עולמית</a:t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11544300" y="571500"/>
            <a:ext cx="76200" cy="66675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65792-F646-1F8B-8374-DD94FFC61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A5AB348F-E94E-ED12-CACF-DAE9506EC8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96"/>
          <a:stretch>
            <a:fillRect/>
          </a:stretch>
        </p:blipFill>
        <p:spPr>
          <a:xfrm>
            <a:off x="0" y="810228"/>
            <a:ext cx="12192000" cy="5943863"/>
          </a:xfrm>
          <a:prstGeom prst="rect">
            <a:avLst/>
          </a:prstGeom>
        </p:spPr>
      </p:pic>
      <p:grpSp>
        <p:nvGrpSpPr>
          <p:cNvPr id="12" name="קבוצה 11">
            <a:extLst>
              <a:ext uri="{FF2B5EF4-FFF2-40B4-BE49-F238E27FC236}">
                <a16:creationId xmlns:a16="http://schemas.microsoft.com/office/drawing/2014/main" id="{99F5A66E-30B9-3A38-9151-BD90FC13F116}"/>
              </a:ext>
            </a:extLst>
          </p:cNvPr>
          <p:cNvGrpSpPr/>
          <p:nvPr/>
        </p:nvGrpSpPr>
        <p:grpSpPr>
          <a:xfrm>
            <a:off x="9779000" y="3070858"/>
            <a:ext cx="2077720" cy="419640"/>
            <a:chOff x="9779000" y="3070858"/>
            <a:chExt cx="2077720" cy="419640"/>
          </a:xfrm>
        </p:grpSpPr>
        <p:sp>
          <p:nvSpPr>
            <p:cNvPr id="10" name="מלבן 9">
              <a:extLst>
                <a:ext uri="{FF2B5EF4-FFF2-40B4-BE49-F238E27FC236}">
                  <a16:creationId xmlns:a16="http://schemas.microsoft.com/office/drawing/2014/main" id="{4AA9585B-C554-6F21-FBA8-1B13D71023A3}"/>
                </a:ext>
              </a:extLst>
            </p:cNvPr>
            <p:cNvSpPr/>
            <p:nvPr/>
          </p:nvSpPr>
          <p:spPr>
            <a:xfrm>
              <a:off x="9779000" y="3070858"/>
              <a:ext cx="2077720" cy="226907"/>
            </a:xfrm>
            <a:prstGeom prst="rect">
              <a:avLst/>
            </a:prstGeom>
            <a:solidFill>
              <a:srgbClr val="E6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1" name="מלבן 10">
              <a:extLst>
                <a:ext uri="{FF2B5EF4-FFF2-40B4-BE49-F238E27FC236}">
                  <a16:creationId xmlns:a16="http://schemas.microsoft.com/office/drawing/2014/main" id="{2C7703F8-0214-81FD-7022-CA8388DA66AA}"/>
                </a:ext>
              </a:extLst>
            </p:cNvPr>
            <p:cNvSpPr/>
            <p:nvPr/>
          </p:nvSpPr>
          <p:spPr>
            <a:xfrm>
              <a:off x="9916583" y="3263591"/>
              <a:ext cx="1801284" cy="226907"/>
            </a:xfrm>
            <a:prstGeom prst="rect">
              <a:avLst/>
            </a:prstGeom>
            <a:solidFill>
              <a:srgbClr val="E6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13" name="קבוצה 12">
            <a:extLst>
              <a:ext uri="{FF2B5EF4-FFF2-40B4-BE49-F238E27FC236}">
                <a16:creationId xmlns:a16="http://schemas.microsoft.com/office/drawing/2014/main" id="{8EF6B784-DAA1-D7EE-A089-55F5AC779AD6}"/>
              </a:ext>
            </a:extLst>
          </p:cNvPr>
          <p:cNvGrpSpPr/>
          <p:nvPr/>
        </p:nvGrpSpPr>
        <p:grpSpPr>
          <a:xfrm>
            <a:off x="7534275" y="3028950"/>
            <a:ext cx="2077720" cy="477423"/>
            <a:chOff x="9779000" y="3070858"/>
            <a:chExt cx="2077720" cy="419640"/>
          </a:xfrm>
        </p:grpSpPr>
        <p:sp>
          <p:nvSpPr>
            <p:cNvPr id="14" name="מלבן 13">
              <a:extLst>
                <a:ext uri="{FF2B5EF4-FFF2-40B4-BE49-F238E27FC236}">
                  <a16:creationId xmlns:a16="http://schemas.microsoft.com/office/drawing/2014/main" id="{6C3F81CB-5F3D-A905-F0D8-9A578A29B72B}"/>
                </a:ext>
              </a:extLst>
            </p:cNvPr>
            <p:cNvSpPr/>
            <p:nvPr/>
          </p:nvSpPr>
          <p:spPr>
            <a:xfrm>
              <a:off x="9779000" y="3070858"/>
              <a:ext cx="2077720" cy="226907"/>
            </a:xfrm>
            <a:prstGeom prst="rect">
              <a:avLst/>
            </a:prstGeom>
            <a:solidFill>
              <a:srgbClr val="E6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5" name="מלבן 14">
              <a:extLst>
                <a:ext uri="{FF2B5EF4-FFF2-40B4-BE49-F238E27FC236}">
                  <a16:creationId xmlns:a16="http://schemas.microsoft.com/office/drawing/2014/main" id="{25ED3189-8A6E-E28B-0ADE-8C254DAFE4C5}"/>
                </a:ext>
              </a:extLst>
            </p:cNvPr>
            <p:cNvSpPr/>
            <p:nvPr/>
          </p:nvSpPr>
          <p:spPr>
            <a:xfrm>
              <a:off x="9916583" y="3263591"/>
              <a:ext cx="1801284" cy="226907"/>
            </a:xfrm>
            <a:prstGeom prst="rect">
              <a:avLst/>
            </a:prstGeom>
            <a:solidFill>
              <a:srgbClr val="E6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16" name="קבוצה 15">
            <a:extLst>
              <a:ext uri="{FF2B5EF4-FFF2-40B4-BE49-F238E27FC236}">
                <a16:creationId xmlns:a16="http://schemas.microsoft.com/office/drawing/2014/main" id="{AAB30A31-58D4-1E1F-0706-42012FA3FEEC}"/>
              </a:ext>
            </a:extLst>
          </p:cNvPr>
          <p:cNvGrpSpPr/>
          <p:nvPr/>
        </p:nvGrpSpPr>
        <p:grpSpPr>
          <a:xfrm>
            <a:off x="5120005" y="3028950"/>
            <a:ext cx="2077720" cy="474247"/>
            <a:chOff x="9779000" y="3070858"/>
            <a:chExt cx="2077720" cy="419640"/>
          </a:xfrm>
        </p:grpSpPr>
        <p:sp>
          <p:nvSpPr>
            <p:cNvPr id="17" name="מלבן 16">
              <a:extLst>
                <a:ext uri="{FF2B5EF4-FFF2-40B4-BE49-F238E27FC236}">
                  <a16:creationId xmlns:a16="http://schemas.microsoft.com/office/drawing/2014/main" id="{890A8B36-EA58-B591-DDD2-33A90F8D92B9}"/>
                </a:ext>
              </a:extLst>
            </p:cNvPr>
            <p:cNvSpPr/>
            <p:nvPr/>
          </p:nvSpPr>
          <p:spPr>
            <a:xfrm>
              <a:off x="9779000" y="3070858"/>
              <a:ext cx="2077720" cy="226907"/>
            </a:xfrm>
            <a:prstGeom prst="rect">
              <a:avLst/>
            </a:prstGeom>
            <a:solidFill>
              <a:srgbClr val="E6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18" name="מלבן 17">
              <a:extLst>
                <a:ext uri="{FF2B5EF4-FFF2-40B4-BE49-F238E27FC236}">
                  <a16:creationId xmlns:a16="http://schemas.microsoft.com/office/drawing/2014/main" id="{504F6221-7C6C-313D-B947-D6524FE2FE43}"/>
                </a:ext>
              </a:extLst>
            </p:cNvPr>
            <p:cNvSpPr/>
            <p:nvPr/>
          </p:nvSpPr>
          <p:spPr>
            <a:xfrm>
              <a:off x="9916583" y="3263591"/>
              <a:ext cx="1801284" cy="226907"/>
            </a:xfrm>
            <a:prstGeom prst="rect">
              <a:avLst/>
            </a:prstGeom>
            <a:solidFill>
              <a:srgbClr val="E6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19" name="קבוצה 18">
            <a:extLst>
              <a:ext uri="{FF2B5EF4-FFF2-40B4-BE49-F238E27FC236}">
                <a16:creationId xmlns:a16="http://schemas.microsoft.com/office/drawing/2014/main" id="{034F6F01-FFD1-392C-C41B-613EE2AA6C11}"/>
              </a:ext>
            </a:extLst>
          </p:cNvPr>
          <p:cNvGrpSpPr/>
          <p:nvPr/>
        </p:nvGrpSpPr>
        <p:grpSpPr>
          <a:xfrm>
            <a:off x="2736427" y="3026467"/>
            <a:ext cx="2077720" cy="474247"/>
            <a:chOff x="9779000" y="3070858"/>
            <a:chExt cx="2077720" cy="419640"/>
          </a:xfrm>
        </p:grpSpPr>
        <p:sp>
          <p:nvSpPr>
            <p:cNvPr id="20" name="מלבן 19">
              <a:extLst>
                <a:ext uri="{FF2B5EF4-FFF2-40B4-BE49-F238E27FC236}">
                  <a16:creationId xmlns:a16="http://schemas.microsoft.com/office/drawing/2014/main" id="{2AD59A94-0BE4-80F2-FBCB-1D93B5B67068}"/>
                </a:ext>
              </a:extLst>
            </p:cNvPr>
            <p:cNvSpPr/>
            <p:nvPr/>
          </p:nvSpPr>
          <p:spPr>
            <a:xfrm>
              <a:off x="9779000" y="3070858"/>
              <a:ext cx="2077720" cy="226907"/>
            </a:xfrm>
            <a:prstGeom prst="rect">
              <a:avLst/>
            </a:prstGeom>
            <a:solidFill>
              <a:srgbClr val="E6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1" name="מלבן 20">
              <a:extLst>
                <a:ext uri="{FF2B5EF4-FFF2-40B4-BE49-F238E27FC236}">
                  <a16:creationId xmlns:a16="http://schemas.microsoft.com/office/drawing/2014/main" id="{AD040D92-67CF-7B91-E27B-4383A81ACDC3}"/>
                </a:ext>
              </a:extLst>
            </p:cNvPr>
            <p:cNvSpPr/>
            <p:nvPr/>
          </p:nvSpPr>
          <p:spPr>
            <a:xfrm>
              <a:off x="9916583" y="3263591"/>
              <a:ext cx="1801284" cy="226907"/>
            </a:xfrm>
            <a:prstGeom prst="rect">
              <a:avLst/>
            </a:prstGeom>
            <a:solidFill>
              <a:srgbClr val="E6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22" name="קבוצה 21">
            <a:extLst>
              <a:ext uri="{FF2B5EF4-FFF2-40B4-BE49-F238E27FC236}">
                <a16:creationId xmlns:a16="http://schemas.microsoft.com/office/drawing/2014/main" id="{8DA90D86-F703-550D-D83B-26B10BE9BF6E}"/>
              </a:ext>
            </a:extLst>
          </p:cNvPr>
          <p:cNvGrpSpPr/>
          <p:nvPr/>
        </p:nvGrpSpPr>
        <p:grpSpPr>
          <a:xfrm>
            <a:off x="367560" y="3016251"/>
            <a:ext cx="2077720" cy="474247"/>
            <a:chOff x="9779000" y="3070858"/>
            <a:chExt cx="2077720" cy="419640"/>
          </a:xfrm>
        </p:grpSpPr>
        <p:sp>
          <p:nvSpPr>
            <p:cNvPr id="23" name="מלבן 22">
              <a:extLst>
                <a:ext uri="{FF2B5EF4-FFF2-40B4-BE49-F238E27FC236}">
                  <a16:creationId xmlns:a16="http://schemas.microsoft.com/office/drawing/2014/main" id="{078F5388-CC1F-66BE-A304-03AB8BC15019}"/>
                </a:ext>
              </a:extLst>
            </p:cNvPr>
            <p:cNvSpPr/>
            <p:nvPr/>
          </p:nvSpPr>
          <p:spPr>
            <a:xfrm>
              <a:off x="9779000" y="3070858"/>
              <a:ext cx="2077720" cy="226907"/>
            </a:xfrm>
            <a:prstGeom prst="rect">
              <a:avLst/>
            </a:prstGeom>
            <a:solidFill>
              <a:srgbClr val="E6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4" name="מלבן 23">
              <a:extLst>
                <a:ext uri="{FF2B5EF4-FFF2-40B4-BE49-F238E27FC236}">
                  <a16:creationId xmlns:a16="http://schemas.microsoft.com/office/drawing/2014/main" id="{C6EDB60E-C594-0DB1-E36C-8A27A30B4E74}"/>
                </a:ext>
              </a:extLst>
            </p:cNvPr>
            <p:cNvSpPr/>
            <p:nvPr/>
          </p:nvSpPr>
          <p:spPr>
            <a:xfrm>
              <a:off x="9916583" y="3263591"/>
              <a:ext cx="1801284" cy="226907"/>
            </a:xfrm>
            <a:prstGeom prst="rect">
              <a:avLst/>
            </a:prstGeom>
            <a:solidFill>
              <a:srgbClr val="E6EFF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1348994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238</Words>
  <Application>Microsoft Office PowerPoint</Application>
  <PresentationFormat>מסך רחב</PresentationFormat>
  <Paragraphs>43</Paragraphs>
  <Slides>12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Assistant</vt:lpstr>
      <vt:lpstr>Calibri</vt:lpstr>
      <vt:lpstr>Heebo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Yaacov Michlin</dc:creator>
  <cp:lastModifiedBy>שחר אמיתי</cp:lastModifiedBy>
  <cp:revision>6</cp:revision>
  <dcterms:created xsi:type="dcterms:W3CDTF">2026-05-06T11:03:00Z</dcterms:created>
  <dcterms:modified xsi:type="dcterms:W3CDTF">2026-05-06T21:26:10Z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5194bbc-032f-47bb-9abc-b93ce9e451bf_Enabled">
    <vt:lpwstr>true</vt:lpwstr>
  </property>
  <property fmtid="{D5CDD505-2E9C-101B-9397-08002B2CF9AE}" pid="3" name="MSIP_Label_b5194bbc-032f-47bb-9abc-b93ce9e451bf_SetDate">
    <vt:lpwstr>2026-05-06T11:40:41Z</vt:lpwstr>
  </property>
  <property fmtid="{D5CDD505-2E9C-101B-9397-08002B2CF9AE}" pid="4" name="MSIP_Label_b5194bbc-032f-47bb-9abc-b93ce9e451bf_Method">
    <vt:lpwstr>Standard</vt:lpwstr>
  </property>
  <property fmtid="{D5CDD505-2E9C-101B-9397-08002B2CF9AE}" pid="5" name="MSIP_Label_b5194bbc-032f-47bb-9abc-b93ce9e451bf_Name">
    <vt:lpwstr>defa4170-0d19-0005-0004-bc88714345d2</vt:lpwstr>
  </property>
  <property fmtid="{D5CDD505-2E9C-101B-9397-08002B2CF9AE}" pid="6" name="MSIP_Label_b5194bbc-032f-47bb-9abc-b93ce9e451bf_SiteId">
    <vt:lpwstr>89549929-c3f4-4716-8ef4-0b2d475c2d50</vt:lpwstr>
  </property>
  <property fmtid="{D5CDD505-2E9C-101B-9397-08002B2CF9AE}" pid="7" name="MSIP_Label_b5194bbc-032f-47bb-9abc-b93ce9e451bf_ActionId">
    <vt:lpwstr>995dfc8c-537b-4c37-9343-6b5155e55da9</vt:lpwstr>
  </property>
  <property fmtid="{D5CDD505-2E9C-101B-9397-08002B2CF9AE}" pid="8" name="MSIP_Label_b5194bbc-032f-47bb-9abc-b93ce9e451bf_ContentBits">
    <vt:lpwstr>0</vt:lpwstr>
  </property>
  <property fmtid="{D5CDD505-2E9C-101B-9397-08002B2CF9AE}" pid="9" name="MSIP_Label_b5194bbc-032f-47bb-9abc-b93ce9e451bf_Tag">
    <vt:lpwstr>10, 3, 0, 1</vt:lpwstr>
  </property>
</Properties>
</file>