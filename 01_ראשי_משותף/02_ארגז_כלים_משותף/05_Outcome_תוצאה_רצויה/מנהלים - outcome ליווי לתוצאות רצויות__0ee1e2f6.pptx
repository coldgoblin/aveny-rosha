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  <p:embeddedFont>
      <p:font typeface="Open Sans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1S8emvmfVAZhNaSK8+cBAGtDr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Light-bold.fntdata"/><Relationship Id="rId6" Type="http://schemas.openxmlformats.org/officeDocument/2006/relationships/slide" Target="slides/slide1.xml"/><Relationship Id="rId18" Type="http://schemas.openxmlformats.org/officeDocument/2006/relationships/font" Target="fonts/Open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rgbClr val="F2E5C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12"/>
          <p:cNvCxnSpPr/>
          <p:nvPr/>
        </p:nvCxnSpPr>
        <p:spPr>
          <a:xfrm flipH="1">
            <a:off x="0" y="0"/>
            <a:ext cx="3119718" cy="685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12"/>
          <p:cNvCxnSpPr/>
          <p:nvPr/>
        </p:nvCxnSpPr>
        <p:spPr>
          <a:xfrm flipH="1">
            <a:off x="0" y="0"/>
            <a:ext cx="903768" cy="6543675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12"/>
          <p:cNvSpPr txBox="1"/>
          <p:nvPr>
            <p:ph type="ctrTitle"/>
          </p:nvPr>
        </p:nvSpPr>
        <p:spPr>
          <a:xfrm>
            <a:off x="857468" y="486137"/>
            <a:ext cx="5427584" cy="3599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lay"/>
              <a:buNone/>
              <a:defRPr sz="44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/>
          <p:nvPr>
            <p:ph idx="2" type="pic"/>
          </p:nvPr>
        </p:nvSpPr>
        <p:spPr>
          <a:xfrm>
            <a:off x="5624774" y="-6713"/>
            <a:ext cx="6578801" cy="689457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13"/>
          <p:cNvCxnSpPr/>
          <p:nvPr/>
        </p:nvCxnSpPr>
        <p:spPr>
          <a:xfrm rot="10800000">
            <a:off x="-42863" y="5791200"/>
            <a:ext cx="6286501" cy="1066801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13"/>
          <p:cNvCxnSpPr/>
          <p:nvPr/>
        </p:nvCxnSpPr>
        <p:spPr>
          <a:xfrm flipH="1">
            <a:off x="10911820" y="0"/>
            <a:ext cx="913577" cy="68580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13"/>
          <p:cNvSpPr txBox="1"/>
          <p:nvPr>
            <p:ph type="title"/>
          </p:nvPr>
        </p:nvSpPr>
        <p:spPr>
          <a:xfrm>
            <a:off x="3970117" y="185195"/>
            <a:ext cx="6930838" cy="15054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/>
          <p:nvPr>
            <p:ph idx="2" type="pic"/>
          </p:nvPr>
        </p:nvSpPr>
        <p:spPr>
          <a:xfrm>
            <a:off x="-18788" y="-22860"/>
            <a:ext cx="3291840" cy="690372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3970116" y="2022395"/>
            <a:ext cx="6941703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  <a:defRPr sz="1800"/>
            </a:lvl1pPr>
            <a:lvl2pPr indent="-32004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 sz="1800"/>
            </a:lvl2pPr>
            <a:lvl3pPr indent="-320039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 sz="1800"/>
            </a:lvl3pPr>
            <a:lvl4pPr indent="-320039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 sz="1800"/>
            </a:lvl4pPr>
            <a:lvl5pPr indent="-320039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14"/>
          <p:cNvCxnSpPr/>
          <p:nvPr/>
        </p:nvCxnSpPr>
        <p:spPr>
          <a:xfrm flipH="1">
            <a:off x="0" y="0"/>
            <a:ext cx="3119718" cy="685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" name="Google Shape;35;p14"/>
          <p:cNvCxnSpPr/>
          <p:nvPr/>
        </p:nvCxnSpPr>
        <p:spPr>
          <a:xfrm rot="10800000">
            <a:off x="-42863" y="5791200"/>
            <a:ext cx="6286501" cy="1066801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" name="Google Shape;36;p14"/>
          <p:cNvCxnSpPr/>
          <p:nvPr/>
        </p:nvCxnSpPr>
        <p:spPr>
          <a:xfrm flipH="1">
            <a:off x="0" y="0"/>
            <a:ext cx="903768" cy="6543675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14"/>
          <p:cNvSpPr txBox="1"/>
          <p:nvPr>
            <p:ph type="ctrTitle"/>
          </p:nvPr>
        </p:nvSpPr>
        <p:spPr>
          <a:xfrm>
            <a:off x="1215072" y="528320"/>
            <a:ext cx="5028566" cy="33549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subTitle"/>
          </p:nvPr>
        </p:nvSpPr>
        <p:spPr>
          <a:xfrm>
            <a:off x="1215072" y="4027992"/>
            <a:ext cx="5028565" cy="1894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40"/>
              <a:buNone/>
              <a:defRPr b="1" sz="18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14"/>
          <p:cNvSpPr/>
          <p:nvPr>
            <p:ph idx="2" type="pic"/>
          </p:nvPr>
        </p:nvSpPr>
        <p:spPr>
          <a:xfrm>
            <a:off x="7257326" y="-11576"/>
            <a:ext cx="4946249" cy="69037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 ">
  <p:cSld name="Content + picture 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15"/>
          <p:cNvCxnSpPr/>
          <p:nvPr/>
        </p:nvCxnSpPr>
        <p:spPr>
          <a:xfrm flipH="1">
            <a:off x="0" y="0"/>
            <a:ext cx="3119718" cy="685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" name="Google Shape;42;p15"/>
          <p:cNvCxnSpPr/>
          <p:nvPr/>
        </p:nvCxnSpPr>
        <p:spPr>
          <a:xfrm flipH="1">
            <a:off x="0" y="0"/>
            <a:ext cx="903768" cy="6543675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" name="Google Shape;43;p15"/>
          <p:cNvCxnSpPr/>
          <p:nvPr/>
        </p:nvCxnSpPr>
        <p:spPr>
          <a:xfrm rot="10800000">
            <a:off x="-42863" y="5791200"/>
            <a:ext cx="6286501" cy="1066801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" name="Google Shape;44;p15"/>
          <p:cNvSpPr txBox="1"/>
          <p:nvPr>
            <p:ph type="title"/>
          </p:nvPr>
        </p:nvSpPr>
        <p:spPr>
          <a:xfrm>
            <a:off x="838199" y="365125"/>
            <a:ext cx="66459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" type="body"/>
          </p:nvPr>
        </p:nvSpPr>
        <p:spPr>
          <a:xfrm>
            <a:off x="838201" y="2055813"/>
            <a:ext cx="5781261" cy="4067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Char char="•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60"/>
              <a:buChar char="•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6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/>
          <p:nvPr>
            <p:ph idx="2" type="pic"/>
          </p:nvPr>
        </p:nvSpPr>
        <p:spPr>
          <a:xfrm>
            <a:off x="7566991" y="-22860"/>
            <a:ext cx="4625008" cy="690372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ctrTitle"/>
          </p:nvPr>
        </p:nvSpPr>
        <p:spPr>
          <a:xfrm>
            <a:off x="1524000" y="1122363"/>
            <a:ext cx="9144000" cy="3025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" type="subTitle"/>
          </p:nvPr>
        </p:nvSpPr>
        <p:spPr>
          <a:xfrm>
            <a:off x="1524000" y="4386729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0988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4pPr>
            <a:lvl5pPr indent="-30987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838200" y="1924493"/>
            <a:ext cx="5181600" cy="425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2" type="body"/>
          </p:nvPr>
        </p:nvSpPr>
        <p:spPr>
          <a:xfrm>
            <a:off x="6172200" y="1924493"/>
            <a:ext cx="5181600" cy="425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839788" y="1734325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839788" y="2558237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6172200" y="1734325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20"/>
          <p:cNvSpPr txBox="1"/>
          <p:nvPr>
            <p:ph idx="4" type="body"/>
          </p:nvPr>
        </p:nvSpPr>
        <p:spPr>
          <a:xfrm>
            <a:off x="6172200" y="2558237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60"/>
              <a:buChar char="•"/>
              <a:defRPr sz="3200"/>
            </a:lvl1pPr>
            <a:lvl2pPr indent="-3708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240"/>
              <a:buChar char="•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6" name="Google Shape;96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23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24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" type="body"/>
          </p:nvPr>
        </p:nvSpPr>
        <p:spPr>
          <a:xfrm rot="5400000">
            <a:off x="4083788" y="-931234"/>
            <a:ext cx="4024424" cy="9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1"/>
          <p:cNvCxnSpPr/>
          <p:nvPr/>
        </p:nvCxnSpPr>
        <p:spPr>
          <a:xfrm flipH="1">
            <a:off x="0" y="0"/>
            <a:ext cx="3119718" cy="68580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" name="Google Shape;11;p11"/>
          <p:cNvCxnSpPr/>
          <p:nvPr/>
        </p:nvCxnSpPr>
        <p:spPr>
          <a:xfrm flipH="1">
            <a:off x="0" y="0"/>
            <a:ext cx="903768" cy="65436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11"/>
          <p:cNvCxnSpPr/>
          <p:nvPr/>
        </p:nvCxnSpPr>
        <p:spPr>
          <a:xfrm rot="10800000">
            <a:off x="-42863" y="5791200"/>
            <a:ext cx="6286501" cy="1066801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" name="Google Shape;13;p11"/>
          <p:cNvCxnSpPr/>
          <p:nvPr/>
        </p:nvCxnSpPr>
        <p:spPr>
          <a:xfrm flipH="1">
            <a:off x="8462964" y="5848350"/>
            <a:ext cx="3729036" cy="100965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11"/>
          <p:cNvCxnSpPr/>
          <p:nvPr/>
        </p:nvCxnSpPr>
        <p:spPr>
          <a:xfrm flipH="1">
            <a:off x="11543158" y="1647825"/>
            <a:ext cx="648842" cy="52101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" name="Google Shape;15;p11"/>
          <p:cNvCxnSpPr/>
          <p:nvPr/>
        </p:nvCxnSpPr>
        <p:spPr>
          <a:xfrm rot="10800000">
            <a:off x="10781554" y="0"/>
            <a:ext cx="1410446" cy="425834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" name="Google Shape;16;p11"/>
          <p:cNvCxnSpPr/>
          <p:nvPr/>
        </p:nvCxnSpPr>
        <p:spPr>
          <a:xfrm rot="10800000">
            <a:off x="6529388" y="-4763"/>
            <a:ext cx="5662612" cy="9319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" name="Google Shape;17;p11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b="0" i="1" sz="4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988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9879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type="ctrTitle"/>
          </p:nvPr>
        </p:nvSpPr>
        <p:spPr>
          <a:xfrm>
            <a:off x="857468" y="486137"/>
            <a:ext cx="5427584" cy="3599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lay"/>
              <a:buNone/>
            </a:pPr>
            <a:r>
              <a:rPr lang="iw-IL"/>
              <a:t>OUTCOME</a:t>
            </a:r>
            <a:br>
              <a:rPr lang="iw-IL"/>
            </a:br>
            <a:r>
              <a:rPr lang="iw-IL"/>
              <a:t>תוצאה</a:t>
            </a:r>
            <a:br>
              <a:rPr lang="iw-IL"/>
            </a:br>
            <a:endParaRPr/>
          </a:p>
        </p:txBody>
      </p:sp>
      <p:pic>
        <p:nvPicPr>
          <p:cNvPr descr="Looking up view of a city with skyscrapers" id="125" name="Google Shape;125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2" r="72" t="0"/>
          <a:stretch/>
        </p:blipFill>
        <p:spPr>
          <a:xfrm>
            <a:off x="5624774" y="-6713"/>
            <a:ext cx="6578801" cy="689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" y="5375088"/>
            <a:ext cx="1807740" cy="140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 txBox="1"/>
          <p:nvPr>
            <p:ph type="ctrTitle"/>
          </p:nvPr>
        </p:nvSpPr>
        <p:spPr>
          <a:xfrm>
            <a:off x="1076924" y="393192"/>
            <a:ext cx="5427584" cy="2385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lay"/>
              <a:buNone/>
            </a:pPr>
            <a:r>
              <a:rPr lang="iw-IL"/>
              <a:t>OUTCOME</a:t>
            </a:r>
            <a:br>
              <a:rPr lang="iw-IL"/>
            </a:br>
            <a:r>
              <a:rPr lang="iw-IL"/>
              <a:t>תוצאה</a:t>
            </a:r>
            <a:br>
              <a:rPr lang="iw-IL"/>
            </a:br>
            <a:endParaRPr/>
          </a:p>
        </p:txBody>
      </p:sp>
      <p:pic>
        <p:nvPicPr>
          <p:cNvPr descr="Looking up view of a city with skyscrapers" id="133" name="Google Shape;133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2" r="72" t="0"/>
          <a:stretch/>
        </p:blipFill>
        <p:spPr>
          <a:xfrm>
            <a:off x="5624774" y="-6713"/>
            <a:ext cx="6578801" cy="689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 txBox="1"/>
          <p:nvPr/>
        </p:nvSpPr>
        <p:spPr>
          <a:xfrm>
            <a:off x="1165316" y="2887189"/>
            <a:ext cx="4339372" cy="2385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742950" lvl="0" marL="74295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lay"/>
              <a:buAutoNum type="arabicPeriod"/>
            </a:pPr>
            <a:r>
              <a:rPr b="0" i="1" lang="iw-IL" sz="2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הגדרה (1,3,1)</a:t>
            </a:r>
            <a:endParaRPr/>
          </a:p>
          <a:p>
            <a:pPr indent="-742950" lvl="0" marL="74295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lay"/>
              <a:buAutoNum type="arabicPeriod"/>
            </a:pPr>
            <a:r>
              <a:rPr b="0" i="1" lang="iw-IL" sz="2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כח הדמיון</a:t>
            </a:r>
            <a:endParaRPr/>
          </a:p>
          <a:p>
            <a:pPr indent="-742950" lvl="0" marL="74295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lay"/>
              <a:buAutoNum type="arabicPeriod"/>
            </a:pPr>
            <a:r>
              <a:rPr b="0" i="1" lang="iw-IL" sz="2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בניית סצנות</a:t>
            </a:r>
            <a:endParaRPr/>
          </a:p>
          <a:p>
            <a:pPr indent="-742950" lvl="0" marL="74295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lay"/>
              <a:buAutoNum type="arabicPeriod"/>
            </a:pPr>
            <a:r>
              <a:rPr b="0" i="1" lang="iw-IL" sz="2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איך מקדמים</a:t>
            </a:r>
            <a:endParaRPr/>
          </a:p>
          <a:p>
            <a:pPr indent="-742950" lvl="0" marL="74295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lay"/>
              <a:buAutoNum type="arabicPeriod"/>
            </a:pPr>
            <a:r>
              <a:rPr b="0" i="1" lang="iw-IL" sz="2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ויתור</a:t>
            </a:r>
            <a:endParaRPr/>
          </a:p>
          <a:p>
            <a:pPr indent="-742950" lvl="0" marL="74295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lay"/>
              <a:buAutoNum type="arabicPeriod"/>
            </a:pPr>
            <a:r>
              <a:rPr b="0" i="1" lang="iw-IL" sz="2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מה מקום המנטור?</a:t>
            </a:r>
            <a:br>
              <a:rPr b="0" i="1" lang="iw-IL" sz="2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</a:br>
            <a:endParaRPr b="0" i="1" sz="2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5" name="Google Shape;1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" y="5375088"/>
            <a:ext cx="1807740" cy="140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oking up view of a city with skyscrapers" id="141" name="Google Shape;141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2" r="72" t="0"/>
          <a:stretch/>
        </p:blipFill>
        <p:spPr>
          <a:xfrm>
            <a:off x="5624774" y="-6713"/>
            <a:ext cx="6578801" cy="6894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💚&quot;התואיל להגיד לי, בבקשה, באיזו דרך עלי ללכת מכאן?&quot; שאלה אליס. &quot;זה תלוי  במידה רבה לאן את רוצה להגיע&quot;, אמר החתול. &quot;לא אכפת לי כל-כך לאן&quot;, אמרה אליס.  &quot;אם כך, לא משנה" id="142" name="Google Shape;1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856" y="235687"/>
            <a:ext cx="5688672" cy="5846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" y="6212572"/>
            <a:ext cx="733832" cy="57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3970117" y="185195"/>
            <a:ext cx="6930838" cy="15054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avid"/>
              <a:buNone/>
            </a:pPr>
            <a:r>
              <a:rPr lang="iw-IL">
                <a:latin typeface="David"/>
                <a:ea typeface="David"/>
                <a:cs typeface="David"/>
                <a:sym typeface="David"/>
              </a:rPr>
              <a:t>איך זה יראה שזה יצליח1,3,1</a:t>
            </a:r>
            <a:endParaRPr>
              <a:latin typeface="David"/>
              <a:ea typeface="David"/>
              <a:cs typeface="David"/>
              <a:sym typeface="David"/>
            </a:endParaRPr>
          </a:p>
        </p:txBody>
      </p:sp>
      <p:pic>
        <p:nvPicPr>
          <p:cNvPr descr="Looking up view of tall buildings" id="150" name="Google Shape;150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1" l="0" r="0" t="61"/>
          <a:stretch/>
        </p:blipFill>
        <p:spPr>
          <a:xfrm>
            <a:off x="-18788" y="-22860"/>
            <a:ext cx="3291840" cy="69037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>
            <p:ph idx="1" type="body"/>
          </p:nvPr>
        </p:nvSpPr>
        <p:spPr>
          <a:xfrm>
            <a:off x="4339866" y="2054293"/>
            <a:ext cx="6191339" cy="4297680"/>
          </a:xfrm>
          <a:prstGeom prst="rect">
            <a:avLst/>
          </a:prstGeom>
          <a:solidFill>
            <a:srgbClr val="CFF3FF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None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1 כתבו במשפט אחד איך זה יראה כשזה יצליח    בית ספר.....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80000"/>
              <a:buNone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3 – שלושה משפטים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80000"/>
              <a:buNone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עמוד....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80000"/>
              <a:buNone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תתי נושאים:</a:t>
            </a:r>
            <a:endParaRPr/>
          </a:p>
          <a:p>
            <a:pPr indent="-228600" lvl="0" marL="22860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80000"/>
              <a:buChar char="•"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מה עושה המנהל</a:t>
            </a:r>
            <a:endParaRPr/>
          </a:p>
          <a:p>
            <a:pPr indent="-228600" lvl="0" marL="22860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80000"/>
              <a:buChar char="•"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מה עושה מורה</a:t>
            </a:r>
            <a:endParaRPr/>
          </a:p>
          <a:p>
            <a:pPr indent="-228600" lvl="0" marL="22860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80000"/>
              <a:buChar char="•"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מה עושה תלמיד</a:t>
            </a:r>
            <a:endParaRPr/>
          </a:p>
          <a:p>
            <a:pPr indent="-228600" lvl="0" marL="22860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80000"/>
              <a:buChar char="•"/>
            </a:pPr>
            <a:r>
              <a:rPr b="1" lang="iw-IL" sz="3000">
                <a:latin typeface="Arial"/>
                <a:ea typeface="Arial"/>
                <a:cs typeface="Arial"/>
                <a:sym typeface="Arial"/>
              </a:rPr>
              <a:t>איך נראה שיעור/הפסקה/ קירות בית הספר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79999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dk2"/>
              </a:buClr>
              <a:buSzPct val="79999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5996" y="5471100"/>
            <a:ext cx="1807740" cy="140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>
            <p:ph type="ctrTitle"/>
          </p:nvPr>
        </p:nvSpPr>
        <p:spPr>
          <a:xfrm>
            <a:off x="1225704" y="343964"/>
            <a:ext cx="5028566" cy="980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David"/>
              <a:buNone/>
            </a:pPr>
            <a:r>
              <a:rPr lang="iw-IL">
                <a:latin typeface="David"/>
                <a:ea typeface="David"/>
                <a:cs typeface="David"/>
                <a:sym typeface="David"/>
              </a:rPr>
              <a:t>כח הדמיון</a:t>
            </a:r>
            <a:endParaRPr>
              <a:latin typeface="David"/>
              <a:ea typeface="David"/>
              <a:cs typeface="David"/>
              <a:sym typeface="David"/>
            </a:endParaRPr>
          </a:p>
        </p:txBody>
      </p:sp>
      <p:pic>
        <p:nvPicPr>
          <p:cNvPr descr="A plane flying over a city" id="159" name="Google Shape;159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7257326" y="-11576"/>
            <a:ext cx="4946249" cy="6903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פסנתר חשמלי Casio Celviano AP-470 שחור | קול המוסיקה"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6795" y="1324404"/>
            <a:ext cx="5351509" cy="4476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" y="5375088"/>
            <a:ext cx="1807740" cy="140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2126750" y="5801250"/>
            <a:ext cx="6158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solidFill>
                  <a:schemeClr val="dk1"/>
                </a:solidFill>
              </a:rPr>
              <a:t>Lotze, M., Scheler, G., Tan, H. R. M., Braun, C., &amp; Birbaumer, N. (2003). </a:t>
            </a:r>
            <a:r>
              <a:rPr b="1" lang="iw-IL">
                <a:solidFill>
                  <a:schemeClr val="dk1"/>
                </a:solidFill>
              </a:rPr>
              <a:t>The musician’s brain: Functional imaging of amateurs and professionals during performance and imagery.</a:t>
            </a:r>
            <a:r>
              <a:rPr lang="iw-IL">
                <a:solidFill>
                  <a:schemeClr val="dk1"/>
                </a:solidFill>
              </a:rPr>
              <a:t> </a:t>
            </a:r>
            <a:r>
              <a:rPr i="1" lang="iw-IL">
                <a:solidFill>
                  <a:schemeClr val="dk1"/>
                </a:solidFill>
              </a:rPr>
              <a:t>NeuroImage, 20</a:t>
            </a:r>
            <a:r>
              <a:rPr lang="iw-IL">
                <a:solidFill>
                  <a:schemeClr val="dk1"/>
                </a:solidFill>
              </a:rPr>
              <a:t>(3), 1817–1829.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ctrTitle"/>
          </p:nvPr>
        </p:nvSpPr>
        <p:spPr>
          <a:xfrm>
            <a:off x="502920" y="343964"/>
            <a:ext cx="6754406" cy="980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David"/>
              <a:buNone/>
            </a:pPr>
            <a:r>
              <a:rPr lang="iw-IL">
                <a:latin typeface="David"/>
                <a:ea typeface="David"/>
                <a:cs typeface="David"/>
                <a:sym typeface="David"/>
              </a:rPr>
              <a:t>כח הדמיון- סיפור שקרה באמת </a:t>
            </a:r>
            <a:endParaRPr/>
          </a:p>
        </p:txBody>
      </p:sp>
      <p:pic>
        <p:nvPicPr>
          <p:cNvPr descr="A plane flying over a city" id="169" name="Google Shape;169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7257326" y="-11576"/>
            <a:ext cx="4946249" cy="6903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סט דיילת אוויר - מסיבה נט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2254" y="1578102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" y="5375088"/>
            <a:ext cx="1807740" cy="140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type="title"/>
          </p:nvPr>
        </p:nvSpPr>
        <p:spPr>
          <a:xfrm>
            <a:off x="4118100" y="533394"/>
            <a:ext cx="69309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avid"/>
              <a:buNone/>
            </a:pPr>
            <a:r>
              <a:rPr lang="iw-IL">
                <a:latin typeface="David"/>
                <a:ea typeface="David"/>
                <a:cs typeface="David"/>
                <a:sym typeface="David"/>
              </a:rPr>
              <a:t>איך נראה הOUTCOME</a:t>
            </a:r>
            <a:endParaRPr/>
          </a:p>
        </p:txBody>
      </p:sp>
      <p:pic>
        <p:nvPicPr>
          <p:cNvPr descr="Looking up view of tall buildings" id="178" name="Google Shape;178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1" l="0" r="0" t="61"/>
          <a:stretch/>
        </p:blipFill>
        <p:spPr>
          <a:xfrm>
            <a:off x="-18788" y="-22860"/>
            <a:ext cx="3291840" cy="6903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>
            <p:ph idx="1" type="body"/>
          </p:nvPr>
        </p:nvSpPr>
        <p:spPr>
          <a:xfrm>
            <a:off x="4021301" y="1681226"/>
            <a:ext cx="7637400" cy="53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תהיו מנטורים שעוזרים לראות את התמונה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מה אתה רואה? איך אתה נראה?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מה אתה שומע?איך אתה נשמע?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מה אתה אומר לעצמך בדיבור הפנימי?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איך אתה מרגיש?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איפה אתה?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עם מי אתה?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מתי זה קורה?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המנהל מתאר את התמונה על עצמו בגוף שלישי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המנטור מתעד וכותב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אחרי הכתיבה הקראה</a:t>
            </a:r>
            <a:endParaRPr sz="2400">
              <a:latin typeface="David"/>
              <a:ea typeface="David"/>
              <a:cs typeface="David"/>
              <a:sym typeface="David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775" y="5448240"/>
            <a:ext cx="1807740" cy="140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3970117" y="185195"/>
            <a:ext cx="6930838" cy="15054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avid"/>
              <a:buNone/>
            </a:pPr>
            <a:r>
              <a:rPr lang="iw-IL">
                <a:latin typeface="David"/>
                <a:ea typeface="David"/>
                <a:cs typeface="David"/>
                <a:sym typeface="David"/>
              </a:rPr>
              <a:t>איך מקדמים?</a:t>
            </a:r>
            <a:endParaRPr>
              <a:latin typeface="David"/>
              <a:ea typeface="David"/>
              <a:cs typeface="David"/>
              <a:sym typeface="David"/>
            </a:endParaRPr>
          </a:p>
        </p:txBody>
      </p:sp>
      <p:pic>
        <p:nvPicPr>
          <p:cNvPr descr="Looking up view of tall buildings" id="187" name="Google Shape;187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1" l="0" r="0" t="61"/>
          <a:stretch/>
        </p:blipFill>
        <p:spPr>
          <a:xfrm>
            <a:off x="-18788" y="-22860"/>
            <a:ext cx="3291840" cy="69037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/>
          <p:nvPr>
            <p:ph idx="1" type="body"/>
          </p:nvPr>
        </p:nvSpPr>
        <p:spPr>
          <a:xfrm>
            <a:off x="9372600" y="3218684"/>
            <a:ext cx="1107915" cy="1216156"/>
          </a:xfrm>
          <a:prstGeom prst="rect">
            <a:avLst/>
          </a:prstGeom>
          <a:solidFill>
            <a:srgbClr val="94B8BF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80"/>
              <a:buNone/>
            </a:pPr>
            <a:r>
              <a:rPr b="1" lang="iw-IL" sz="3600">
                <a:latin typeface="David"/>
                <a:ea typeface="David"/>
                <a:cs typeface="David"/>
                <a:sym typeface="David"/>
              </a:rPr>
              <a:t>מדיד</a:t>
            </a:r>
            <a:endParaRPr b="1" sz="3600">
              <a:latin typeface="David"/>
              <a:ea typeface="David"/>
              <a:cs typeface="David"/>
              <a:sym typeface="David"/>
            </a:endParaRPr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775" y="5448240"/>
            <a:ext cx="1807740" cy="140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 chart with solid fill" id="190" name="Google Shape;19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66115" y="2103120"/>
            <a:ext cx="914400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8"/>
          <p:cNvGrpSpPr/>
          <p:nvPr/>
        </p:nvGrpSpPr>
        <p:grpSpPr>
          <a:xfrm>
            <a:off x="7269481" y="2103120"/>
            <a:ext cx="1270994" cy="2331720"/>
            <a:chOff x="7269481" y="2103120"/>
            <a:chExt cx="1270994" cy="2331720"/>
          </a:xfrm>
        </p:grpSpPr>
        <p:sp>
          <p:nvSpPr>
            <p:cNvPr id="192" name="Google Shape;192;p8"/>
            <p:cNvSpPr txBox="1"/>
            <p:nvPr/>
          </p:nvSpPr>
          <p:spPr>
            <a:xfrm>
              <a:off x="7269481" y="3218685"/>
              <a:ext cx="1270994" cy="1216155"/>
            </a:xfrm>
            <a:prstGeom prst="rect">
              <a:avLst/>
            </a:prstGeom>
            <a:solidFill>
              <a:srgbClr val="94B8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80"/>
                <a:buFont typeface="Arial"/>
                <a:buNone/>
              </a:pPr>
              <a:r>
                <a:rPr b="1" i="0" lang="iw-IL" sz="3600" u="none" cap="none" strike="noStrike">
                  <a:solidFill>
                    <a:schemeClr val="dk2"/>
                  </a:solidFill>
                  <a:latin typeface="David"/>
                  <a:ea typeface="David"/>
                  <a:cs typeface="David"/>
                  <a:sym typeface="David"/>
                </a:rPr>
                <a:t>חיובי</a:t>
              </a:r>
              <a:endParaRPr b="1" i="0" sz="3600" u="none" cap="none" strike="noStrike">
                <a:solidFill>
                  <a:schemeClr val="dk2"/>
                </a:solidFill>
                <a:latin typeface="David"/>
                <a:ea typeface="David"/>
                <a:cs typeface="David"/>
                <a:sym typeface="David"/>
              </a:endParaRPr>
            </a:p>
          </p:txBody>
        </p:sp>
        <p:pic>
          <p:nvPicPr>
            <p:cNvPr descr="Care with solid fill" id="193" name="Google Shape;193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26074" y="210312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8"/>
          <p:cNvGrpSpPr/>
          <p:nvPr/>
        </p:nvGrpSpPr>
        <p:grpSpPr>
          <a:xfrm>
            <a:off x="5175504" y="1997486"/>
            <a:ext cx="1424929" cy="2437354"/>
            <a:chOff x="5175504" y="1997486"/>
            <a:chExt cx="1424929" cy="2437354"/>
          </a:xfrm>
        </p:grpSpPr>
        <p:sp>
          <p:nvSpPr>
            <p:cNvPr id="195" name="Google Shape;195;p8"/>
            <p:cNvSpPr txBox="1"/>
            <p:nvPr/>
          </p:nvSpPr>
          <p:spPr>
            <a:xfrm>
              <a:off x="5175504" y="3218685"/>
              <a:ext cx="1424929" cy="1216155"/>
            </a:xfrm>
            <a:prstGeom prst="rect">
              <a:avLst/>
            </a:prstGeom>
            <a:solidFill>
              <a:srgbClr val="94B8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/>
            </a:bodyPr>
            <a:lstStyle/>
            <a:p>
              <a:pPr indent="0" lvl="0" marL="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ct val="80000"/>
                <a:buFont typeface="Arial"/>
                <a:buNone/>
              </a:pPr>
              <a:r>
                <a:rPr b="1" i="0" lang="iw-IL" sz="4000" u="none" cap="none" strike="noStrike">
                  <a:solidFill>
                    <a:schemeClr val="dk2"/>
                  </a:solidFill>
                  <a:latin typeface="David"/>
                  <a:ea typeface="David"/>
                  <a:cs typeface="David"/>
                  <a:sym typeface="David"/>
                </a:rPr>
                <a:t>תלוי</a:t>
              </a:r>
              <a:r>
                <a:rPr b="1" i="0" lang="iw-IL" sz="3100" u="none" cap="none" strike="noStrike">
                  <a:solidFill>
                    <a:schemeClr val="dk2"/>
                  </a:solidFill>
                  <a:latin typeface="David"/>
                  <a:ea typeface="David"/>
                  <a:cs typeface="David"/>
                  <a:sym typeface="David"/>
                </a:rPr>
                <a:t> </a:t>
              </a:r>
              <a:r>
                <a:rPr b="1" i="0" lang="iw-IL" sz="4000" u="none" cap="none" strike="noStrike">
                  <a:solidFill>
                    <a:schemeClr val="dk2"/>
                  </a:solidFill>
                  <a:latin typeface="David"/>
                  <a:ea typeface="David"/>
                  <a:cs typeface="David"/>
                  <a:sym typeface="David"/>
                </a:rPr>
                <a:t>בי</a:t>
              </a:r>
              <a:r>
                <a:rPr b="1" i="0" lang="iw-IL" sz="3100" u="none" cap="none" strike="noStrike">
                  <a:solidFill>
                    <a:schemeClr val="dk2"/>
                  </a:solidFill>
                  <a:latin typeface="David"/>
                  <a:ea typeface="David"/>
                  <a:cs typeface="David"/>
                  <a:sym typeface="David"/>
                </a:rPr>
                <a:t> </a:t>
              </a:r>
              <a:endParaRPr b="1" i="0" sz="3100" u="none" cap="none" strike="noStrike">
                <a:solidFill>
                  <a:schemeClr val="dk2"/>
                </a:solidFill>
                <a:latin typeface="David"/>
                <a:ea typeface="David"/>
                <a:cs typeface="David"/>
                <a:sym typeface="David"/>
              </a:endParaRPr>
            </a:p>
          </p:txBody>
        </p:sp>
        <p:pic>
          <p:nvPicPr>
            <p:cNvPr descr="Bamboo with solid fill" id="196" name="Google Shape;196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91566" y="1997486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3970117" y="185195"/>
            <a:ext cx="6930838" cy="15054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avid"/>
              <a:buNone/>
            </a:pPr>
            <a:r>
              <a:rPr lang="iw-IL">
                <a:latin typeface="David"/>
                <a:ea typeface="David"/>
                <a:cs typeface="David"/>
                <a:sym typeface="David"/>
              </a:rPr>
              <a:t>על מה צריך לוותר?</a:t>
            </a:r>
            <a:endParaRPr>
              <a:latin typeface="David"/>
              <a:ea typeface="David"/>
              <a:cs typeface="David"/>
              <a:sym typeface="David"/>
            </a:endParaRPr>
          </a:p>
        </p:txBody>
      </p:sp>
      <p:pic>
        <p:nvPicPr>
          <p:cNvPr descr="Looking up view of tall buildings" id="203" name="Google Shape;203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1" l="0" r="0" t="61"/>
          <a:stretch/>
        </p:blipFill>
        <p:spPr>
          <a:xfrm>
            <a:off x="12" y="-22860"/>
            <a:ext cx="3291840" cy="6903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 txBox="1"/>
          <p:nvPr>
            <p:ph idx="1" type="body"/>
          </p:nvPr>
        </p:nvSpPr>
        <p:spPr>
          <a:xfrm>
            <a:off x="8055864" y="3154680"/>
            <a:ext cx="2424651" cy="1280160"/>
          </a:xfrm>
          <a:prstGeom prst="rect">
            <a:avLst/>
          </a:prstGeom>
          <a:solidFill>
            <a:srgbClr val="EBC54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9999"/>
              <a:buNone/>
            </a:pPr>
            <a:r>
              <a:rPr b="1" lang="iw-IL" sz="3600">
                <a:latin typeface="David"/>
                <a:ea typeface="David"/>
                <a:cs typeface="David"/>
                <a:sym typeface="David"/>
              </a:rPr>
              <a:t>אקולוגי</a:t>
            </a:r>
            <a:endParaRPr/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9999"/>
              <a:buNone/>
            </a:pPr>
            <a:r>
              <a:rPr b="1" lang="iw-IL" sz="3600">
                <a:latin typeface="David"/>
                <a:ea typeface="David"/>
                <a:cs typeface="David"/>
                <a:sym typeface="David"/>
              </a:rPr>
              <a:t>מתאים למשאבים</a:t>
            </a:r>
            <a:endParaRPr b="1" sz="3600">
              <a:latin typeface="David"/>
              <a:ea typeface="David"/>
              <a:cs typeface="David"/>
              <a:sym typeface="David"/>
            </a:endParaRPr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775" y="5448240"/>
            <a:ext cx="1807740" cy="140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ספרי קיימות מקצועיים | ספרות מקצועית בנושא קיימות - ידע ספרים" id="206" name="Google Shape;2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7834" y="2939796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type="title"/>
          </p:nvPr>
        </p:nvSpPr>
        <p:spPr>
          <a:xfrm>
            <a:off x="838199" y="365125"/>
            <a:ext cx="66459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b="1" lang="iw-IL"/>
              <a:t>מה התפקיד של מנטור?</a:t>
            </a:r>
            <a:endParaRPr b="1"/>
          </a:p>
        </p:txBody>
      </p:sp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838201" y="2055813"/>
            <a:ext cx="5781261" cy="4067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80"/>
              <a:buNone/>
            </a:pPr>
            <a:r>
              <a:rPr lang="iw-IL" sz="3600"/>
              <a:t>להניע לפעולה? 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80"/>
              <a:buNone/>
            </a:pPr>
            <a:r>
              <a:rPr lang="iw-IL" sz="3600"/>
              <a:t>לייצר חזון? 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80"/>
              <a:buNone/>
            </a:pPr>
            <a:r>
              <a:rPr lang="iw-IL" sz="3600"/>
              <a:t>להגדיר יעדים על התוצאה? 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80"/>
              <a:buNone/>
            </a:pPr>
            <a:r>
              <a:rPr lang="iw-IL" sz="3600"/>
              <a:t>להגדיר איך ימדדו אותה?</a:t>
            </a:r>
            <a:endParaRPr sz="3600"/>
          </a:p>
        </p:txBody>
      </p:sp>
      <p:pic>
        <p:nvPicPr>
          <p:cNvPr descr="City lights at night" id="214" name="Google Shape;214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" l="0" r="0" t="52"/>
          <a:stretch/>
        </p:blipFill>
        <p:spPr>
          <a:xfrm>
            <a:off x="7566991" y="-22860"/>
            <a:ext cx="4625008" cy="690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2025-11-02T10:58:06Z</dcterms:created>
  <dc:creator>Shlomit Kislev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b5194bbc-032f-47bb-9abc-b93ce9e451bf_Enabled">
    <vt:lpwstr>true</vt:lpwstr>
  </property>
  <property fmtid="{D5CDD505-2E9C-101B-9397-08002B2CF9AE}" pid="4" name="MSIP_Label_b5194bbc-032f-47bb-9abc-b93ce9e451bf_SetDate">
    <vt:lpwstr>2025-11-02T11:05:42Z</vt:lpwstr>
  </property>
  <property fmtid="{D5CDD505-2E9C-101B-9397-08002B2CF9AE}" pid="5" name="MSIP_Label_b5194bbc-032f-47bb-9abc-b93ce9e451bf_Method">
    <vt:lpwstr>Standard</vt:lpwstr>
  </property>
  <property fmtid="{D5CDD505-2E9C-101B-9397-08002B2CF9AE}" pid="6" name="MSIP_Label_b5194bbc-032f-47bb-9abc-b93ce9e451bf_Name">
    <vt:lpwstr>defa4170-0d19-0005-0004-bc88714345d2</vt:lpwstr>
  </property>
  <property fmtid="{D5CDD505-2E9C-101B-9397-08002B2CF9AE}" pid="7" name="MSIP_Label_b5194bbc-032f-47bb-9abc-b93ce9e451bf_SiteId">
    <vt:lpwstr>89549929-c3f4-4716-8ef4-0b2d475c2d50</vt:lpwstr>
  </property>
  <property fmtid="{D5CDD505-2E9C-101B-9397-08002B2CF9AE}" pid="8" name="MSIP_Label_b5194bbc-032f-47bb-9abc-b93ce9e451bf_ActionId">
    <vt:lpwstr>1374922a-21f5-4545-84ee-38cfd32268ee</vt:lpwstr>
  </property>
  <property fmtid="{D5CDD505-2E9C-101B-9397-08002B2CF9AE}" pid="9" name="MSIP_Label_b5194bbc-032f-47bb-9abc-b93ce9e451bf_ContentBits">
    <vt:lpwstr>0</vt:lpwstr>
  </property>
  <property fmtid="{D5CDD505-2E9C-101B-9397-08002B2CF9AE}" pid="10" name="MSIP_Label_b5194bbc-032f-47bb-9abc-b93ce9e451bf_Tag">
    <vt:lpwstr>10, 3, 0, 1</vt:lpwstr>
  </property>
</Properties>
</file>