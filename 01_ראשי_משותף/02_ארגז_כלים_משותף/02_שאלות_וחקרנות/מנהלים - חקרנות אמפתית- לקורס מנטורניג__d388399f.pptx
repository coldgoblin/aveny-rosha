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6858000" cx="12192000"/>
  <p:notesSz cx="6858000" cy="9144000"/>
  <p:embeddedFontLst>
    <p:embeddedFont>
      <p:font typeface="Assistant"/>
      <p:regular r:id="rId32"/>
      <p:bold r:id="rId33"/>
    </p:embeddedFont>
    <p:embeddedFont>
      <p:font typeface="Gill Sans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948585-5F28-4914-B4F3-C82E76B3A131}">
  <a:tblStyle styleId="{F5948585-5F28-4914-B4F3-C82E76B3A131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D0A2E2A-DCA9-44FA-BF9F-EC55150B478F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2F2"/>
          </a:solidFill>
        </a:fill>
      </a:tcStyle>
    </a:wholeTbl>
    <a:band1H>
      <a:tcTxStyle/>
      <a:tcStyle>
        <a:fill>
          <a:solidFill>
            <a:srgbClr val="DEE3E5"/>
          </a:solidFill>
        </a:fill>
      </a:tcStyle>
    </a:band1H>
    <a:band2H>
      <a:tcTxStyle/>
    </a:band2H>
    <a:band1V>
      <a:tcTxStyle/>
      <a:tcStyle>
        <a:fill>
          <a:solidFill>
            <a:srgbClr val="DEE3E5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FF2F2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FF2F2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Assistant-bold.fntdata"/><Relationship Id="rId10" Type="http://schemas.openxmlformats.org/officeDocument/2006/relationships/slide" Target="slides/slide3.xml"/><Relationship Id="rId32" Type="http://schemas.openxmlformats.org/officeDocument/2006/relationships/font" Target="fonts/Assistant-regular.fntdata"/><Relationship Id="rId13" Type="http://schemas.openxmlformats.org/officeDocument/2006/relationships/slide" Target="slides/slide6.xml"/><Relationship Id="rId35" Type="http://schemas.openxmlformats.org/officeDocument/2006/relationships/font" Target="fonts/GillSans-bold.fntdata"/><Relationship Id="rId12" Type="http://schemas.openxmlformats.org/officeDocument/2006/relationships/slide" Target="slides/slide5.xml"/><Relationship Id="rId34" Type="http://schemas.openxmlformats.org/officeDocument/2006/relationships/font" Target="fonts/GillSans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2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2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3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346" y="6457950"/>
            <a:ext cx="143550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tx">
  <p:cSld name="TITLE_AND_BOD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/>
          <p:nvPr/>
        </p:nvSpPr>
        <p:spPr>
          <a:xfrm>
            <a:off x="1700021" y="987548"/>
            <a:ext cx="8791958" cy="4882905"/>
          </a:xfrm>
          <a:prstGeom prst="rect">
            <a:avLst/>
          </a:prstGeom>
          <a:solidFill>
            <a:srgbClr val="E3DED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4"/>
          <p:cNvSpPr txBox="1"/>
          <p:nvPr>
            <p:ph idx="12" type="sldNum"/>
          </p:nvPr>
        </p:nvSpPr>
        <p:spPr>
          <a:xfrm>
            <a:off x="10167390" y="5586747"/>
            <a:ext cx="277276" cy="2082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5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274300" spcFirstLastPara="1" rIns="274300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  <a:defRPr b="0" i="0" sz="3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p35"/>
          <p:cNvSpPr txBox="1"/>
          <p:nvPr>
            <p:ph idx="1" type="subTitle"/>
          </p:nvPr>
        </p:nvSpPr>
        <p:spPr>
          <a:xfrm>
            <a:off x="2695194" y="4352545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3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3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3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2" name="Google Shape;32;p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/>
          <p:nvPr/>
        </p:nvSpPr>
        <p:spPr>
          <a:xfrm>
            <a:off x="1521823" y="1625455"/>
            <a:ext cx="9732260" cy="198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ssistant"/>
              <a:buNone/>
            </a:pPr>
            <a:r>
              <a:rPr b="0" i="0" lang="en-US" sz="528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חקרנות אמפתית- </a:t>
            </a:r>
            <a:br>
              <a:rPr b="0" i="0" lang="en-US" sz="528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b="0" i="0" lang="en-US" sz="528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מתודה לחקר פרקטיקה</a:t>
            </a:r>
            <a:br>
              <a:rPr b="0" i="0" lang="en-US" sz="528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b="0" i="0" lang="en-US" sz="528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לסייע למורים ומנהלים לשנות נקודת מבט</a:t>
            </a:r>
            <a:endParaRPr b="0" i="0" sz="528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66" name="Google Shape;166;p36"/>
          <p:cNvSpPr txBox="1"/>
          <p:nvPr/>
        </p:nvSpPr>
        <p:spPr>
          <a:xfrm>
            <a:off x="2835816" y="4458877"/>
            <a:ext cx="7361877" cy="1208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פרופ' מיכל ראזר</a:t>
            </a:r>
            <a:endParaRPr b="0" i="0" sz="24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67" name="Google Shape;1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544" y="4566207"/>
            <a:ext cx="1081539" cy="126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 txBox="1"/>
          <p:nvPr>
            <p:ph type="title"/>
          </p:nvPr>
        </p:nvSpPr>
        <p:spPr>
          <a:xfrm>
            <a:off x="804672" y="2404872"/>
            <a:ext cx="3044950" cy="1627792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ssistant"/>
              <a:buNone/>
            </a:pPr>
            <a:r>
              <a:rPr b="1" lang="en-US" sz="3200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rPr>
              <a:t>מבוי סתום</a:t>
            </a:r>
            <a:endParaRPr/>
          </a:p>
        </p:txBody>
      </p:sp>
      <p:pic>
        <p:nvPicPr>
          <p:cNvPr descr="preencoded.png" id="173" name="Google Shape;173;p37"/>
          <p:cNvPicPr preferRelativeResize="0"/>
          <p:nvPr/>
        </p:nvPicPr>
        <p:blipFill rotWithShape="1">
          <a:blip r:embed="rId3">
            <a:alphaModFix/>
          </a:blip>
          <a:srcRect b="8311" l="0" r="1" t="0"/>
          <a:stretch/>
        </p:blipFill>
        <p:spPr>
          <a:xfrm>
            <a:off x="6507375" y="640080"/>
            <a:ext cx="3831546" cy="5263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/>
          <p:nvPr/>
        </p:nvSpPr>
        <p:spPr>
          <a:xfrm>
            <a:off x="643467" y="2681103"/>
            <a:ext cx="3363974" cy="149579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הפרדוקס של הידיעה</a:t>
            </a:r>
            <a:endParaRPr b="1" i="0" sz="3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180" name="Google Shape;180;p38"/>
          <p:cNvGrpSpPr/>
          <p:nvPr/>
        </p:nvGrpSpPr>
        <p:grpSpPr>
          <a:xfrm>
            <a:off x="4767532" y="253042"/>
            <a:ext cx="7251940" cy="6234021"/>
            <a:chOff x="0" y="0"/>
            <a:chExt cx="7251940" cy="6234021"/>
          </a:xfrm>
        </p:grpSpPr>
        <p:cxnSp>
          <p:nvCxnSpPr>
            <p:cNvPr id="181" name="Google Shape;181;p38"/>
            <p:cNvCxnSpPr/>
            <p:nvPr/>
          </p:nvCxnSpPr>
          <p:spPr>
            <a:xfrm>
              <a:off x="0" y="0"/>
              <a:ext cx="7251940" cy="0"/>
            </a:xfrm>
            <a:prstGeom prst="straightConnector1">
              <a:avLst/>
            </a:prstGeom>
            <a:gradFill>
              <a:gsLst>
                <a:gs pos="0">
                  <a:srgbClr val="A2B4B9"/>
                </a:gs>
                <a:gs pos="50000">
                  <a:srgbClr val="99AFB5"/>
                </a:gs>
                <a:gs pos="100000">
                  <a:srgbClr val="91A7AE"/>
                </a:gs>
              </a:gsLst>
              <a:lin ang="5400000" scaled="0"/>
            </a:gra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38"/>
            <p:cNvSpPr/>
            <p:nvPr/>
          </p:nvSpPr>
          <p:spPr>
            <a:xfrm>
              <a:off x="0" y="0"/>
              <a:ext cx="7251940" cy="15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8"/>
            <p:cNvSpPr txBox="1"/>
            <p:nvPr/>
          </p:nvSpPr>
          <p:spPr>
            <a:xfrm>
              <a:off x="0" y="0"/>
              <a:ext cx="7251940" cy="15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ssistant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קפיצה למסקנות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- </a:t>
              </a:r>
              <a:endParaRPr b="0" i="0" sz="2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1" algn="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ssistant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המוח שלנו עובד במהירות מדהימה. אנחנו ממש קופצים למסקנות - זה תהליך אוטומטי ובלתי נמנע. </a:t>
              </a:r>
              <a:endParaRPr/>
            </a:p>
          </p:txBody>
        </p:sp>
        <p:cxnSp>
          <p:nvCxnSpPr>
            <p:cNvPr id="184" name="Google Shape;184;p38"/>
            <p:cNvCxnSpPr/>
            <p:nvPr/>
          </p:nvCxnSpPr>
          <p:spPr>
            <a:xfrm>
              <a:off x="0" y="1558505"/>
              <a:ext cx="7251940" cy="0"/>
            </a:xfrm>
            <a:prstGeom prst="straightConnector1">
              <a:avLst/>
            </a:prstGeom>
            <a:gradFill>
              <a:gsLst>
                <a:gs pos="0">
                  <a:srgbClr val="CB7047"/>
                </a:gs>
                <a:gs pos="50000">
                  <a:srgbClr val="CB622A"/>
                </a:gs>
                <a:gs pos="100000">
                  <a:srgbClr val="C65C23"/>
                </a:gs>
              </a:gsLst>
              <a:lin ang="5400000" scaled="0"/>
            </a:gradFill>
            <a:ln cap="flat" cmpd="sng" w="9525">
              <a:solidFill>
                <a:srgbClr val="C9642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5" name="Google Shape;185;p38"/>
            <p:cNvSpPr/>
            <p:nvPr/>
          </p:nvSpPr>
          <p:spPr>
            <a:xfrm>
              <a:off x="0" y="1558505"/>
              <a:ext cx="7251940" cy="15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8"/>
            <p:cNvSpPr txBox="1"/>
            <p:nvPr/>
          </p:nvSpPr>
          <p:spPr>
            <a:xfrm>
              <a:off x="0" y="1558505"/>
              <a:ext cx="7251940" cy="15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ssistant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התמודדות עם אי-ודאות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- </a:t>
              </a:r>
              <a:endParaRPr b="0" i="0" sz="2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1" algn="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ssistant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כשאנחנו מתמודדים עם אי-ודאות, אנחנו מפתחים במהירות השערות לגבי מצב או בעיה. זה מנגנון הישרדות טבעי</a:t>
              </a:r>
              <a:endParaRPr b="0" i="0" sz="21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cxnSp>
          <p:nvCxnSpPr>
            <p:cNvPr id="187" name="Google Shape;187;p38"/>
            <p:cNvCxnSpPr/>
            <p:nvPr/>
          </p:nvCxnSpPr>
          <p:spPr>
            <a:xfrm>
              <a:off x="0" y="3117010"/>
              <a:ext cx="7251940" cy="0"/>
            </a:xfrm>
            <a:prstGeom prst="straightConnector1">
              <a:avLst/>
            </a:prstGeom>
            <a:gradFill>
              <a:gsLst>
                <a:gs pos="0">
                  <a:srgbClr val="A2A98C"/>
                </a:gs>
                <a:gs pos="50000">
                  <a:srgbClr val="9CA382"/>
                </a:gs>
                <a:gs pos="100000">
                  <a:srgbClr val="949C7A"/>
                </a:gs>
              </a:gsLst>
              <a:lin ang="5400000" scaled="0"/>
            </a:gra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8" name="Google Shape;188;p38"/>
            <p:cNvSpPr/>
            <p:nvPr/>
          </p:nvSpPr>
          <p:spPr>
            <a:xfrm>
              <a:off x="0" y="3117010"/>
              <a:ext cx="7251940" cy="15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8"/>
            <p:cNvSpPr txBox="1"/>
            <p:nvPr/>
          </p:nvSpPr>
          <p:spPr>
            <a:xfrm>
              <a:off x="0" y="3117010"/>
              <a:ext cx="7251940" cy="15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ssistant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כפיית הבנה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-  </a:t>
              </a:r>
              <a:endParaRPr b="0" i="0" sz="2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1" algn="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ssistant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אנחנו חושבים שאנחנו מבינים ואז כופים את ההבנה שלנו, את ה"ידיעה" שלנו, על המצב - לעתים קרובות מבלי להבין שאנחנו עושים זאת.</a:t>
              </a:r>
              <a:endParaRPr/>
            </a:p>
          </p:txBody>
        </p:sp>
        <p:cxnSp>
          <p:nvCxnSpPr>
            <p:cNvPr id="190" name="Google Shape;190;p38"/>
            <p:cNvCxnSpPr/>
            <p:nvPr/>
          </p:nvCxnSpPr>
          <p:spPr>
            <a:xfrm>
              <a:off x="0" y="4675516"/>
              <a:ext cx="7251940" cy="0"/>
            </a:xfrm>
            <a:prstGeom prst="straightConnector1">
              <a:avLst/>
            </a:prstGeom>
            <a:gradFill>
              <a:gsLst>
                <a:gs pos="0">
                  <a:srgbClr val="8E8268"/>
                </a:gs>
                <a:gs pos="50000">
                  <a:srgbClr val="87795B"/>
                </a:gs>
                <a:gs pos="100000">
                  <a:srgbClr val="827355"/>
                </a:gs>
              </a:gsLst>
              <a:lin ang="5400000" scaled="0"/>
            </a:gra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1" name="Google Shape;191;p38"/>
            <p:cNvSpPr/>
            <p:nvPr/>
          </p:nvSpPr>
          <p:spPr>
            <a:xfrm>
              <a:off x="0" y="4675516"/>
              <a:ext cx="7251940" cy="15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8"/>
            <p:cNvSpPr txBox="1"/>
            <p:nvPr/>
          </p:nvSpPr>
          <p:spPr>
            <a:xfrm>
              <a:off x="0" y="4675516"/>
              <a:ext cx="7251940" cy="15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ssistant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המלכודת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b="0" i="0" sz="2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1" algn="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ssistant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ה"ידיעה" שלנו מקשה מאוד לגלות דרכים חדשות להתקדם. ואז אנחנו מרגישים תקועים - אבל למעשה אנחנו תקועים במסגרת שלנו עצמנו</a:t>
              </a:r>
              <a:endParaRPr b="0" i="0" sz="2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637889" y="2893470"/>
            <a:ext cx="2787467" cy="1071062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ssistant"/>
              <a:buNone/>
            </a:pPr>
            <a:r>
              <a:rPr lang="en-US" sz="2400">
                <a:latin typeface="Assistant"/>
                <a:ea typeface="Assistant"/>
                <a:cs typeface="Assistant"/>
                <a:sym typeface="Assistant"/>
              </a:rPr>
              <a:t>למה חשוב </a:t>
            </a:r>
            <a:r>
              <a:rPr b="1" lang="en-US" sz="2400">
                <a:latin typeface="Assistant"/>
                <a:ea typeface="Assistant"/>
                <a:cs typeface="Assistant"/>
                <a:sym typeface="Assistant"/>
              </a:rPr>
              <a:t>לא לדעת?</a:t>
            </a:r>
            <a:endParaRPr sz="2400"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198" name="Google Shape;198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4658" y="213728"/>
            <a:ext cx="5707106" cy="6430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/>
          <p:nvPr/>
        </p:nvSpPr>
        <p:spPr>
          <a:xfrm>
            <a:off x="8037910" y="2487513"/>
            <a:ext cx="3613150" cy="2016876"/>
          </a:xfrm>
          <a:prstGeom prst="roundRect">
            <a:avLst>
              <a:gd fmla="val 12456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05" name="Google Shape;205;p40"/>
          <p:cNvSpPr/>
          <p:nvPr/>
        </p:nvSpPr>
        <p:spPr>
          <a:xfrm>
            <a:off x="11110120" y="2599134"/>
            <a:ext cx="405706" cy="502377"/>
          </a:xfrm>
          <a:prstGeom prst="roundRect">
            <a:avLst>
              <a:gd fmla="val 18780203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206" name="Google Shape;2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1740" y="2710656"/>
            <a:ext cx="182563" cy="22606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0"/>
          <p:cNvSpPr/>
          <p:nvPr/>
        </p:nvSpPr>
        <p:spPr>
          <a:xfrm>
            <a:off x="9085561" y="3140075"/>
            <a:ext cx="2430264" cy="37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הנחות</a:t>
            </a:r>
            <a:endParaRPr b="1" sz="3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08" name="Google Shape;208;p40"/>
          <p:cNvSpPr/>
          <p:nvPr/>
        </p:nvSpPr>
        <p:spPr>
          <a:xfrm>
            <a:off x="8173194" y="3646146"/>
            <a:ext cx="3342680" cy="535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"אני יודע/ת בדיוק מה הוא/היא מתכוון/ת..." -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09" name="Google Shape;209;p40"/>
          <p:cNvSpPr/>
          <p:nvPr/>
        </p:nvSpPr>
        <p:spPr>
          <a:xfrm>
            <a:off x="4328458" y="2463899"/>
            <a:ext cx="3613249" cy="2016876"/>
          </a:xfrm>
          <a:prstGeom prst="roundRect">
            <a:avLst>
              <a:gd fmla="val 12456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0" name="Google Shape;210;p40"/>
          <p:cNvSpPr/>
          <p:nvPr/>
        </p:nvSpPr>
        <p:spPr>
          <a:xfrm>
            <a:off x="7361734" y="2599134"/>
            <a:ext cx="405706" cy="502377"/>
          </a:xfrm>
          <a:prstGeom prst="roundRect">
            <a:avLst>
              <a:gd fmla="val 18780203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211" name="Google Shape;21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3355" y="2710656"/>
            <a:ext cx="182563" cy="22606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0"/>
          <p:cNvSpPr/>
          <p:nvPr/>
        </p:nvSpPr>
        <p:spPr>
          <a:xfrm>
            <a:off x="5337176" y="3140075"/>
            <a:ext cx="2430264" cy="37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הזדהות</a:t>
            </a:r>
            <a:endParaRPr b="1" sz="3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3" name="Google Shape;213;p40"/>
          <p:cNvSpPr/>
          <p:nvPr/>
        </p:nvSpPr>
        <p:spPr>
          <a:xfrm>
            <a:off x="4424661" y="3754493"/>
            <a:ext cx="3342779" cy="535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"זה בדיוק מה שעברתי..." -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4" name="Google Shape;214;p40"/>
          <p:cNvSpPr/>
          <p:nvPr/>
        </p:nvSpPr>
        <p:spPr>
          <a:xfrm>
            <a:off x="540941" y="2463899"/>
            <a:ext cx="3613249" cy="2016876"/>
          </a:xfrm>
          <a:prstGeom prst="roundRect">
            <a:avLst>
              <a:gd fmla="val 12456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5" name="Google Shape;215;p40"/>
          <p:cNvSpPr/>
          <p:nvPr/>
        </p:nvSpPr>
        <p:spPr>
          <a:xfrm>
            <a:off x="3613250" y="2599134"/>
            <a:ext cx="405706" cy="502377"/>
          </a:xfrm>
          <a:prstGeom prst="roundRect">
            <a:avLst>
              <a:gd fmla="val 18780203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216" name="Google Shape;21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4870" y="2710656"/>
            <a:ext cx="182563" cy="22606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0"/>
          <p:cNvSpPr/>
          <p:nvPr/>
        </p:nvSpPr>
        <p:spPr>
          <a:xfrm>
            <a:off x="1588691" y="3140075"/>
            <a:ext cx="2430264" cy="37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ביקורת</a:t>
            </a:r>
            <a:endParaRPr b="1" sz="3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8" name="Google Shape;218;p40"/>
          <p:cNvSpPr/>
          <p:nvPr/>
        </p:nvSpPr>
        <p:spPr>
          <a:xfrm>
            <a:off x="715259" y="3781381"/>
            <a:ext cx="3342779" cy="535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"היית צריך/ה לעשות..." -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9" name="Google Shape;219;p40"/>
          <p:cNvSpPr/>
          <p:nvPr/>
        </p:nvSpPr>
        <p:spPr>
          <a:xfrm>
            <a:off x="6163668" y="4758632"/>
            <a:ext cx="5487393" cy="1412478"/>
          </a:xfrm>
          <a:prstGeom prst="roundRect">
            <a:avLst>
              <a:gd fmla="val 14363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0" name="Google Shape;220;p40"/>
          <p:cNvSpPr/>
          <p:nvPr/>
        </p:nvSpPr>
        <p:spPr>
          <a:xfrm>
            <a:off x="11110120" y="4893867"/>
            <a:ext cx="405706" cy="405706"/>
          </a:xfrm>
          <a:prstGeom prst="roundRect">
            <a:avLst>
              <a:gd fmla="val 18780203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221" name="Google Shape;221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1740" y="5005389"/>
            <a:ext cx="182563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0"/>
          <p:cNvSpPr/>
          <p:nvPr/>
        </p:nvSpPr>
        <p:spPr>
          <a:xfrm>
            <a:off x="9085561" y="5434808"/>
            <a:ext cx="2430264" cy="3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תמיכה מוחלטת</a:t>
            </a:r>
            <a:endParaRPr b="1" sz="3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3" name="Google Shape;223;p40"/>
          <p:cNvSpPr/>
          <p:nvPr/>
        </p:nvSpPr>
        <p:spPr>
          <a:xfrm>
            <a:off x="6298902" y="5819578"/>
            <a:ext cx="5216922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14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"זה היה הדבר היחיד שיכולת לעשות" -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540941" y="4758632"/>
            <a:ext cx="5487492" cy="1412478"/>
          </a:xfrm>
          <a:prstGeom prst="roundRect">
            <a:avLst>
              <a:gd fmla="val 14363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5" name="Google Shape;225;p40"/>
          <p:cNvSpPr/>
          <p:nvPr/>
        </p:nvSpPr>
        <p:spPr>
          <a:xfrm>
            <a:off x="5487492" y="4893867"/>
            <a:ext cx="405706" cy="405706"/>
          </a:xfrm>
          <a:prstGeom prst="roundRect">
            <a:avLst>
              <a:gd fmla="val 18780203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226" name="Google Shape;226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9113" y="5005389"/>
            <a:ext cx="182563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0"/>
          <p:cNvSpPr/>
          <p:nvPr/>
        </p:nvSpPr>
        <p:spPr>
          <a:xfrm>
            <a:off x="3462933" y="5434808"/>
            <a:ext cx="2430264" cy="3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פתרונות ועצות</a:t>
            </a:r>
            <a:endParaRPr b="1" sz="3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8" name="Google Shape;228;p40"/>
          <p:cNvSpPr/>
          <p:nvPr/>
        </p:nvSpPr>
        <p:spPr>
          <a:xfrm>
            <a:off x="676176" y="5819578"/>
            <a:ext cx="5217021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14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"אתה צריך לעשות.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9" name="Google Shape;229;p40"/>
          <p:cNvSpPr txBox="1"/>
          <p:nvPr/>
        </p:nvSpPr>
        <p:spPr>
          <a:xfrm>
            <a:off x="2641801" y="491104"/>
            <a:ext cx="6097088" cy="662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48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להימנע ממלכודות הידיעה</a:t>
            </a:r>
            <a:endParaRPr b="1" sz="3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/>
          <p:nvPr/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5" name="Google Shape;235;p41"/>
          <p:cNvSpPr/>
          <p:nvPr/>
        </p:nvSpPr>
        <p:spPr>
          <a:xfrm>
            <a:off x="537563" y="2099144"/>
            <a:ext cx="3610691" cy="2673194"/>
          </a:xfrm>
          <a:prstGeom prst="rect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cap="none">
                <a:solidFill>
                  <a:srgbClr val="FEFEFE"/>
                </a:solidFill>
                <a:latin typeface="Assistant"/>
                <a:ea typeface="Assistant"/>
                <a:cs typeface="Assistant"/>
                <a:sym typeface="Assistant"/>
              </a:rPr>
              <a:t>אמנות אי-הידיעה</a:t>
            </a:r>
            <a:endParaRPr sz="3600" cap="none">
              <a:solidFill>
                <a:srgbClr val="FEFEFE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6" name="Google Shape;236;p41"/>
          <p:cNvSpPr/>
          <p:nvPr/>
        </p:nvSpPr>
        <p:spPr>
          <a:xfrm>
            <a:off x="4654296" y="0"/>
            <a:ext cx="753770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7" name="Google Shape;237;p41"/>
          <p:cNvSpPr txBox="1"/>
          <p:nvPr/>
        </p:nvSpPr>
        <p:spPr>
          <a:xfrm>
            <a:off x="5160338" y="588037"/>
            <a:ext cx="6569843" cy="5681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סולם ההסקה</a:t>
            </a:r>
            <a:endParaRPr b="1" sz="2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כלי להבנת האופן שבו אנו קופצים למסקנות ולמסגור מהיר של מצבים. הסולם עוזר לנו לעקוב אחר תהליך החשיבה שלנו מהנתונים הקונקרטיים ועד למסקנות המופשטות</a:t>
            </a:r>
            <a:endParaRPr sz="2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"שאלות טפשיות"</a:t>
            </a:r>
            <a:endParaRPr/>
          </a:p>
          <a:p>
            <a:pPr indent="0" lvl="0" marL="0" marR="0" rtl="1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lang="en-US" sz="2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שאלות פשוטות וכנות שעוזרות לרדת במדרגות הסולם ולחשוף הנחות יסוד. השאלות האלו דורשות אומץ לשאול, אך הן פותחות אפשרויות חדשות להבנה</a:t>
            </a:r>
            <a:endParaRPr sz="2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164465" lvl="0" marL="0" marR="0" rtl="1" algn="r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/>
          <p:nvPr/>
        </p:nvSpPr>
        <p:spPr>
          <a:xfrm>
            <a:off x="3440361" y="505909"/>
            <a:ext cx="7633394" cy="485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2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סולם ההסקה:  איך אנחנו ממש "</a:t>
            </a:r>
            <a:r>
              <a:rPr b="1" lang="en-US" sz="32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קופצים</a:t>
            </a:r>
            <a:r>
              <a:rPr b="1" lang="en-US" sz="3042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" למסקנות</a:t>
            </a:r>
            <a:endParaRPr b="1" sz="3042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4" name="Google Shape;244;p42"/>
          <p:cNvSpPr/>
          <p:nvPr/>
        </p:nvSpPr>
        <p:spPr>
          <a:xfrm>
            <a:off x="10262294" y="1820466"/>
            <a:ext cx="1388765" cy="697408"/>
          </a:xfrm>
          <a:prstGeom prst="roundRect">
            <a:avLst>
              <a:gd fmla="val 23272" name="adj"/>
            </a:avLst>
          </a:prstGeom>
          <a:solidFill>
            <a:srgbClr val="FDEC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5" name="Google Shape;245;p42"/>
          <p:cNvSpPr/>
          <p:nvPr/>
        </p:nvSpPr>
        <p:spPr>
          <a:xfrm>
            <a:off x="10880626" y="2074069"/>
            <a:ext cx="152103" cy="1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4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6" name="Google Shape;246;p42"/>
          <p:cNvSpPr/>
          <p:nvPr/>
        </p:nvSpPr>
        <p:spPr>
          <a:xfrm>
            <a:off x="8209955" y="1928615"/>
            <a:ext cx="1944192" cy="24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803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פעולה</a:t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7" name="Google Shape;247;p42"/>
          <p:cNvSpPr/>
          <p:nvPr/>
        </p:nvSpPr>
        <p:spPr>
          <a:xfrm>
            <a:off x="6411318" y="2236589"/>
            <a:ext cx="3742829" cy="1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אנו פועלים על בסיס המסגורים הללו, לעיתים מבלי להבין את התהליך שהוביל אותנו לשם.</a:t>
            </a:r>
            <a:endParaRPr sz="1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8" name="Google Shape;248;p42"/>
          <p:cNvSpPr/>
          <p:nvPr/>
        </p:nvSpPr>
        <p:spPr>
          <a:xfrm>
            <a:off x="595015" y="2514699"/>
            <a:ext cx="9613206" cy="6350"/>
          </a:xfrm>
          <a:prstGeom prst="roundRect">
            <a:avLst>
              <a:gd fmla="val 2555940" name="adj"/>
            </a:avLst>
          </a:prstGeom>
          <a:solidFill>
            <a:srgbClr val="FF69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8873530" y="2571949"/>
            <a:ext cx="2777530" cy="697408"/>
          </a:xfrm>
          <a:prstGeom prst="roundRect">
            <a:avLst>
              <a:gd fmla="val 23272" name="adj"/>
            </a:avLst>
          </a:prstGeom>
          <a:solidFill>
            <a:srgbClr val="F9C6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 sz="15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10186294" y="2825552"/>
            <a:ext cx="152103" cy="1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4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1" name="Google Shape;251;p42"/>
          <p:cNvSpPr/>
          <p:nvPr/>
        </p:nvSpPr>
        <p:spPr>
          <a:xfrm>
            <a:off x="6821190" y="2680097"/>
            <a:ext cx="1944192" cy="24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803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מסגורים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2" name="Google Shape;252;p42"/>
          <p:cNvSpPr/>
          <p:nvPr/>
        </p:nvSpPr>
        <p:spPr>
          <a:xfrm>
            <a:off x="5748734" y="2988072"/>
            <a:ext cx="3016647" cy="1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ההסקות מעוצבות על ידי אמונות ורגשות שלנו, ובו-זמנית מחזקות אותם.</a:t>
            </a:r>
            <a:endParaRPr sz="1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595015" y="3266182"/>
            <a:ext cx="8224441" cy="6350"/>
          </a:xfrm>
          <a:prstGeom prst="roundRect">
            <a:avLst>
              <a:gd fmla="val 2555940" name="adj"/>
            </a:avLst>
          </a:prstGeom>
          <a:solidFill>
            <a:srgbClr val="FFA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7484766" y="3323431"/>
            <a:ext cx="4166294" cy="697408"/>
          </a:xfrm>
          <a:prstGeom prst="roundRect">
            <a:avLst>
              <a:gd fmla="val 23272" name="adj"/>
            </a:avLst>
          </a:prstGeom>
          <a:solidFill>
            <a:srgbClr val="C67C0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 sz="15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9491861" y="3577034"/>
            <a:ext cx="152103" cy="1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4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6" name="Google Shape;256;p42"/>
          <p:cNvSpPr/>
          <p:nvPr/>
        </p:nvSpPr>
        <p:spPr>
          <a:xfrm>
            <a:off x="5432425" y="3431580"/>
            <a:ext cx="1944192" cy="24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803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הסקות מיידיות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7" name="Google Shape;257;p42"/>
          <p:cNvSpPr/>
          <p:nvPr/>
        </p:nvSpPr>
        <p:spPr>
          <a:xfrm>
            <a:off x="3636368" y="3739555"/>
            <a:ext cx="3740249" cy="1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באופן מיידי אנו מפרשים את הנתונים: ייחוסים, הערכות, שיפוטים. זה קורה בשבריר שנייה.</a:t>
            </a:r>
            <a:endParaRPr sz="1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8" name="Google Shape;258;p42"/>
          <p:cNvSpPr/>
          <p:nvPr/>
        </p:nvSpPr>
        <p:spPr>
          <a:xfrm>
            <a:off x="595015" y="4017665"/>
            <a:ext cx="6835676" cy="6350"/>
          </a:xfrm>
          <a:prstGeom prst="roundRect">
            <a:avLst>
              <a:gd fmla="val 2555940" name="adj"/>
            </a:avLst>
          </a:prstGeom>
          <a:solidFill>
            <a:srgbClr val="8000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9" name="Google Shape;259;p42"/>
          <p:cNvSpPr/>
          <p:nvPr/>
        </p:nvSpPr>
        <p:spPr>
          <a:xfrm>
            <a:off x="6096001" y="4070119"/>
            <a:ext cx="5555059" cy="697408"/>
          </a:xfrm>
          <a:prstGeom prst="roundRect">
            <a:avLst>
              <a:gd fmla="val 23272" name="adj"/>
            </a:avLst>
          </a:prstGeom>
          <a:solidFill>
            <a:srgbClr val="0000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 sz="2333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0" name="Google Shape;260;p42"/>
          <p:cNvSpPr/>
          <p:nvPr/>
        </p:nvSpPr>
        <p:spPr>
          <a:xfrm>
            <a:off x="4043660" y="4183063"/>
            <a:ext cx="1944192" cy="24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803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נתונים נצפים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1" name="Google Shape;261;p42"/>
          <p:cNvSpPr/>
          <p:nvPr/>
        </p:nvSpPr>
        <p:spPr>
          <a:xfrm>
            <a:off x="2822774" y="4491037"/>
            <a:ext cx="3165078" cy="1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אנו רואים משהו או שומעים מילים - הדברים הקונקרטיים שקורים במציאות.</a:t>
            </a:r>
            <a:endParaRPr sz="1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2" name="Google Shape;262;p42"/>
          <p:cNvSpPr/>
          <p:nvPr/>
        </p:nvSpPr>
        <p:spPr>
          <a:xfrm>
            <a:off x="8858083" y="5287234"/>
            <a:ext cx="2483247" cy="29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המיומנויות שלנו עם הסולם</a:t>
            </a:r>
            <a:endParaRPr sz="18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3" name="Google Shape;263;p42"/>
          <p:cNvSpPr/>
          <p:nvPr/>
        </p:nvSpPr>
        <p:spPr>
          <a:xfrm>
            <a:off x="3777953" y="5813640"/>
            <a:ext cx="6560443" cy="1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7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7"/>
              <a:buFont typeface="Assistant"/>
              <a:buChar char="•"/>
            </a:pPr>
            <a:r>
              <a:rPr b="1"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עלייה במדרגות:</a:t>
            </a:r>
            <a:r>
              <a:rPr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אנו מאוד מיומנים בכך - זה קורה בשבריר שנייה</a:t>
            </a:r>
            <a:endParaRPr sz="1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4" name="Google Shape;264;p42"/>
          <p:cNvSpPr/>
          <p:nvPr/>
        </p:nvSpPr>
        <p:spPr>
          <a:xfrm>
            <a:off x="3777953" y="6157086"/>
            <a:ext cx="6560443" cy="1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7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7"/>
              <a:buFont typeface="Assistant"/>
              <a:buChar char="•"/>
            </a:pPr>
            <a:r>
              <a:rPr b="1"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ירידה במדרגות:</a:t>
            </a:r>
            <a:r>
              <a:rPr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אנו פחות מיומנים בכך - זה מאוד קשה</a:t>
            </a:r>
            <a:endParaRPr sz="1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5" name="Google Shape;265;p42"/>
          <p:cNvSpPr/>
          <p:nvPr/>
        </p:nvSpPr>
        <p:spPr>
          <a:xfrm>
            <a:off x="3777953" y="6541257"/>
            <a:ext cx="6560443" cy="1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7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7"/>
              <a:buFont typeface="Assistant"/>
              <a:buChar char="•"/>
            </a:pPr>
            <a:r>
              <a:rPr b="1"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תפקיד החקירה:</a:t>
            </a:r>
            <a:r>
              <a:rPr lang="en-US" sz="1667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לעזור לעצמנו ולאחרים לרדת במדרגות כדי לראות ולפרש מחדש את הנתונים</a:t>
            </a:r>
            <a:endParaRPr sz="1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266" name="Google Shape;26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9804" y="5176739"/>
            <a:ext cx="135235" cy="10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1" name="Google Shape;2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180" y="892837"/>
            <a:ext cx="9756368" cy="5965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/>
        </p:nvSpPr>
        <p:spPr>
          <a:xfrm>
            <a:off x="2190879" y="556375"/>
            <a:ext cx="827247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cap="non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rPr>
              <a:t>ירידה במדרגות הסולם ("שאלות טיפשיות")</a:t>
            </a:r>
            <a:endParaRPr b="1" sz="3200" cap="none">
              <a:solidFill>
                <a:srgbClr val="262626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77" name="Google Shape;277;p44"/>
          <p:cNvGrpSpPr/>
          <p:nvPr/>
        </p:nvGrpSpPr>
        <p:grpSpPr>
          <a:xfrm>
            <a:off x="971363" y="3148648"/>
            <a:ext cx="10249274" cy="2311866"/>
            <a:chOff x="6162" y="1135817"/>
            <a:chExt cx="10249274" cy="2311866"/>
          </a:xfrm>
        </p:grpSpPr>
        <p:sp>
          <p:nvSpPr>
            <p:cNvPr id="278" name="Google Shape;278;p44"/>
            <p:cNvSpPr/>
            <p:nvPr/>
          </p:nvSpPr>
          <p:spPr>
            <a:xfrm>
              <a:off x="6162" y="1135817"/>
              <a:ext cx="1926555" cy="231186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4"/>
            <p:cNvSpPr txBox="1"/>
            <p:nvPr/>
          </p:nvSpPr>
          <p:spPr>
            <a:xfrm>
              <a:off x="6162" y="2060564"/>
              <a:ext cx="1926555" cy="1387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90300" spcFirstLastPara="1" rIns="190300" wrap="square" tIns="0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ssistant"/>
                <a:buNone/>
              </a:pPr>
              <a:r>
                <a:rPr lang="en-US" sz="2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מה התכוונת ב...?</a:t>
              </a:r>
              <a:endParaRPr sz="24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80" name="Google Shape;280;p44"/>
            <p:cNvSpPr/>
            <p:nvPr/>
          </p:nvSpPr>
          <p:spPr>
            <a:xfrm>
              <a:off x="6162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4"/>
            <p:cNvSpPr txBox="1"/>
            <p:nvPr/>
          </p:nvSpPr>
          <p:spPr>
            <a:xfrm>
              <a:off x="6162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90300" spcFirstLastPara="1" rIns="190300" wrap="square" tIns="165100">
              <a:noAutofit/>
            </a:bodyPr>
            <a:lstStyle/>
            <a:p>
              <a:pPr indent="0" lvl="0" marL="0" marR="0" rtl="1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ssistant"/>
                <a:buNone/>
              </a:pPr>
              <a:r>
                <a:rPr lang="en-US" sz="4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01</a:t>
              </a:r>
              <a:endParaRPr/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2086842" y="1135817"/>
              <a:ext cx="1926555" cy="2311866"/>
            </a:xfrm>
            <a:prstGeom prst="rect">
              <a:avLst/>
            </a:prstGeom>
            <a:solidFill>
              <a:srgbClr val="C9642E"/>
            </a:solidFill>
            <a:ln cap="flat" cmpd="sng" w="12700">
              <a:solidFill>
                <a:srgbClr val="C9642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4"/>
            <p:cNvSpPr txBox="1"/>
            <p:nvPr/>
          </p:nvSpPr>
          <p:spPr>
            <a:xfrm>
              <a:off x="2086842" y="2060564"/>
              <a:ext cx="1926555" cy="1387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90300" spcFirstLastPara="1" rIns="190300" wrap="square" tIns="0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ssistant"/>
                <a:buNone/>
              </a:pPr>
              <a:r>
                <a:rPr lang="en-US" sz="2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) האם תוכל/י לתת דוגמה קונקרטית או המחשה?</a:t>
              </a:r>
              <a:endParaRPr sz="24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2086842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4"/>
            <p:cNvSpPr txBox="1"/>
            <p:nvPr/>
          </p:nvSpPr>
          <p:spPr>
            <a:xfrm>
              <a:off x="2086842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90300" spcFirstLastPara="1" rIns="190300" wrap="square" tIns="165100">
              <a:noAutofit/>
            </a:bodyPr>
            <a:lstStyle/>
            <a:p>
              <a:pPr indent="0" lvl="0" marL="0" marR="0" rtl="1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ssistant"/>
                <a:buNone/>
              </a:pPr>
              <a:r>
                <a:rPr lang="en-US" sz="4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02</a:t>
              </a:r>
              <a:endParaRPr/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4167522" y="1135817"/>
              <a:ext cx="1926555" cy="2311866"/>
            </a:xfrm>
            <a:prstGeom prst="rect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4"/>
            <p:cNvSpPr txBox="1"/>
            <p:nvPr/>
          </p:nvSpPr>
          <p:spPr>
            <a:xfrm>
              <a:off x="4167522" y="2060564"/>
              <a:ext cx="1926555" cy="1387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90300" spcFirstLastPara="1" rIns="190300" wrap="square" tIns="0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ssistant"/>
                <a:buNone/>
              </a:pPr>
              <a:r>
                <a:rPr lang="en-US" sz="2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מה האדם/אנשים האחרים אמרו או עשו?</a:t>
              </a:r>
              <a:endParaRPr sz="24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4167522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4"/>
            <p:cNvSpPr txBox="1"/>
            <p:nvPr/>
          </p:nvSpPr>
          <p:spPr>
            <a:xfrm>
              <a:off x="4167522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90300" spcFirstLastPara="1" rIns="190300" wrap="square" tIns="165100">
              <a:noAutofit/>
            </a:bodyPr>
            <a:lstStyle/>
            <a:p>
              <a:pPr indent="0" lvl="0" marL="0" marR="0" rtl="1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ssistant"/>
                <a:buNone/>
              </a:pPr>
              <a:r>
                <a:rPr lang="en-US" sz="4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03</a:t>
              </a:r>
              <a:endParaRPr/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6248202" y="1135817"/>
              <a:ext cx="1926555" cy="2311866"/>
            </a:xfrm>
            <a:prstGeom prst="rect">
              <a:avLst/>
            </a:prstGeom>
            <a:solidFill>
              <a:schemeClr val="accent5"/>
            </a:solidFill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4"/>
            <p:cNvSpPr txBox="1"/>
            <p:nvPr/>
          </p:nvSpPr>
          <p:spPr>
            <a:xfrm>
              <a:off x="6248202" y="2060564"/>
              <a:ext cx="1926555" cy="1387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90300" spcFirstLastPara="1" rIns="190300" wrap="square" tIns="0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ssistant"/>
                <a:buNone/>
              </a:pPr>
              <a:r>
                <a:rPr lang="en-US" sz="2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מה באמת אמרת או עשית?</a:t>
              </a:r>
              <a:endParaRPr sz="24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6248202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4"/>
            <p:cNvSpPr txBox="1"/>
            <p:nvPr/>
          </p:nvSpPr>
          <p:spPr>
            <a:xfrm>
              <a:off x="6248202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90300" spcFirstLastPara="1" rIns="190300" wrap="square" tIns="165100">
              <a:noAutofit/>
            </a:bodyPr>
            <a:lstStyle/>
            <a:p>
              <a:pPr indent="0" lvl="0" marL="0" marR="0" rtl="1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ssistant"/>
                <a:buNone/>
              </a:pPr>
              <a:r>
                <a:rPr lang="en-US" sz="4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04</a:t>
              </a:r>
              <a:endParaRPr/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8328881" y="1135817"/>
              <a:ext cx="1926555" cy="2311866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4"/>
            <p:cNvSpPr txBox="1"/>
            <p:nvPr/>
          </p:nvSpPr>
          <p:spPr>
            <a:xfrm>
              <a:off x="8328881" y="2060564"/>
              <a:ext cx="1926555" cy="1387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90300" spcFirstLastPara="1" rIns="190300" wrap="square" tIns="0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ssistant"/>
                <a:buNone/>
              </a:pPr>
              <a:r>
                <a:rPr lang="en-US" sz="2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אני לא ממש מבין/ה. האם תוכל/י להסביר לי?</a:t>
              </a:r>
              <a:endParaRPr sz="24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8328881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4"/>
            <p:cNvSpPr txBox="1"/>
            <p:nvPr/>
          </p:nvSpPr>
          <p:spPr>
            <a:xfrm>
              <a:off x="8328881" y="1135817"/>
              <a:ext cx="1926555" cy="92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190300" spcFirstLastPara="1" rIns="190300" wrap="square" tIns="165100">
              <a:noAutofit/>
            </a:bodyPr>
            <a:lstStyle/>
            <a:p>
              <a:pPr indent="0" lvl="0" marL="0" marR="0" rtl="1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ssistant"/>
                <a:buNone/>
              </a:pPr>
              <a:r>
                <a:rPr lang="en-US" sz="4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05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"/>
          <p:cNvSpPr txBox="1"/>
          <p:nvPr>
            <p:ph type="title"/>
          </p:nvPr>
        </p:nvSpPr>
        <p:spPr>
          <a:xfrm>
            <a:off x="7034349" y="271723"/>
            <a:ext cx="4860626" cy="409315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ssistant"/>
              <a:buNone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מתודה: חקרנות אמפתית</a:t>
            </a:r>
            <a:endParaRPr sz="3200"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303" name="Google Shape;303;p45"/>
          <p:cNvGrpSpPr/>
          <p:nvPr/>
        </p:nvGrpSpPr>
        <p:grpSpPr>
          <a:xfrm>
            <a:off x="3153227" y="944268"/>
            <a:ext cx="5885544" cy="5231401"/>
            <a:chOff x="2315027" y="1293"/>
            <a:chExt cx="5885544" cy="5231401"/>
          </a:xfrm>
        </p:grpSpPr>
        <p:sp>
          <p:nvSpPr>
            <p:cNvPr id="304" name="Google Shape;304;p45"/>
            <p:cNvSpPr/>
            <p:nvPr/>
          </p:nvSpPr>
          <p:spPr>
            <a:xfrm>
              <a:off x="4323308" y="1293"/>
              <a:ext cx="1868983" cy="1214839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5"/>
            <p:cNvSpPr txBox="1"/>
            <p:nvPr/>
          </p:nvSpPr>
          <p:spPr>
            <a:xfrm>
              <a:off x="4382612" y="60597"/>
              <a:ext cx="1750375" cy="1096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הצגת המקרה</a:t>
              </a:r>
              <a:endParaRPr/>
            </a:p>
          </p:txBody>
        </p:sp>
        <p:sp>
          <p:nvSpPr>
            <p:cNvPr id="306" name="Google Shape;306;p45"/>
            <p:cNvSpPr/>
            <p:nvPr/>
          </p:nvSpPr>
          <p:spPr>
            <a:xfrm>
              <a:off x="3249519" y="608713"/>
              <a:ext cx="4016561" cy="4016561"/>
            </a:xfrm>
            <a:custGeom>
              <a:rect b="b" l="l" r="r" t="t"/>
              <a:pathLst>
                <a:path extrusionOk="0" h="120000" w="120000">
                  <a:moveTo>
                    <a:pt x="95638" y="11731"/>
                  </a:moveTo>
                  <a:cubicBezTo>
                    <a:pt x="103326" y="17407"/>
                    <a:pt x="109547" y="24837"/>
                    <a:pt x="113783" y="33403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5"/>
            <p:cNvSpPr/>
            <p:nvPr/>
          </p:nvSpPr>
          <p:spPr>
            <a:xfrm>
              <a:off x="6331588" y="2009574"/>
              <a:ext cx="1868983" cy="1214839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5"/>
            <p:cNvSpPr txBox="1"/>
            <p:nvPr/>
          </p:nvSpPr>
          <p:spPr>
            <a:xfrm>
              <a:off x="6390892" y="2068878"/>
              <a:ext cx="1750375" cy="1096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ראשוני</a:t>
              </a:r>
              <a:endParaRPr/>
            </a:p>
          </p:txBody>
        </p:sp>
        <p:sp>
          <p:nvSpPr>
            <p:cNvPr id="309" name="Google Shape;309;p45"/>
            <p:cNvSpPr/>
            <p:nvPr/>
          </p:nvSpPr>
          <p:spPr>
            <a:xfrm>
              <a:off x="3249519" y="608713"/>
              <a:ext cx="4016561" cy="4016561"/>
            </a:xfrm>
            <a:custGeom>
              <a:rect b="b" l="l" r="r" t="t"/>
              <a:pathLst>
                <a:path extrusionOk="0" h="120000" w="120000">
                  <a:moveTo>
                    <a:pt x="113783" y="86597"/>
                  </a:moveTo>
                  <a:cubicBezTo>
                    <a:pt x="109547" y="95163"/>
                    <a:pt x="103326" y="102593"/>
                    <a:pt x="95638" y="108269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5"/>
            <p:cNvSpPr/>
            <p:nvPr/>
          </p:nvSpPr>
          <p:spPr>
            <a:xfrm>
              <a:off x="4323308" y="4017855"/>
              <a:ext cx="1868983" cy="1214839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5"/>
            <p:cNvSpPr txBox="1"/>
            <p:nvPr/>
          </p:nvSpPr>
          <p:spPr>
            <a:xfrm>
              <a:off x="4382612" y="4077159"/>
              <a:ext cx="1750375" cy="1096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מחדש</a:t>
              </a:r>
              <a:endParaRPr/>
            </a:p>
          </p:txBody>
        </p:sp>
        <p:sp>
          <p:nvSpPr>
            <p:cNvPr id="312" name="Google Shape;312;p45"/>
            <p:cNvSpPr/>
            <p:nvPr/>
          </p:nvSpPr>
          <p:spPr>
            <a:xfrm>
              <a:off x="3249519" y="608713"/>
              <a:ext cx="4016561" cy="4016561"/>
            </a:xfrm>
            <a:custGeom>
              <a:rect b="b" l="l" r="r" t="t"/>
              <a:pathLst>
                <a:path extrusionOk="0" h="120000" w="120000">
                  <a:moveTo>
                    <a:pt x="24362" y="108269"/>
                  </a:moveTo>
                  <a:cubicBezTo>
                    <a:pt x="16674" y="102593"/>
                    <a:pt x="10453" y="95163"/>
                    <a:pt x="6217" y="86597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5"/>
            <p:cNvSpPr/>
            <p:nvPr/>
          </p:nvSpPr>
          <p:spPr>
            <a:xfrm>
              <a:off x="2315027" y="2009574"/>
              <a:ext cx="1868983" cy="1214839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5"/>
            <p:cNvSpPr txBox="1"/>
            <p:nvPr/>
          </p:nvSpPr>
          <p:spPr>
            <a:xfrm>
              <a:off x="2374331" y="2068878"/>
              <a:ext cx="1750375" cy="1096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חלופות</a:t>
              </a:r>
              <a:endParaRPr/>
            </a:p>
          </p:txBody>
        </p:sp>
        <p:sp>
          <p:nvSpPr>
            <p:cNvPr id="315" name="Google Shape;315;p45"/>
            <p:cNvSpPr/>
            <p:nvPr/>
          </p:nvSpPr>
          <p:spPr>
            <a:xfrm>
              <a:off x="3249519" y="608713"/>
              <a:ext cx="4016561" cy="4016561"/>
            </a:xfrm>
            <a:custGeom>
              <a:rect b="b" l="l" r="r" t="t"/>
              <a:pathLst>
                <a:path extrusionOk="0" h="120000" w="120000">
                  <a:moveTo>
                    <a:pt x="6217" y="33403"/>
                  </a:moveTo>
                  <a:cubicBezTo>
                    <a:pt x="10453" y="24837"/>
                    <a:pt x="16674" y="17407"/>
                    <a:pt x="24362" y="11731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6877594" y="365127"/>
            <a:ext cx="4784117" cy="315912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ssistant"/>
              <a:buNone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מתודה: חקרנות אמפתית</a:t>
            </a:r>
            <a:endParaRPr sz="3200"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321" name="Google Shape;321;p46"/>
          <p:cNvGrpSpPr/>
          <p:nvPr/>
        </p:nvGrpSpPr>
        <p:grpSpPr>
          <a:xfrm>
            <a:off x="1599573" y="943578"/>
            <a:ext cx="5887314" cy="5232776"/>
            <a:chOff x="1311879" y="605"/>
            <a:chExt cx="5887314" cy="5232776"/>
          </a:xfrm>
        </p:grpSpPr>
        <p:sp>
          <p:nvSpPr>
            <p:cNvPr id="322" name="Google Shape;322;p46"/>
            <p:cNvSpPr/>
            <p:nvPr/>
          </p:nvSpPr>
          <p:spPr>
            <a:xfrm>
              <a:off x="3320482" y="605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6"/>
            <p:cNvSpPr txBox="1"/>
            <p:nvPr/>
          </p:nvSpPr>
          <p:spPr>
            <a:xfrm>
              <a:off x="3379821" y="59944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הצגת המקרה</a:t>
              </a:r>
              <a:endParaRPr/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95646" y="11737"/>
                  </a:moveTo>
                  <a:cubicBezTo>
                    <a:pt x="103329" y="17411"/>
                    <a:pt x="109546" y="24838"/>
                    <a:pt x="113781" y="33400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329085" y="2009208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6"/>
            <p:cNvSpPr txBox="1"/>
            <p:nvPr/>
          </p:nvSpPr>
          <p:spPr>
            <a:xfrm>
              <a:off x="5388424" y="2068547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ראשוני</a:t>
              </a:r>
              <a:endParaRPr/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113781" y="86601"/>
                  </a:moveTo>
                  <a:cubicBezTo>
                    <a:pt x="109546" y="95162"/>
                    <a:pt x="103329" y="102589"/>
                    <a:pt x="95646" y="108264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6"/>
            <p:cNvSpPr/>
            <p:nvPr/>
          </p:nvSpPr>
          <p:spPr>
            <a:xfrm>
              <a:off x="3320482" y="4017811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6"/>
            <p:cNvSpPr txBox="1"/>
            <p:nvPr/>
          </p:nvSpPr>
          <p:spPr>
            <a:xfrm>
              <a:off x="3379821" y="4077150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מחדש</a:t>
              </a:r>
              <a:endParaRPr/>
            </a:p>
          </p:txBody>
        </p:sp>
        <p:sp>
          <p:nvSpPr>
            <p:cNvPr id="330" name="Google Shape;330;p46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24354" y="108263"/>
                  </a:moveTo>
                  <a:cubicBezTo>
                    <a:pt x="16671" y="102589"/>
                    <a:pt x="10454" y="95162"/>
                    <a:pt x="6219" y="86600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6"/>
            <p:cNvSpPr/>
            <p:nvPr/>
          </p:nvSpPr>
          <p:spPr>
            <a:xfrm>
              <a:off x="1311879" y="2009208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6"/>
            <p:cNvSpPr txBox="1"/>
            <p:nvPr/>
          </p:nvSpPr>
          <p:spPr>
            <a:xfrm>
              <a:off x="1371218" y="2068547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חלופות</a:t>
              </a:r>
              <a:endParaRPr/>
            </a:p>
          </p:txBody>
        </p:sp>
        <p:sp>
          <p:nvSpPr>
            <p:cNvPr id="333" name="Google Shape;333;p46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6219" y="33399"/>
                  </a:moveTo>
                  <a:cubicBezTo>
                    <a:pt x="10454" y="24838"/>
                    <a:pt x="16671" y="17411"/>
                    <a:pt x="24354" y="11736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" name="Google Shape;334;p46"/>
          <p:cNvSpPr/>
          <p:nvPr/>
        </p:nvSpPr>
        <p:spPr>
          <a:xfrm>
            <a:off x="8869874" y="1166909"/>
            <a:ext cx="2929890" cy="27892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986" y="0"/>
                </a:moveTo>
                <a:close/>
                <a:lnTo>
                  <a:pt x="-2986" y="120000"/>
                </a:lnTo>
              </a:path>
              <a:path extrusionOk="0" fill="none" h="120000" w="120000">
                <a:moveTo>
                  <a:pt x="-2986" y="7657"/>
                </a:moveTo>
                <a:lnTo>
                  <a:pt x="-41846" y="3658"/>
                </a:lnTo>
                <a:lnTo>
                  <a:pt x="-142655" y="12907"/>
                </a:lnTo>
              </a:path>
            </a:pathLst>
          </a:custGeom>
          <a:solidFill>
            <a:schemeClr val="lt1"/>
          </a:solidFill>
          <a:ln cap="flat" cmpd="sng" w="38100">
            <a:solidFill>
              <a:srgbClr val="00206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הצגת המקרה</a:t>
            </a: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התפקיד הראשוני בשלב זה הוא להקשיב קשב רב לנועצת ולתת מרחב נוח לסיפור.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 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type="title"/>
          </p:nvPr>
        </p:nvSpPr>
        <p:spPr>
          <a:xfrm>
            <a:off x="6825343" y="365127"/>
            <a:ext cx="4836368" cy="315912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ssistant"/>
              <a:buNone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מתודה: חקרנות אמפתית</a:t>
            </a:r>
            <a:endParaRPr sz="3200"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340" name="Google Shape;340;p47"/>
          <p:cNvGrpSpPr/>
          <p:nvPr/>
        </p:nvGrpSpPr>
        <p:grpSpPr>
          <a:xfrm>
            <a:off x="1599573" y="943578"/>
            <a:ext cx="5887314" cy="5232776"/>
            <a:chOff x="1311879" y="605"/>
            <a:chExt cx="5887314" cy="5232776"/>
          </a:xfrm>
        </p:grpSpPr>
        <p:sp>
          <p:nvSpPr>
            <p:cNvPr id="341" name="Google Shape;341;p47"/>
            <p:cNvSpPr/>
            <p:nvPr/>
          </p:nvSpPr>
          <p:spPr>
            <a:xfrm>
              <a:off x="3320482" y="605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7"/>
            <p:cNvSpPr txBox="1"/>
            <p:nvPr/>
          </p:nvSpPr>
          <p:spPr>
            <a:xfrm>
              <a:off x="3379821" y="59944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הצגת המקרה</a:t>
              </a:r>
              <a:endParaRPr/>
            </a:p>
          </p:txBody>
        </p:sp>
        <p:sp>
          <p:nvSpPr>
            <p:cNvPr id="343" name="Google Shape;343;p47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95646" y="11737"/>
                  </a:moveTo>
                  <a:cubicBezTo>
                    <a:pt x="103329" y="17411"/>
                    <a:pt x="109546" y="24838"/>
                    <a:pt x="113781" y="33400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7"/>
            <p:cNvSpPr/>
            <p:nvPr/>
          </p:nvSpPr>
          <p:spPr>
            <a:xfrm>
              <a:off x="5329085" y="2009208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7"/>
            <p:cNvSpPr txBox="1"/>
            <p:nvPr/>
          </p:nvSpPr>
          <p:spPr>
            <a:xfrm>
              <a:off x="5388424" y="2068547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ראשוני</a:t>
              </a:r>
              <a:endParaRPr/>
            </a:p>
          </p:txBody>
        </p:sp>
        <p:sp>
          <p:nvSpPr>
            <p:cNvPr id="346" name="Google Shape;346;p47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113781" y="86601"/>
                  </a:moveTo>
                  <a:cubicBezTo>
                    <a:pt x="109546" y="95162"/>
                    <a:pt x="103329" y="102589"/>
                    <a:pt x="95646" y="108264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7"/>
            <p:cNvSpPr/>
            <p:nvPr/>
          </p:nvSpPr>
          <p:spPr>
            <a:xfrm>
              <a:off x="3320482" y="4017811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7"/>
            <p:cNvSpPr txBox="1"/>
            <p:nvPr/>
          </p:nvSpPr>
          <p:spPr>
            <a:xfrm>
              <a:off x="3379821" y="4077150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מחדש</a:t>
              </a:r>
              <a:endParaRPr/>
            </a:p>
          </p:txBody>
        </p:sp>
        <p:sp>
          <p:nvSpPr>
            <p:cNvPr id="349" name="Google Shape;349;p47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24354" y="108263"/>
                  </a:moveTo>
                  <a:cubicBezTo>
                    <a:pt x="16671" y="102589"/>
                    <a:pt x="10454" y="95162"/>
                    <a:pt x="6219" y="86600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7"/>
            <p:cNvSpPr/>
            <p:nvPr/>
          </p:nvSpPr>
          <p:spPr>
            <a:xfrm>
              <a:off x="1311879" y="2009208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7"/>
            <p:cNvSpPr txBox="1"/>
            <p:nvPr/>
          </p:nvSpPr>
          <p:spPr>
            <a:xfrm>
              <a:off x="1371218" y="2068547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חלופות</a:t>
              </a:r>
              <a:endParaRPr/>
            </a:p>
          </p:txBody>
        </p:sp>
        <p:sp>
          <p:nvSpPr>
            <p:cNvPr id="352" name="Google Shape;352;p47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6219" y="33399"/>
                  </a:moveTo>
                  <a:cubicBezTo>
                    <a:pt x="10454" y="24838"/>
                    <a:pt x="16671" y="17411"/>
                    <a:pt x="24354" y="11736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47"/>
          <p:cNvSpPr/>
          <p:nvPr/>
        </p:nvSpPr>
        <p:spPr>
          <a:xfrm>
            <a:off x="8388221" y="942974"/>
            <a:ext cx="3420875" cy="461010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986" y="0"/>
                </a:moveTo>
                <a:close/>
                <a:lnTo>
                  <a:pt x="-2986" y="120000"/>
                </a:lnTo>
              </a:path>
              <a:path extrusionOk="0" fill="none" h="120000" w="120000">
                <a:moveTo>
                  <a:pt x="-2986" y="7657"/>
                </a:moveTo>
                <a:lnTo>
                  <a:pt x="-41464" y="8515"/>
                </a:lnTo>
                <a:lnTo>
                  <a:pt x="-52216" y="50552"/>
                </a:lnTo>
              </a:path>
            </a:pathLst>
          </a:custGeom>
          <a:solidFill>
            <a:schemeClr val="lt1"/>
          </a:solidFill>
          <a:ln cap="flat" cmpd="sng" w="38100">
            <a:solidFill>
              <a:srgbClr val="00206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מסגור ראשוני</a:t>
            </a: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הבנת נקודת המבט הסובייקטיבית של הנועצת: מה ההגיון באופן שבו הנועצת פעלה (בהסתמך על תפסיתה את המציאות)</a:t>
            </a:r>
            <a:endParaRPr/>
          </a:p>
          <a:p>
            <a:pPr indent="0" lvl="0" marL="0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בארבעה צעדים: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886" lvl="0" marL="342886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AutoNum type="arabicPeriod"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בירור רגשות הנועצת 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886" lvl="0" marL="342886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AutoNum type="arabicPeriod"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בירור מה במציאות עורר רגשות אלה 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886" lvl="0" marL="342886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AutoNum type="arabicPeriod"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זיהוי הצפייה של הנועצת, והפער בינה לבין המציאות 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886" lvl="0" marL="342886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AutoNum type="arabicPeriod"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הסבר: מתן פרשנות להתנהגות שלו ולרגשות שלי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"/>
          <p:cNvSpPr/>
          <p:nvPr/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rgbClr val="C5C0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9" name="Google Shape;359;p48"/>
          <p:cNvSpPr txBox="1"/>
          <p:nvPr/>
        </p:nvSpPr>
        <p:spPr>
          <a:xfrm>
            <a:off x="640080" y="2681105"/>
            <a:ext cx="3401568" cy="18582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cap="non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rPr>
              <a:t>מסגור ראשוני: </a:t>
            </a:r>
            <a:r>
              <a:rPr lang="en-US" sz="3200" cap="non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rPr>
              <a:t>הבנת החוויה של האחר</a:t>
            </a:r>
            <a:endParaRPr sz="3200" cap="none">
              <a:solidFill>
                <a:srgbClr val="262626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60" name="Google Shape;360;p48"/>
          <p:cNvSpPr/>
          <p:nvPr/>
        </p:nvSpPr>
        <p:spPr>
          <a:xfrm>
            <a:off x="4753278" y="0"/>
            <a:ext cx="7438722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61" name="Google Shape;361;p48"/>
          <p:cNvGrpSpPr/>
          <p:nvPr/>
        </p:nvGrpSpPr>
        <p:grpSpPr>
          <a:xfrm>
            <a:off x="5397500" y="105636"/>
            <a:ext cx="6151562" cy="6405065"/>
            <a:chOff x="0" y="1132"/>
            <a:chExt cx="6151562" cy="6405065"/>
          </a:xfrm>
        </p:grpSpPr>
        <p:sp>
          <p:nvSpPr>
            <p:cNvPr id="362" name="Google Shape;362;p48"/>
            <p:cNvSpPr/>
            <p:nvPr/>
          </p:nvSpPr>
          <p:spPr>
            <a:xfrm>
              <a:off x="0" y="4823136"/>
              <a:ext cx="6151562" cy="1583061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8"/>
            <p:cNvSpPr txBox="1"/>
            <p:nvPr/>
          </p:nvSpPr>
          <p:spPr>
            <a:xfrm>
              <a:off x="0" y="4823136"/>
              <a:ext cx="6151562" cy="15830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675" lIns="170675" spcFirstLastPara="1" rIns="170675" wrap="square" tIns="170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ssistant"/>
                <a:buNone/>
              </a:pPr>
              <a:r>
                <a:rPr lang="en-US" sz="2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דרך תהליך זה, הנועצת מקבלת מרחב בטוח לחקור את תחושותיה, ציפיותיה והמחשבות שעברו בראשה במהלך האירוע. זהו שלב קריטי שמניח את התשתית להמשך התהליך האמפתי.</a:t>
              </a:r>
              <a:endParaRPr/>
            </a:p>
          </p:txBody>
        </p:sp>
        <p:sp>
          <p:nvSpPr>
            <p:cNvPr id="364" name="Google Shape;364;p48"/>
            <p:cNvSpPr/>
            <p:nvPr/>
          </p:nvSpPr>
          <p:spPr>
            <a:xfrm rot="10800000">
              <a:off x="0" y="2412134"/>
              <a:ext cx="6151562" cy="2434747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rgbClr val="C9642E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8"/>
            <p:cNvSpPr txBox="1"/>
            <p:nvPr/>
          </p:nvSpPr>
          <p:spPr>
            <a:xfrm>
              <a:off x="0" y="2412134"/>
              <a:ext cx="6151562" cy="15820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675" lIns="170675" spcFirstLastPara="1" rIns="170675" wrap="square" tIns="170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ssistant"/>
                <a:buNone/>
              </a:pPr>
              <a:r>
                <a:rPr lang="en-US" sz="2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התהליך כולל חמישה צעדים מרכזיים שמטרתם לתת תוקף לרגשות ולהיגיון הפנימי שהנחה את הנועצת בזמן אמת</a:t>
              </a:r>
              <a:endParaRPr sz="24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66" name="Google Shape;366;p48"/>
            <p:cNvSpPr/>
            <p:nvPr/>
          </p:nvSpPr>
          <p:spPr>
            <a:xfrm rot="10800000">
              <a:off x="0" y="1132"/>
              <a:ext cx="6151562" cy="2434747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8"/>
            <p:cNvSpPr txBox="1"/>
            <p:nvPr/>
          </p:nvSpPr>
          <p:spPr>
            <a:xfrm>
              <a:off x="0" y="1132"/>
              <a:ext cx="6151562" cy="15820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675" lIns="170675" spcFirstLastPara="1" rIns="170675" wrap="square" tIns="17067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ssistant"/>
                <a:buNone/>
              </a:pPr>
              <a:r>
                <a:rPr lang="en-US" sz="24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המסגור הראשוני הוא תהליך מובנה המאפשר לנועצת להבין לעומק את החוויה שעברה עליה במצב מאתגר.  </a:t>
              </a:r>
              <a:endParaRPr sz="24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/>
          <p:nvPr/>
        </p:nvSpPr>
        <p:spPr>
          <a:xfrm>
            <a:off x="3579118" y="554833"/>
            <a:ext cx="4860528" cy="60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מסגורים:   כוח המשמעות</a:t>
            </a:r>
            <a:endParaRPr b="1" sz="36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74" name="Google Shape;374;p49"/>
          <p:cNvSpPr/>
          <p:nvPr/>
        </p:nvSpPr>
        <p:spPr>
          <a:xfrm>
            <a:off x="6163668" y="2103549"/>
            <a:ext cx="5487393" cy="2159073"/>
          </a:xfrm>
          <a:prstGeom prst="roundRect">
            <a:avLst>
              <a:gd fmla="val 8121" name="adj"/>
            </a:avLst>
          </a:prstGeom>
          <a:solidFill>
            <a:srgbClr val="FFFFFF"/>
          </a:solidFill>
          <a:ln cap="flat" cmpd="sng" w="22850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75" name="Google Shape;375;p49"/>
          <p:cNvSpPr/>
          <p:nvPr/>
        </p:nvSpPr>
        <p:spPr>
          <a:xfrm>
            <a:off x="11593909" y="2495352"/>
            <a:ext cx="76200" cy="1767270"/>
          </a:xfrm>
          <a:prstGeom prst="roundRect">
            <a:avLst>
              <a:gd fmla="val 266244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76" name="Google Shape;376;p49"/>
          <p:cNvSpPr/>
          <p:nvPr/>
        </p:nvSpPr>
        <p:spPr>
          <a:xfrm>
            <a:off x="8012707" y="2295467"/>
            <a:ext cx="3407867" cy="47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מסגור הוא תהליך פרשנות המציאות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77" name="Google Shape;377;p49"/>
          <p:cNvSpPr/>
          <p:nvPr/>
        </p:nvSpPr>
        <p:spPr>
          <a:xfrm>
            <a:off x="6298902" y="3243768"/>
            <a:ext cx="5121672" cy="679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אנו לא רואים את המציאות כפי שהיא, אלא דרך המסגרות שאנו יוצרים. כל אחד רואה את אותה מציאות בצורה שונה.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78" name="Google Shape;378;p49"/>
          <p:cNvSpPr/>
          <p:nvPr/>
        </p:nvSpPr>
        <p:spPr>
          <a:xfrm>
            <a:off x="540941" y="2103549"/>
            <a:ext cx="5487492" cy="2159073"/>
          </a:xfrm>
          <a:prstGeom prst="roundRect">
            <a:avLst>
              <a:gd fmla="val 8121" name="adj"/>
            </a:avLst>
          </a:prstGeom>
          <a:solidFill>
            <a:srgbClr val="FFFFFF"/>
          </a:solidFill>
          <a:ln cap="flat" cmpd="sng" w="22850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79" name="Google Shape;379;p49"/>
          <p:cNvSpPr/>
          <p:nvPr/>
        </p:nvSpPr>
        <p:spPr>
          <a:xfrm>
            <a:off x="5971282" y="2495352"/>
            <a:ext cx="76200" cy="1767270"/>
          </a:xfrm>
          <a:prstGeom prst="roundRect">
            <a:avLst>
              <a:gd fmla="val 266244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0" name="Google Shape;380;p49"/>
          <p:cNvSpPr/>
          <p:nvPr/>
        </p:nvSpPr>
        <p:spPr>
          <a:xfrm>
            <a:off x="845145" y="2295467"/>
            <a:ext cx="4992985" cy="47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מסגורים מייצגים את "ההיגיון הסיבתי" מאחורי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פעולה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1" name="Google Shape;381;p49"/>
          <p:cNvSpPr/>
          <p:nvPr/>
        </p:nvSpPr>
        <p:spPr>
          <a:xfrm>
            <a:off x="676176" y="3243768"/>
            <a:ext cx="5121771" cy="679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הם מסבירים איך פועלים יוצרים משמעות במצבים ובפעולות שלהם. זה הנרטיב הפנימי שמניע התנהגות.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2" name="Google Shape;382;p49"/>
          <p:cNvSpPr/>
          <p:nvPr/>
        </p:nvSpPr>
        <p:spPr>
          <a:xfrm>
            <a:off x="6182717" y="4395097"/>
            <a:ext cx="5487393" cy="2084079"/>
          </a:xfrm>
          <a:prstGeom prst="roundRect">
            <a:avLst>
              <a:gd fmla="val 8121" name="adj"/>
            </a:avLst>
          </a:prstGeom>
          <a:solidFill>
            <a:srgbClr val="FFFFFF"/>
          </a:solidFill>
          <a:ln cap="flat" cmpd="sng" w="22850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3" name="Google Shape;383;p49"/>
          <p:cNvSpPr/>
          <p:nvPr/>
        </p:nvSpPr>
        <p:spPr>
          <a:xfrm>
            <a:off x="11612958" y="4395097"/>
            <a:ext cx="76200" cy="2084079"/>
          </a:xfrm>
          <a:prstGeom prst="roundRect">
            <a:avLst>
              <a:gd fmla="val 266244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4" name="Google Shape;384;p49"/>
          <p:cNvSpPr/>
          <p:nvPr/>
        </p:nvSpPr>
        <p:spPr>
          <a:xfrm>
            <a:off x="7844035" y="4549384"/>
            <a:ext cx="3614638" cy="562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מסגורים מעצבים חשיבה, רגש ופעולה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5" name="Google Shape;385;p49"/>
          <p:cNvSpPr/>
          <p:nvPr/>
        </p:nvSpPr>
        <p:spPr>
          <a:xfrm>
            <a:off x="6326483" y="5402841"/>
            <a:ext cx="5121672" cy="800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הם משפיעים על מה שאנו חושבים, מרגישים ועושים, ומובילים לתוצאות מסוימות שנראות הגיוניות לנו.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6" name="Google Shape;386;p49"/>
          <p:cNvSpPr/>
          <p:nvPr/>
        </p:nvSpPr>
        <p:spPr>
          <a:xfrm>
            <a:off x="559990" y="4395097"/>
            <a:ext cx="5487492" cy="2084079"/>
          </a:xfrm>
          <a:prstGeom prst="roundRect">
            <a:avLst>
              <a:gd fmla="val 8121" name="adj"/>
            </a:avLst>
          </a:prstGeom>
          <a:solidFill>
            <a:srgbClr val="FFFFFF"/>
          </a:solidFill>
          <a:ln cap="flat" cmpd="sng" w="22850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7" name="Google Shape;387;p49"/>
          <p:cNvSpPr/>
          <p:nvPr/>
        </p:nvSpPr>
        <p:spPr>
          <a:xfrm>
            <a:off x="5990331" y="4395097"/>
            <a:ext cx="76200" cy="2084079"/>
          </a:xfrm>
          <a:prstGeom prst="roundRect">
            <a:avLst>
              <a:gd fmla="val 266244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8" name="Google Shape;388;p49"/>
          <p:cNvSpPr/>
          <p:nvPr/>
        </p:nvSpPr>
        <p:spPr>
          <a:xfrm>
            <a:off x="1677987" y="4549384"/>
            <a:ext cx="4158059" cy="562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מסגורים מגדירים ומגבילים מה נראה אפשרי</a:t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9" name="Google Shape;389;p49"/>
          <p:cNvSpPr/>
          <p:nvPr/>
        </p:nvSpPr>
        <p:spPr>
          <a:xfrm>
            <a:off x="703757" y="5402841"/>
            <a:ext cx="5121771" cy="800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המסגרות שלנו קובעות את גבולות האפשרויות שאנו רואים במצב מסוים. שינוי מסגור פותח אפשרויות חדשות.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BFB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0,900+ Stuck Stock Photos, Pictures &amp; Royalty-Free Images - iStock" id="394" name="Google Shape;394;p50"/>
          <p:cNvPicPr preferRelativeResize="0"/>
          <p:nvPr/>
        </p:nvPicPr>
        <p:blipFill rotWithShape="1">
          <a:blip r:embed="rId3">
            <a:alphaModFix/>
          </a:blip>
          <a:srcRect b="-1" l="5884" r="-1" t="0"/>
          <a:stretch/>
        </p:blipFill>
        <p:spPr>
          <a:xfrm>
            <a:off x="80555" y="0"/>
            <a:ext cx="9256326" cy="68579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5" name="Google Shape;395;p50"/>
          <p:cNvGraphicFramePr/>
          <p:nvPr/>
        </p:nvGraphicFramePr>
        <p:xfrm>
          <a:off x="3235391" y="33284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{F5948585-5F28-4914-B4F3-C82E76B3A131}</a:tableStyleId>
              </a:tblPr>
              <a:tblGrid>
                <a:gridCol w="8689150"/>
              </a:tblGrid>
              <a:tr h="3276600">
                <a:tc>
                  <a:txBody>
                    <a:bodyPr/>
                    <a:lstStyle/>
                    <a:p>
                      <a:pPr indent="-285750" lvl="0" marL="285750" marR="0" rtl="1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300"/>
                        <a:buFont typeface="Arial"/>
                        <a:buChar char="•"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מסגור הוא תהליך של פרשנות המציאות.</a:t>
                      </a:r>
                      <a:endParaRPr/>
                    </a:p>
                    <a:p>
                      <a:pPr indent="-285750" lvl="0" marL="285750" marR="0" rtl="1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300"/>
                        <a:buFont typeface="Arial"/>
                        <a:buChar char="•"/>
                      </a:pPr>
                      <a:r>
                        <a:rPr b="0" lang="en-US" sz="2300" u="none" cap="none" strike="noStrike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מסגרות מייצגות את "הלוגיקה הסיבתית" שמאחורי פעולה: כיצד אנשים מבינים מצבים ואת פעולותיהם.</a:t>
                      </a:r>
                      <a:endParaRPr/>
                    </a:p>
                    <a:p>
                      <a:pPr indent="-285750" lvl="0" marL="285750" marR="0" rtl="1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300"/>
                        <a:buFont typeface="Arial"/>
                        <a:buChar char="•"/>
                      </a:pPr>
                      <a:r>
                        <a:rPr b="0" lang="en-US" sz="2300" u="none" cap="none" strike="noStrike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מסגרות מעצבות חשיבה, רגשות ופעולות בדרכים שמובילות לתוצאות מסוימות.</a:t>
                      </a:r>
                      <a:r>
                        <a:rPr b="0" lang="en-US" sz="2300" u="none" cap="none" strike="noStrike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endParaRPr/>
                    </a:p>
                    <a:p>
                      <a:pPr indent="-285750" lvl="0" marL="285750" marR="0" rtl="1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300"/>
                        <a:buFont typeface="Arial"/>
                        <a:buChar char="•"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מסגרות מגדירות ומגבילות מה נראה אפשרי במצב נתון.</a:t>
                      </a:r>
                      <a:endParaRPr b="0" i="0" sz="2300" u="none" cap="none" strike="noStrike">
                        <a:solidFill>
                          <a:schemeClr val="l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38100" marB="38100" marR="76200" marL="76200"/>
                </a:tc>
              </a:tr>
              <a:tr h="5542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l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38100" marB="381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/>
          <p:nvPr/>
        </p:nvSpPr>
        <p:spPr>
          <a:xfrm>
            <a:off x="1016978" y="733063"/>
            <a:ext cx="3793530" cy="364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ההתנהגות של כל אחד הגיונית לו</a:t>
            </a:r>
            <a:endParaRPr sz="24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02" name="Google Shape;402;p51"/>
          <p:cNvSpPr/>
          <p:nvPr/>
        </p:nvSpPr>
        <p:spPr>
          <a:xfrm>
            <a:off x="838962" y="2094264"/>
            <a:ext cx="3971546" cy="6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אף אחד לא יכול בכוונה לעשות טעות</a:t>
            </a:r>
            <a:endParaRPr sz="24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03" name="Google Shape;403;p51"/>
          <p:cNvSpPr/>
          <p:nvPr/>
        </p:nvSpPr>
        <p:spPr>
          <a:xfrm>
            <a:off x="1760114" y="5176236"/>
            <a:ext cx="8682958" cy="1153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404" name="Google Shape;40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4259" y="338236"/>
            <a:ext cx="6496793" cy="3638116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1"/>
          <p:cNvSpPr txBox="1"/>
          <p:nvPr/>
        </p:nvSpPr>
        <p:spPr>
          <a:xfrm>
            <a:off x="286603" y="3653613"/>
            <a:ext cx="452390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כל אדם פועל מתוך המסגורים שלו, האמונות שלו,  וההבנה שלו של המצב. </a:t>
            </a:r>
            <a:endParaRPr sz="24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מה שנראה לנו כטעות, עבורו היה הבחירה הנכונה היחידה באותו רגע.</a:t>
            </a:r>
            <a:endParaRPr sz="24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/>
          <p:nvPr/>
        </p:nvSpPr>
        <p:spPr>
          <a:xfrm>
            <a:off x="213360" y="238760"/>
            <a:ext cx="11765280" cy="1397000"/>
          </a:xfrm>
          <a:custGeom>
            <a:rect b="b" l="l" r="r" t="t"/>
            <a:pathLst>
              <a:path extrusionOk="0" fill="none" h="1397000" w="11765280">
                <a:moveTo>
                  <a:pt x="0" y="181596"/>
                </a:moveTo>
                <a:cubicBezTo>
                  <a:pt x="-9047" y="79840"/>
                  <a:pt x="84589" y="2687"/>
                  <a:pt x="181596" y="0"/>
                </a:cubicBezTo>
                <a:cubicBezTo>
                  <a:pt x="3067019" y="130954"/>
                  <a:pt x="8846259" y="43574"/>
                  <a:pt x="11583684" y="0"/>
                </a:cubicBezTo>
                <a:cubicBezTo>
                  <a:pt x="11686778" y="4314"/>
                  <a:pt x="11777094" y="95775"/>
                  <a:pt x="11765280" y="181596"/>
                </a:cubicBezTo>
                <a:cubicBezTo>
                  <a:pt x="11763739" y="490448"/>
                  <a:pt x="11730347" y="987332"/>
                  <a:pt x="11765280" y="1215404"/>
                </a:cubicBezTo>
                <a:cubicBezTo>
                  <a:pt x="11762994" y="1316072"/>
                  <a:pt x="11682626" y="1396068"/>
                  <a:pt x="11583684" y="1397000"/>
                </a:cubicBezTo>
                <a:cubicBezTo>
                  <a:pt x="8842310" y="1552197"/>
                  <a:pt x="4358491" y="1560020"/>
                  <a:pt x="181596" y="1397000"/>
                </a:cubicBezTo>
                <a:cubicBezTo>
                  <a:pt x="82339" y="1382987"/>
                  <a:pt x="-12522" y="1323009"/>
                  <a:pt x="0" y="1215404"/>
                </a:cubicBezTo>
                <a:cubicBezTo>
                  <a:pt x="-55159" y="774080"/>
                  <a:pt x="-68399" y="350516"/>
                  <a:pt x="0" y="181596"/>
                </a:cubicBezTo>
                <a:close/>
              </a:path>
              <a:path extrusionOk="0" h="1397000" w="11765280">
                <a:moveTo>
                  <a:pt x="0" y="181596"/>
                </a:moveTo>
                <a:cubicBezTo>
                  <a:pt x="-14962" y="72074"/>
                  <a:pt x="70738" y="3965"/>
                  <a:pt x="181596" y="0"/>
                </a:cubicBezTo>
                <a:cubicBezTo>
                  <a:pt x="4666971" y="132882"/>
                  <a:pt x="9600007" y="-84951"/>
                  <a:pt x="11583684" y="0"/>
                </a:cubicBezTo>
                <a:cubicBezTo>
                  <a:pt x="11678578" y="5273"/>
                  <a:pt x="11763513" y="91072"/>
                  <a:pt x="11765280" y="181596"/>
                </a:cubicBezTo>
                <a:cubicBezTo>
                  <a:pt x="11775380" y="625480"/>
                  <a:pt x="11717697" y="923851"/>
                  <a:pt x="11765280" y="1215404"/>
                </a:cubicBezTo>
                <a:cubicBezTo>
                  <a:pt x="11769275" y="1316171"/>
                  <a:pt x="11686738" y="1391318"/>
                  <a:pt x="11583684" y="1397000"/>
                </a:cubicBezTo>
                <a:cubicBezTo>
                  <a:pt x="6840734" y="1484639"/>
                  <a:pt x="2177225" y="1324321"/>
                  <a:pt x="181596" y="1397000"/>
                </a:cubicBezTo>
                <a:cubicBezTo>
                  <a:pt x="79773" y="1382411"/>
                  <a:pt x="-8427" y="1327408"/>
                  <a:pt x="0" y="1215404"/>
                </a:cubicBezTo>
                <a:cubicBezTo>
                  <a:pt x="16338" y="706968"/>
                  <a:pt x="33189" y="400376"/>
                  <a:pt x="0" y="181596"/>
                </a:cubicBezTo>
                <a:close/>
              </a:path>
            </a:pathLst>
          </a:custGeom>
          <a:solidFill>
            <a:srgbClr val="0E2A47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1" name="Google Shape;411;p52"/>
          <p:cNvSpPr txBox="1"/>
          <p:nvPr/>
        </p:nvSpPr>
        <p:spPr>
          <a:xfrm>
            <a:off x="1435891" y="625755"/>
            <a:ext cx="96903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עם איזו פרשנות המורה מגיע לטפל באירוע?</a:t>
            </a:r>
            <a:endParaRPr/>
          </a:p>
        </p:txBody>
      </p:sp>
      <p:sp>
        <p:nvSpPr>
          <p:cNvPr id="412" name="Google Shape;412;p52"/>
          <p:cNvSpPr txBox="1"/>
          <p:nvPr/>
        </p:nvSpPr>
        <p:spPr>
          <a:xfrm>
            <a:off x="8601999" y="108132"/>
            <a:ext cx="93472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13" name="Google Shape;413;p52"/>
          <p:cNvGraphicFramePr/>
          <p:nvPr/>
        </p:nvGraphicFramePr>
        <p:xfrm>
          <a:off x="1955320" y="254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{3D0A2E2A-DCA9-44FA-BF9F-EC55150B478F}</a:tableStyleId>
              </a:tblPr>
              <a:tblGrid>
                <a:gridCol w="2760450"/>
                <a:gridCol w="2760450"/>
                <a:gridCol w="2760450"/>
              </a:tblGrid>
              <a:tr h="12809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 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מקורות הכוח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מקורות המצוקה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</a:tr>
              <a:tr h="7282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התלמיד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 u="none" cap="none" strike="noStrike"/>
                        <a:t> </a:t>
                      </a:r>
                      <a:r>
                        <a:rPr b="1" lang="en-US" sz="4000" u="none" cap="none" strike="noStrike">
                          <a:solidFill>
                            <a:srgbClr val="FF0000"/>
                          </a:solidFill>
                        </a:rPr>
                        <a:t>V</a:t>
                      </a:r>
                      <a:endParaRPr b="1" sz="4000" u="none" cap="none" strike="noStrike">
                        <a:solidFill>
                          <a:srgbClr val="FF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 u="none" cap="none" strike="noStrike"/>
                        <a:t> </a:t>
                      </a:r>
                      <a:endParaRPr b="1" sz="40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</a:tr>
              <a:tr h="7282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המורה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40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0000"/>
                          </a:solidFill>
                        </a:rPr>
                        <a:t>V</a:t>
                      </a:r>
                      <a:endParaRPr b="1" sz="40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"/>
          <p:cNvSpPr txBox="1"/>
          <p:nvPr>
            <p:ph type="title"/>
          </p:nvPr>
        </p:nvSpPr>
        <p:spPr>
          <a:xfrm>
            <a:off x="6276703" y="365126"/>
            <a:ext cx="5077097" cy="315912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ssistant"/>
              <a:buNone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מתודה: חקרנות אמפתית</a:t>
            </a:r>
            <a:endParaRPr sz="3200"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419" name="Google Shape;419;p53"/>
          <p:cNvGrpSpPr/>
          <p:nvPr/>
        </p:nvGrpSpPr>
        <p:grpSpPr>
          <a:xfrm>
            <a:off x="4922827" y="1130192"/>
            <a:ext cx="5887314" cy="5232776"/>
            <a:chOff x="1311879" y="605"/>
            <a:chExt cx="5887314" cy="5232776"/>
          </a:xfrm>
        </p:grpSpPr>
        <p:sp>
          <p:nvSpPr>
            <p:cNvPr id="420" name="Google Shape;420;p53"/>
            <p:cNvSpPr/>
            <p:nvPr/>
          </p:nvSpPr>
          <p:spPr>
            <a:xfrm>
              <a:off x="3320482" y="605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3"/>
            <p:cNvSpPr txBox="1"/>
            <p:nvPr/>
          </p:nvSpPr>
          <p:spPr>
            <a:xfrm>
              <a:off x="3379821" y="59944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הצגת המקרה</a:t>
              </a:r>
              <a:endParaRPr/>
            </a:p>
          </p:txBody>
        </p:sp>
        <p:sp>
          <p:nvSpPr>
            <p:cNvPr id="422" name="Google Shape;422;p53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95646" y="11737"/>
                  </a:moveTo>
                  <a:cubicBezTo>
                    <a:pt x="103329" y="17411"/>
                    <a:pt x="109546" y="24838"/>
                    <a:pt x="113781" y="33400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3"/>
            <p:cNvSpPr/>
            <p:nvPr/>
          </p:nvSpPr>
          <p:spPr>
            <a:xfrm>
              <a:off x="5329085" y="2009208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3"/>
            <p:cNvSpPr txBox="1"/>
            <p:nvPr/>
          </p:nvSpPr>
          <p:spPr>
            <a:xfrm>
              <a:off x="5388424" y="2068547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ראשוני</a:t>
              </a:r>
              <a:endParaRPr/>
            </a:p>
          </p:txBody>
        </p:sp>
        <p:sp>
          <p:nvSpPr>
            <p:cNvPr id="425" name="Google Shape;425;p53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113781" y="86601"/>
                  </a:moveTo>
                  <a:cubicBezTo>
                    <a:pt x="109546" y="95162"/>
                    <a:pt x="103329" y="102589"/>
                    <a:pt x="95646" y="108264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3"/>
            <p:cNvSpPr/>
            <p:nvPr/>
          </p:nvSpPr>
          <p:spPr>
            <a:xfrm>
              <a:off x="3320482" y="4017811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3"/>
            <p:cNvSpPr txBox="1"/>
            <p:nvPr/>
          </p:nvSpPr>
          <p:spPr>
            <a:xfrm>
              <a:off x="3379821" y="4077150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מחדש</a:t>
              </a:r>
              <a:endParaRPr/>
            </a:p>
          </p:txBody>
        </p:sp>
        <p:sp>
          <p:nvSpPr>
            <p:cNvPr id="428" name="Google Shape;428;p53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24354" y="108263"/>
                  </a:moveTo>
                  <a:cubicBezTo>
                    <a:pt x="16671" y="102589"/>
                    <a:pt x="10454" y="95162"/>
                    <a:pt x="6219" y="86600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53"/>
            <p:cNvSpPr/>
            <p:nvPr/>
          </p:nvSpPr>
          <p:spPr>
            <a:xfrm>
              <a:off x="1311879" y="2009208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53"/>
            <p:cNvSpPr txBox="1"/>
            <p:nvPr/>
          </p:nvSpPr>
          <p:spPr>
            <a:xfrm>
              <a:off x="1371218" y="2068547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חלופות</a:t>
              </a:r>
              <a:endParaRPr/>
            </a:p>
          </p:txBody>
        </p:sp>
        <p:sp>
          <p:nvSpPr>
            <p:cNvPr id="431" name="Google Shape;431;p53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6219" y="33399"/>
                  </a:moveTo>
                  <a:cubicBezTo>
                    <a:pt x="10454" y="24838"/>
                    <a:pt x="16671" y="17411"/>
                    <a:pt x="24354" y="11736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" name="Google Shape;432;p53"/>
          <p:cNvSpPr/>
          <p:nvPr/>
        </p:nvSpPr>
        <p:spPr>
          <a:xfrm>
            <a:off x="353513" y="1670180"/>
            <a:ext cx="3516630" cy="444615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23001" y="0"/>
                </a:moveTo>
                <a:close/>
                <a:lnTo>
                  <a:pt x="123001" y="120000"/>
                </a:lnTo>
              </a:path>
              <a:path extrusionOk="0" fill="none" h="120000" w="120000">
                <a:moveTo>
                  <a:pt x="123001" y="65977"/>
                </a:moveTo>
                <a:lnTo>
                  <a:pt x="135635" y="65533"/>
                </a:lnTo>
                <a:lnTo>
                  <a:pt x="222750" y="113663"/>
                </a:lnTo>
              </a:path>
            </a:pathLst>
          </a:custGeom>
          <a:solidFill>
            <a:schemeClr val="lt1"/>
          </a:solidFill>
          <a:ln cap="flat" cmpd="sng" w="38100">
            <a:solidFill>
              <a:srgbClr val="00206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מסגור מחדש:</a:t>
            </a:r>
            <a:endParaRPr/>
          </a:p>
          <a:p>
            <a:pPr indent="0" lvl="0" marL="0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באיזה אופן, ההתנהגות של האחר הגיונית? 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נקודת מבט חדשה על האירוע, שתוביל ליציאה מחווית חוסר האונים או המבוי הסתום ותאפשר שנוי, בארבעה צעדים: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886" lvl="0" marL="342886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AutoNum type="arabicPeriod"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הרחבת ההיכרות עם דמויות אחרות באירוע 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886" lvl="0" marL="342886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AutoNum type="arabicPeriod"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מבט אמפתי על הנועצת ועל הדמויות האחרות באירוע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886" lvl="0" marL="342886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AutoNum type="arabicPeriod"/>
            </a:pP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פרשנות חדשה להתרחשות</a:t>
            </a:r>
            <a:endParaRPr sz="2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8" name="Google Shape;43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4"/>
          <p:cNvSpPr/>
          <p:nvPr/>
        </p:nvSpPr>
        <p:spPr>
          <a:xfrm>
            <a:off x="1313892" y="411004"/>
            <a:ext cx="5484317" cy="60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צעד ראשון: הרחבת המסגרת</a:t>
            </a:r>
            <a:endParaRPr b="1" sz="36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0" name="Google Shape;440;p54"/>
          <p:cNvSpPr/>
          <p:nvPr/>
        </p:nvSpPr>
        <p:spPr>
          <a:xfrm>
            <a:off x="1534887" y="4187234"/>
            <a:ext cx="5550424" cy="728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11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הכנסת מודעות למה שהתעלמנו ממנו</a:t>
            </a:r>
            <a:endParaRPr sz="2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1" name="Google Shape;441;p54"/>
          <p:cNvSpPr/>
          <p:nvPr/>
        </p:nvSpPr>
        <p:spPr>
          <a:xfrm>
            <a:off x="592185" y="4721028"/>
            <a:ext cx="6591378" cy="865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לעתים קרובות, כשאנחנו תקועים במצב, אנחנו רואים רק חלק קטן מהתמונה השלמה. הרחבת המסגרת פירושה להכניס למודעות חלקים של השדה שאולי התעלמנו מהם - אנשים, הקשרים, נסיבות.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2" name="Google Shape;442;p54"/>
          <p:cNvSpPr/>
          <p:nvPr/>
        </p:nvSpPr>
        <p:spPr>
          <a:xfrm>
            <a:off x="618735" y="5911859"/>
            <a:ext cx="6590370" cy="648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זה אומר להסתכל מבט מורכב יותר על האנשים ועל מה שעשוי להסביר את התנהגותם. במקום לפשט יתר על המידה, אנחנו בוחרים לראות את המורכבות.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3" name="Google Shape;443;p54"/>
          <p:cNvSpPr/>
          <p:nvPr/>
        </p:nvSpPr>
        <p:spPr>
          <a:xfrm>
            <a:off x="4324747" y="1421011"/>
            <a:ext cx="2760563" cy="364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11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שאלות מרחיבות</a:t>
            </a:r>
            <a:endParaRPr sz="2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4" name="Google Shape;444;p54"/>
          <p:cNvSpPr/>
          <p:nvPr/>
        </p:nvSpPr>
        <p:spPr>
          <a:xfrm>
            <a:off x="4324747" y="1920676"/>
            <a:ext cx="2760563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800"/>
              <a:buFont typeface="Assistant"/>
              <a:buChar char="•"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ספר לנו יותר עליהם - מי הם באמת?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4324747" y="2184300"/>
            <a:ext cx="2760563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800"/>
              <a:buFont typeface="Assistant"/>
              <a:buChar char="•"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מה קורה איתם ברמה האישית?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6" name="Google Shape;446;p54"/>
          <p:cNvSpPr/>
          <p:nvPr/>
        </p:nvSpPr>
        <p:spPr>
          <a:xfrm>
            <a:off x="4324747" y="2447924"/>
            <a:ext cx="2760563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800"/>
              <a:buFont typeface="Assistant"/>
              <a:buChar char="•"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האם הם תמיד מתנהגים בצורה הזו?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7" name="Google Shape;447;p54"/>
          <p:cNvSpPr/>
          <p:nvPr/>
        </p:nvSpPr>
        <p:spPr>
          <a:xfrm>
            <a:off x="4324747" y="2711549"/>
            <a:ext cx="2760563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800"/>
              <a:buFont typeface="Assistant"/>
              <a:buChar char="•"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באילו קשיים הם מתמודדים?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8" name="Google Shape;448;p54"/>
          <p:cNvSpPr/>
          <p:nvPr/>
        </p:nvSpPr>
        <p:spPr>
          <a:xfrm>
            <a:off x="4324747" y="2975173"/>
            <a:ext cx="2760563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800"/>
              <a:buFont typeface="Assistant"/>
              <a:buChar char="•"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מה מאפיין את היחסים שלך איתם?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9" name="Google Shape;449;p54"/>
          <p:cNvSpPr/>
          <p:nvPr/>
        </p:nvSpPr>
        <p:spPr>
          <a:xfrm>
            <a:off x="4324747" y="3238797"/>
            <a:ext cx="2760563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800"/>
              <a:buFont typeface="Assistant"/>
              <a:buChar char="•"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מה במצב או בארגון יכול להסביר את מה הקורה?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/>
          <p:nvPr/>
        </p:nvSpPr>
        <p:spPr>
          <a:xfrm>
            <a:off x="226720" y="348287"/>
            <a:ext cx="3487936" cy="1095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5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456" name="Google Shape;45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9416" y="1138254"/>
            <a:ext cx="1363658" cy="1363658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5"/>
          <p:cNvSpPr/>
          <p:nvPr/>
        </p:nvSpPr>
        <p:spPr>
          <a:xfrm>
            <a:off x="8337206" y="1138253"/>
            <a:ext cx="144750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4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מה מוביל אותם להתנהג כך?</a:t>
            </a:r>
            <a:endParaRPr sz="2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58" name="Google Shape;458;p55"/>
          <p:cNvSpPr/>
          <p:nvPr/>
        </p:nvSpPr>
        <p:spPr>
          <a:xfrm>
            <a:off x="5303086" y="1702491"/>
            <a:ext cx="4434423" cy="167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במקום לשפוט או להגיב באופן אוטומטי, עצור ושאל את עצמך: מה עומד מאחורי ההתנהגות הזו? אילו לחצים, צרכים או חששות מניעים את האדם הזה?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preencoded.png" id="459" name="Google Shape;45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9416" y="4204973"/>
            <a:ext cx="1363658" cy="1363658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5"/>
          <p:cNvSpPr/>
          <p:nvPr/>
        </p:nvSpPr>
        <p:spPr>
          <a:xfrm>
            <a:off x="7998578" y="4291868"/>
            <a:ext cx="156636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4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איך ההתנהגות שלהם הגיונית?</a:t>
            </a:r>
            <a:endParaRPr sz="2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1" name="Google Shape;461;p55"/>
          <p:cNvSpPr/>
          <p:nvPr/>
        </p:nvSpPr>
        <p:spPr>
          <a:xfrm>
            <a:off x="7754342" y="3395203"/>
            <a:ext cx="4155381" cy="115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54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?</a:t>
            </a:r>
            <a:endParaRPr sz="91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2" name="Google Shape;462;p55"/>
          <p:cNvSpPr txBox="1"/>
          <p:nvPr/>
        </p:nvSpPr>
        <p:spPr>
          <a:xfrm>
            <a:off x="673389" y="466103"/>
            <a:ext cx="4328743" cy="16681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צעד שני: </a:t>
            </a:r>
            <a:endParaRPr b="1" sz="36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מבט אמפתי על האחר</a:t>
            </a:r>
            <a:endParaRPr b="1" sz="36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3" name="Google Shape;463;p55"/>
          <p:cNvSpPr txBox="1"/>
          <p:nvPr/>
        </p:nvSpPr>
        <p:spPr>
          <a:xfrm>
            <a:off x="5232692" y="4695122"/>
            <a:ext cx="4485217" cy="1295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כל אדם פועל מתוך ההיגיון הפנימי שלו. נסה למצוא את ההגיון הזה - איך זה נראה מנקודת המבט שלהם? במה זה משרת אותם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6"/>
          <p:cNvSpPr/>
          <p:nvPr/>
        </p:nvSpPr>
        <p:spPr>
          <a:xfrm>
            <a:off x="209005" y="228600"/>
            <a:ext cx="6792791" cy="575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צעד שלישי: פרשנות מחדש של המצב</a:t>
            </a:r>
            <a:endParaRPr b="1" sz="36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70" name="Google Shape;470;p56"/>
          <p:cNvSpPr/>
          <p:nvPr/>
        </p:nvSpPr>
        <p:spPr>
          <a:xfrm>
            <a:off x="6258521" y="946072"/>
            <a:ext cx="5427762" cy="1918572"/>
          </a:xfrm>
          <a:prstGeom prst="roundRect">
            <a:avLst>
              <a:gd fmla="val 16667" name="adj"/>
            </a:avLst>
          </a:prstGeom>
          <a:solidFill>
            <a:srgbClr val="D6DE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העלה פרשנויות חדשות למצב - דרכים שונות להבין מה באמת קורה כאן. אל תכפה פרשנות - בדוק אילו פרשנויות "מהדהדות" עם מי שחווה את המבוי הסתום.</a:t>
            </a:r>
            <a:endParaRPr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71" name="Google Shape;471;p56"/>
          <p:cNvSpPr/>
          <p:nvPr/>
        </p:nvSpPr>
        <p:spPr>
          <a:xfrm>
            <a:off x="3206967" y="3019425"/>
            <a:ext cx="5427762" cy="1918572"/>
          </a:xfrm>
          <a:prstGeom prst="roundRect">
            <a:avLst>
              <a:gd fmla="val 16667" name="adj"/>
            </a:avLst>
          </a:prstGeom>
          <a:solidFill>
            <a:srgbClr val="B2BBB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אפשר לו לבחור את הפרשנויות שמדברות אליו. אם פרשנות מסוימת לא מהדהדת, אל תלחץ - חפש פרשנויות אחרות. כאן אתה יכול להיעזר בידע ובניסיון שלך.</a:t>
            </a:r>
            <a:endParaRPr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72" name="Google Shape;472;p56"/>
          <p:cNvSpPr/>
          <p:nvPr/>
        </p:nvSpPr>
        <p:spPr>
          <a:xfrm>
            <a:off x="432642" y="5092778"/>
            <a:ext cx="5427762" cy="1536622"/>
          </a:xfrm>
          <a:prstGeom prst="roundRect">
            <a:avLst>
              <a:gd fmla="val 16667" name="adj"/>
            </a:avLst>
          </a:prstGeom>
          <a:solidFill>
            <a:srgbClr val="8D9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השאלה המכריעה:</a:t>
            </a:r>
            <a:r>
              <a:rPr lang="en-US" sz="2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מה ההשלכות של המסגור המחודש? כיצד זה יכול לעזור לך ולאחרים להשתחרר מהתקיעות?</a:t>
            </a:r>
            <a:endParaRPr sz="2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8" name="Google Shape;47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7"/>
          <p:cNvSpPr/>
          <p:nvPr/>
        </p:nvSpPr>
        <p:spPr>
          <a:xfrm>
            <a:off x="6494776" y="336835"/>
            <a:ext cx="5419229" cy="60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אין מסגורים נכונים או שגויים</a:t>
            </a:r>
            <a:endParaRPr sz="5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0" name="Google Shape;480;p57"/>
          <p:cNvSpPr/>
          <p:nvPr/>
        </p:nvSpPr>
        <p:spPr>
          <a:xfrm>
            <a:off x="8449668" y="1483407"/>
            <a:ext cx="3201393" cy="2651238"/>
          </a:xfrm>
          <a:prstGeom prst="roundRect">
            <a:avLst>
              <a:gd fmla="val 12326" name="adj"/>
            </a:avLst>
          </a:prstGeom>
          <a:solidFill>
            <a:srgbClr val="FFFFFF"/>
          </a:solidFill>
          <a:ln cap="flat" cmpd="sng" w="22850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1" name="Google Shape;481;p57"/>
          <p:cNvSpPr/>
          <p:nvPr/>
        </p:nvSpPr>
        <p:spPr>
          <a:xfrm>
            <a:off x="8544924" y="1681893"/>
            <a:ext cx="2892822" cy="978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אנחנו אף פעם לא יודעים בוודאות</a:t>
            </a:r>
            <a:endParaRPr sz="3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2" name="Google Shape;482;p57"/>
          <p:cNvSpPr/>
          <p:nvPr/>
        </p:nvSpPr>
        <p:spPr>
          <a:xfrm>
            <a:off x="8603952" y="2439199"/>
            <a:ext cx="2892822" cy="13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כל מסגור הוא ניסיון להבין את המציאות, לא האמת המוחלטת. יש אלמנטים של אמת בכל מסגור שאנחנו בוחרים.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3" name="Google Shape;483;p57"/>
          <p:cNvSpPr/>
          <p:nvPr/>
        </p:nvSpPr>
        <p:spPr>
          <a:xfrm>
            <a:off x="5112941" y="1464356"/>
            <a:ext cx="3201492" cy="2651238"/>
          </a:xfrm>
          <a:prstGeom prst="roundRect">
            <a:avLst>
              <a:gd fmla="val 12326" name="adj"/>
            </a:avLst>
          </a:prstGeom>
          <a:solidFill>
            <a:srgbClr val="FFFFFF"/>
          </a:solidFill>
          <a:ln cap="flat" cmpd="sng" w="22850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4" name="Google Shape;484;p57"/>
          <p:cNvSpPr/>
          <p:nvPr/>
        </p:nvSpPr>
        <p:spPr>
          <a:xfrm>
            <a:off x="5670855" y="1697945"/>
            <a:ext cx="2430264" cy="489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השאלות החשובות</a:t>
            </a:r>
            <a:endParaRPr sz="3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5" name="Google Shape;485;p57"/>
          <p:cNvSpPr/>
          <p:nvPr/>
        </p:nvSpPr>
        <p:spPr>
          <a:xfrm>
            <a:off x="5267226" y="2435162"/>
            <a:ext cx="2892921" cy="348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926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800"/>
              <a:buFont typeface="Assistant"/>
              <a:buChar char="•"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האם המסגור המחודש סביר?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6" name="Google Shape;486;p57"/>
          <p:cNvSpPr/>
          <p:nvPr/>
        </p:nvSpPr>
        <p:spPr>
          <a:xfrm>
            <a:off x="5310155" y="2864628"/>
            <a:ext cx="2892921" cy="69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39" lvl="0" marL="285739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800"/>
              <a:buFont typeface="Assistant"/>
              <a:buChar char="•"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האם הוא מוביל לדרכי חשיבה, הרגשה או פעולה פרודוקטיביות יותר מהמסגור המקורי?</a:t>
            </a:r>
            <a:endParaRPr sz="18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7" name="Google Shape;487;p57"/>
          <p:cNvSpPr/>
          <p:nvPr/>
        </p:nvSpPr>
        <p:spPr>
          <a:xfrm>
            <a:off x="5158695" y="4367585"/>
            <a:ext cx="6538119" cy="1425776"/>
          </a:xfrm>
          <a:prstGeom prst="roundRect">
            <a:avLst>
              <a:gd fmla="val 22303" name="adj"/>
            </a:avLst>
          </a:prstGeom>
          <a:solidFill>
            <a:srgbClr val="FFFFFF"/>
          </a:solidFill>
          <a:ln cap="flat" cmpd="sng" w="22850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8" name="Google Shape;488;p57"/>
          <p:cNvSpPr/>
          <p:nvPr/>
        </p:nvSpPr>
        <p:spPr>
          <a:xfrm>
            <a:off x="9066511" y="4424164"/>
            <a:ext cx="2430264" cy="30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גמישות במחשבה</a:t>
            </a:r>
            <a:endParaRPr sz="30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9" name="Google Shape;489;p57"/>
          <p:cNvSpPr/>
          <p:nvPr/>
        </p:nvSpPr>
        <p:spPr>
          <a:xfrm>
            <a:off x="5267226" y="4808934"/>
            <a:ext cx="6229548" cy="216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sz="1667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90" name="Google Shape;490;p57"/>
          <p:cNvSpPr txBox="1"/>
          <p:nvPr/>
        </p:nvSpPr>
        <p:spPr>
          <a:xfrm>
            <a:off x="5460703" y="4958773"/>
            <a:ext cx="61684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E6666"/>
                </a:solidFill>
                <a:latin typeface="Assistant"/>
                <a:ea typeface="Assistant"/>
                <a:cs typeface="Assistant"/>
                <a:sym typeface="Assistant"/>
              </a:rPr>
              <a:t>אם מסגור אחד לא עובד, נסה מסגור אחר. זו לא תחרות על האמת, אלא חיפוש אחר דרך חשיבה שתעזור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8"/>
          <p:cNvSpPr/>
          <p:nvPr/>
        </p:nvSpPr>
        <p:spPr>
          <a:xfrm>
            <a:off x="213360" y="238760"/>
            <a:ext cx="11765280" cy="1397000"/>
          </a:xfrm>
          <a:custGeom>
            <a:rect b="b" l="l" r="r" t="t"/>
            <a:pathLst>
              <a:path extrusionOk="0" fill="none" h="1397000" w="11765280">
                <a:moveTo>
                  <a:pt x="0" y="181596"/>
                </a:moveTo>
                <a:cubicBezTo>
                  <a:pt x="-9047" y="79840"/>
                  <a:pt x="84589" y="2687"/>
                  <a:pt x="181596" y="0"/>
                </a:cubicBezTo>
                <a:cubicBezTo>
                  <a:pt x="3067019" y="130954"/>
                  <a:pt x="8846259" y="43574"/>
                  <a:pt x="11583684" y="0"/>
                </a:cubicBezTo>
                <a:cubicBezTo>
                  <a:pt x="11686778" y="4314"/>
                  <a:pt x="11777094" y="95775"/>
                  <a:pt x="11765280" y="181596"/>
                </a:cubicBezTo>
                <a:cubicBezTo>
                  <a:pt x="11763739" y="490448"/>
                  <a:pt x="11730347" y="987332"/>
                  <a:pt x="11765280" y="1215404"/>
                </a:cubicBezTo>
                <a:cubicBezTo>
                  <a:pt x="11762994" y="1316072"/>
                  <a:pt x="11682626" y="1396068"/>
                  <a:pt x="11583684" y="1397000"/>
                </a:cubicBezTo>
                <a:cubicBezTo>
                  <a:pt x="8842310" y="1552197"/>
                  <a:pt x="4358491" y="1560020"/>
                  <a:pt x="181596" y="1397000"/>
                </a:cubicBezTo>
                <a:cubicBezTo>
                  <a:pt x="82339" y="1382987"/>
                  <a:pt x="-12522" y="1323009"/>
                  <a:pt x="0" y="1215404"/>
                </a:cubicBezTo>
                <a:cubicBezTo>
                  <a:pt x="-55159" y="774080"/>
                  <a:pt x="-68399" y="350516"/>
                  <a:pt x="0" y="181596"/>
                </a:cubicBezTo>
                <a:close/>
              </a:path>
              <a:path extrusionOk="0" h="1397000" w="11765280">
                <a:moveTo>
                  <a:pt x="0" y="181596"/>
                </a:moveTo>
                <a:cubicBezTo>
                  <a:pt x="-14962" y="72074"/>
                  <a:pt x="70738" y="3965"/>
                  <a:pt x="181596" y="0"/>
                </a:cubicBezTo>
                <a:cubicBezTo>
                  <a:pt x="4666971" y="132882"/>
                  <a:pt x="9600007" y="-84951"/>
                  <a:pt x="11583684" y="0"/>
                </a:cubicBezTo>
                <a:cubicBezTo>
                  <a:pt x="11678578" y="5273"/>
                  <a:pt x="11763513" y="91072"/>
                  <a:pt x="11765280" y="181596"/>
                </a:cubicBezTo>
                <a:cubicBezTo>
                  <a:pt x="11775380" y="625480"/>
                  <a:pt x="11717697" y="923851"/>
                  <a:pt x="11765280" y="1215404"/>
                </a:cubicBezTo>
                <a:cubicBezTo>
                  <a:pt x="11769275" y="1316171"/>
                  <a:pt x="11686738" y="1391318"/>
                  <a:pt x="11583684" y="1397000"/>
                </a:cubicBezTo>
                <a:cubicBezTo>
                  <a:pt x="6840734" y="1484639"/>
                  <a:pt x="2177225" y="1324321"/>
                  <a:pt x="181596" y="1397000"/>
                </a:cubicBezTo>
                <a:cubicBezTo>
                  <a:pt x="79773" y="1382411"/>
                  <a:pt x="-8427" y="1327408"/>
                  <a:pt x="0" y="1215404"/>
                </a:cubicBezTo>
                <a:cubicBezTo>
                  <a:pt x="16338" y="706968"/>
                  <a:pt x="33189" y="400376"/>
                  <a:pt x="0" y="181596"/>
                </a:cubicBezTo>
                <a:close/>
              </a:path>
            </a:pathLst>
          </a:custGeom>
          <a:solidFill>
            <a:srgbClr val="0E2A47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6" name="Google Shape;496;p58"/>
          <p:cNvSpPr txBox="1"/>
          <p:nvPr/>
        </p:nvSpPr>
        <p:spPr>
          <a:xfrm>
            <a:off x="1435891" y="625755"/>
            <a:ext cx="96903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עם איזו פרשנות אנחנו רוצים שהמורה יגש לטפל באירוע?</a:t>
            </a:r>
            <a:endParaRPr/>
          </a:p>
        </p:txBody>
      </p:sp>
      <p:sp>
        <p:nvSpPr>
          <p:cNvPr id="497" name="Google Shape;497;p58"/>
          <p:cNvSpPr txBox="1"/>
          <p:nvPr/>
        </p:nvSpPr>
        <p:spPr>
          <a:xfrm>
            <a:off x="8601999" y="108132"/>
            <a:ext cx="93472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98" name="Google Shape;498;p58"/>
          <p:cNvGraphicFramePr/>
          <p:nvPr/>
        </p:nvGraphicFramePr>
        <p:xfrm>
          <a:off x="1955320" y="254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{3D0A2E2A-DCA9-44FA-BF9F-EC55150B478F}</a:tableStyleId>
              </a:tblPr>
              <a:tblGrid>
                <a:gridCol w="2760450"/>
                <a:gridCol w="2760450"/>
                <a:gridCol w="2760450"/>
              </a:tblGrid>
              <a:tr h="12809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 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מקורות הכוח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מקורות המצוקה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</a:tr>
              <a:tr h="7282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התלמיד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 u="none" cap="none" strike="noStrike"/>
                        <a:t> </a:t>
                      </a:r>
                      <a:endParaRPr b="1" sz="4000" u="none" cap="none" strike="sngStrike">
                        <a:solidFill>
                          <a:srgbClr val="FF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 u="none" cap="none" strike="noStrike"/>
                        <a:t> </a:t>
                      </a:r>
                      <a:r>
                        <a:rPr b="1" lang="en-US" sz="4000" u="none" cap="none" strike="noStrike">
                          <a:solidFill>
                            <a:schemeClr val="accent1"/>
                          </a:solidFill>
                        </a:rPr>
                        <a:t>V</a:t>
                      </a:r>
                      <a:endParaRPr b="1" sz="4000" u="none" cap="none" strike="noStrike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</a:tr>
              <a:tr h="7282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המורה</a:t>
                      </a:r>
                      <a:endParaRPr sz="2800" u="none" cap="none" strike="no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 u="none" cap="none" strike="noStrike">
                          <a:solidFill>
                            <a:schemeClr val="accent1"/>
                          </a:solidFill>
                        </a:rPr>
                        <a:t>V</a:t>
                      </a:r>
                      <a:endParaRPr b="1" sz="4000" u="none" cap="none" strike="noStrike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4000" u="none" cap="none" strike="sngStrike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9"/>
          <p:cNvSpPr txBox="1"/>
          <p:nvPr>
            <p:ph type="title"/>
          </p:nvPr>
        </p:nvSpPr>
        <p:spPr>
          <a:xfrm>
            <a:off x="6668589" y="365126"/>
            <a:ext cx="4685211" cy="315912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ssistant"/>
              <a:buNone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מתודה: חקרנות אמפתית</a:t>
            </a:r>
            <a:endParaRPr sz="3200"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504" name="Google Shape;504;p59"/>
          <p:cNvGrpSpPr/>
          <p:nvPr/>
        </p:nvGrpSpPr>
        <p:grpSpPr>
          <a:xfrm>
            <a:off x="4922827" y="1130192"/>
            <a:ext cx="5887314" cy="5232776"/>
            <a:chOff x="1311879" y="605"/>
            <a:chExt cx="5887314" cy="5232776"/>
          </a:xfrm>
        </p:grpSpPr>
        <p:sp>
          <p:nvSpPr>
            <p:cNvPr id="505" name="Google Shape;505;p59"/>
            <p:cNvSpPr/>
            <p:nvPr/>
          </p:nvSpPr>
          <p:spPr>
            <a:xfrm>
              <a:off x="3320482" y="605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59"/>
            <p:cNvSpPr txBox="1"/>
            <p:nvPr/>
          </p:nvSpPr>
          <p:spPr>
            <a:xfrm>
              <a:off x="3379821" y="59944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הצגת המקרה</a:t>
              </a:r>
              <a:endParaRPr/>
            </a:p>
          </p:txBody>
        </p:sp>
        <p:sp>
          <p:nvSpPr>
            <p:cNvPr id="507" name="Google Shape;507;p59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95646" y="11737"/>
                  </a:moveTo>
                  <a:cubicBezTo>
                    <a:pt x="103329" y="17411"/>
                    <a:pt x="109546" y="24838"/>
                    <a:pt x="113781" y="33400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59"/>
            <p:cNvSpPr/>
            <p:nvPr/>
          </p:nvSpPr>
          <p:spPr>
            <a:xfrm>
              <a:off x="5329085" y="2009208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9"/>
            <p:cNvSpPr txBox="1"/>
            <p:nvPr/>
          </p:nvSpPr>
          <p:spPr>
            <a:xfrm>
              <a:off x="5388424" y="2068547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ראשוני</a:t>
              </a:r>
              <a:endParaRPr/>
            </a:p>
          </p:txBody>
        </p:sp>
        <p:sp>
          <p:nvSpPr>
            <p:cNvPr id="510" name="Google Shape;510;p59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113781" y="86601"/>
                  </a:moveTo>
                  <a:cubicBezTo>
                    <a:pt x="109546" y="95162"/>
                    <a:pt x="103329" y="102589"/>
                    <a:pt x="95646" y="108264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59"/>
            <p:cNvSpPr/>
            <p:nvPr/>
          </p:nvSpPr>
          <p:spPr>
            <a:xfrm>
              <a:off x="3320482" y="4017811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59"/>
            <p:cNvSpPr txBox="1"/>
            <p:nvPr/>
          </p:nvSpPr>
          <p:spPr>
            <a:xfrm>
              <a:off x="3379821" y="4077150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מסגור מחדש</a:t>
              </a:r>
              <a:endParaRPr/>
            </a:p>
          </p:txBody>
        </p:sp>
        <p:sp>
          <p:nvSpPr>
            <p:cNvPr id="513" name="Google Shape;513;p59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24354" y="108263"/>
                  </a:moveTo>
                  <a:cubicBezTo>
                    <a:pt x="16671" y="102589"/>
                    <a:pt x="10454" y="95162"/>
                    <a:pt x="6219" y="86600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59"/>
            <p:cNvSpPr/>
            <p:nvPr/>
          </p:nvSpPr>
          <p:spPr>
            <a:xfrm>
              <a:off x="1311879" y="2009208"/>
              <a:ext cx="1870108" cy="1215570"/>
            </a:xfrm>
            <a:prstGeom prst="roundRect">
              <a:avLst>
                <a:gd fmla="val 16667" name="adj"/>
              </a:avLst>
            </a:prstGeom>
            <a:solidFill>
              <a:srgbClr val="6B8890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59"/>
            <p:cNvSpPr txBox="1"/>
            <p:nvPr/>
          </p:nvSpPr>
          <p:spPr>
            <a:xfrm>
              <a:off x="1371218" y="2068547"/>
              <a:ext cx="1751430" cy="109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ssistant"/>
                <a:buNone/>
              </a:pPr>
              <a:r>
                <a:rPr lang="en-US" sz="2000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חלופות</a:t>
              </a:r>
              <a:endParaRPr/>
            </a:p>
          </p:txBody>
        </p:sp>
        <p:sp>
          <p:nvSpPr>
            <p:cNvPr id="516" name="Google Shape;516;p59"/>
            <p:cNvSpPr/>
            <p:nvPr/>
          </p:nvSpPr>
          <p:spPr>
            <a:xfrm>
              <a:off x="2246933" y="608390"/>
              <a:ext cx="4017206" cy="4017206"/>
            </a:xfrm>
            <a:custGeom>
              <a:rect b="b" l="l" r="r" t="t"/>
              <a:pathLst>
                <a:path extrusionOk="0" h="120000" w="120000">
                  <a:moveTo>
                    <a:pt x="6219" y="33399"/>
                  </a:moveTo>
                  <a:cubicBezTo>
                    <a:pt x="10454" y="24838"/>
                    <a:pt x="16671" y="17411"/>
                    <a:pt x="24354" y="11736"/>
                  </a:cubicBez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59"/>
          <p:cNvSpPr/>
          <p:nvPr/>
        </p:nvSpPr>
        <p:spPr>
          <a:xfrm>
            <a:off x="490402" y="854800"/>
            <a:ext cx="3036570" cy="368920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23288" y="0"/>
                </a:moveTo>
                <a:close/>
                <a:lnTo>
                  <a:pt x="123288" y="120000"/>
                </a:lnTo>
              </a:path>
              <a:path extrusionOk="0" fill="none" h="120000" w="120000">
                <a:moveTo>
                  <a:pt x="123288" y="45632"/>
                </a:moveTo>
                <a:lnTo>
                  <a:pt x="132137" y="43759"/>
                </a:lnTo>
                <a:lnTo>
                  <a:pt x="172296" y="76564"/>
                </a:lnTo>
              </a:path>
            </a:pathLst>
          </a:custGeom>
          <a:solidFill>
            <a:schemeClr val="lt1"/>
          </a:solidFill>
          <a:ln cap="flat" cmpd="sng" w="38100">
            <a:solidFill>
              <a:srgbClr val="00206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חלופות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חשיבה על פעולה אלטרנטיבית מתוך </a:t>
            </a:r>
            <a:r>
              <a:rPr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המסגור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מחדש, ועל בסיס גישה אמפתית לנועצת ולדמויות האחרות בסיטואציה. ניסוח דרכים חדשות להתמודדות עם סיטואציה דומה בעתיד, או בכדי לתקן ולשקם את המשבר שנוצר. 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